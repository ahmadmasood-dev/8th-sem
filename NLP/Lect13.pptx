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70" r:id="rId6"/>
    <p:sldId id="271" r:id="rId7"/>
    <p:sldId id="302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EFE2DE-3AA5-4230-8091-1C59D368F228}" v="57" dt="2026-04-16T06:13:55.6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72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Nadia Saeed" userId="S::drnadiasaeed@qauisbpk.onmicrosoft.com::fec71205-607b-4a5d-a322-5dd2013b7194" providerId="AD" clId="Web-{80EFE2DE-3AA5-4230-8091-1C59D368F228}"/>
    <pc:docChg chg="delSld sldOrd">
      <pc:chgData name="Dr. Nadia Saeed" userId="S::drnadiasaeed@qauisbpk.onmicrosoft.com::fec71205-607b-4a5d-a322-5dd2013b7194" providerId="AD" clId="Web-{80EFE2DE-3AA5-4230-8091-1C59D368F228}" dt="2026-04-16T06:13:55.697" v="56"/>
      <pc:docMkLst>
        <pc:docMk/>
      </pc:docMkLst>
      <pc:sldChg chg="del">
        <pc:chgData name="Dr. Nadia Saeed" userId="S::drnadiasaeed@qauisbpk.onmicrosoft.com::fec71205-607b-4a5d-a322-5dd2013b7194" providerId="AD" clId="Web-{80EFE2DE-3AA5-4230-8091-1C59D368F228}" dt="2026-04-16T06:13:55.665" v="41"/>
        <pc:sldMkLst>
          <pc:docMk/>
          <pc:sldMk cId="0" sldId="299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0"/>
        <pc:sldMkLst>
          <pc:docMk/>
          <pc:sldMk cId="0" sldId="300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39"/>
        <pc:sldMkLst>
          <pc:docMk/>
          <pc:sldMk cId="0" sldId="301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00.706" v="0"/>
        <pc:sldMkLst>
          <pc:docMk/>
          <pc:sldMk cId="1844813240" sldId="304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02.191" v="1"/>
        <pc:sldMkLst>
          <pc:docMk/>
          <pc:sldMk cId="384530740" sldId="305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05.863" v="2"/>
        <pc:sldMkLst>
          <pc:docMk/>
          <pc:sldMk cId="1788034605" sldId="306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07.722" v="3"/>
        <pc:sldMkLst>
          <pc:docMk/>
          <pc:sldMk cId="1496926620" sldId="307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0.097" v="4"/>
        <pc:sldMkLst>
          <pc:docMk/>
          <pc:sldMk cId="2259377157" sldId="308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1.332" v="5"/>
        <pc:sldMkLst>
          <pc:docMk/>
          <pc:sldMk cId="2475467973" sldId="309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3.269" v="6"/>
        <pc:sldMkLst>
          <pc:docMk/>
          <pc:sldMk cId="4030751416" sldId="310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5.238" v="7"/>
        <pc:sldMkLst>
          <pc:docMk/>
          <pc:sldMk cId="3393693223" sldId="311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7.535" v="8"/>
        <pc:sldMkLst>
          <pc:docMk/>
          <pc:sldMk cId="3389353780" sldId="312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19.972" v="9"/>
        <pc:sldMkLst>
          <pc:docMk/>
          <pc:sldMk cId="3280503278" sldId="313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21.144" v="10"/>
        <pc:sldMkLst>
          <pc:docMk/>
          <pc:sldMk cId="3755897157" sldId="314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23.488" v="11"/>
        <pc:sldMkLst>
          <pc:docMk/>
          <pc:sldMk cId="2039375801" sldId="315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24.863" v="12"/>
        <pc:sldMkLst>
          <pc:docMk/>
          <pc:sldMk cId="3122456894" sldId="316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28.707" v="13"/>
        <pc:sldMkLst>
          <pc:docMk/>
          <pc:sldMk cId="694028973" sldId="317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30.957" v="14"/>
        <pc:sldMkLst>
          <pc:docMk/>
          <pc:sldMk cId="3550534203" sldId="318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31.519" v="15"/>
        <pc:sldMkLst>
          <pc:docMk/>
          <pc:sldMk cId="215466271" sldId="319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34.426" v="16"/>
        <pc:sldMkLst>
          <pc:docMk/>
          <pc:sldMk cId="2708485340" sldId="320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36.285" v="17"/>
        <pc:sldMkLst>
          <pc:docMk/>
          <pc:sldMk cId="3101435928" sldId="321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38.238" v="18"/>
        <pc:sldMkLst>
          <pc:docMk/>
          <pc:sldMk cId="2131710581" sldId="322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44.488" v="19"/>
        <pc:sldMkLst>
          <pc:docMk/>
          <pc:sldMk cId="1619874719" sldId="323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51.707" v="22"/>
        <pc:sldMkLst>
          <pc:docMk/>
          <pc:sldMk cId="3247126167" sldId="324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46.894" v="20"/>
        <pc:sldMkLst>
          <pc:docMk/>
          <pc:sldMk cId="24676131" sldId="325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48.832" v="21"/>
        <pc:sldMkLst>
          <pc:docMk/>
          <pc:sldMk cId="1101706496" sldId="326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53.879" v="24"/>
        <pc:sldMkLst>
          <pc:docMk/>
          <pc:sldMk cId="3338390066" sldId="327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52.723" v="23"/>
        <pc:sldMkLst>
          <pc:docMk/>
          <pc:sldMk cId="782580303" sldId="328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4.785" v="28"/>
        <pc:sldMkLst>
          <pc:docMk/>
          <pc:sldMk cId="169260170" sldId="329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3.207" v="27"/>
        <pc:sldMkLst>
          <pc:docMk/>
          <pc:sldMk cId="3092424579" sldId="330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2:57.926" v="25"/>
        <pc:sldMkLst>
          <pc:docMk/>
          <pc:sldMk cId="1945825041" sldId="331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0.457" v="26"/>
        <pc:sldMkLst>
          <pc:docMk/>
          <pc:sldMk cId="3822188722" sldId="332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6.754" v="30"/>
        <pc:sldMkLst>
          <pc:docMk/>
          <pc:sldMk cId="3964740483" sldId="333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5.692" v="29"/>
        <pc:sldMkLst>
          <pc:docMk/>
          <pc:sldMk cId="1069147456" sldId="334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09.395" v="31"/>
        <pc:sldMkLst>
          <pc:docMk/>
          <pc:sldMk cId="4285425437" sldId="335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97" v="56"/>
        <pc:sldMkLst>
          <pc:docMk/>
          <pc:sldMk cId="702251216" sldId="336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97" v="55"/>
        <pc:sldMkLst>
          <pc:docMk/>
          <pc:sldMk cId="740673989" sldId="337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97" v="54"/>
        <pc:sldMkLst>
          <pc:docMk/>
          <pc:sldMk cId="1042626907" sldId="338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97" v="53"/>
        <pc:sldMkLst>
          <pc:docMk/>
          <pc:sldMk cId="793334843" sldId="339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97" v="52"/>
        <pc:sldMkLst>
          <pc:docMk/>
          <pc:sldMk cId="2786711351" sldId="340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81" v="51"/>
        <pc:sldMkLst>
          <pc:docMk/>
          <pc:sldMk cId="58667317" sldId="341"/>
        </pc:sldMkLst>
      </pc:sldChg>
      <pc:sldChg chg="del ord">
        <pc:chgData name="Dr. Nadia Saeed" userId="S::drnadiasaeed@qauisbpk.onmicrosoft.com::fec71205-607b-4a5d-a322-5dd2013b7194" providerId="AD" clId="Web-{80EFE2DE-3AA5-4230-8091-1C59D368F228}" dt="2026-04-16T06:13:55.681" v="50"/>
        <pc:sldMkLst>
          <pc:docMk/>
          <pc:sldMk cId="2326154000" sldId="342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81" v="49"/>
        <pc:sldMkLst>
          <pc:docMk/>
          <pc:sldMk cId="2807524329" sldId="343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81" v="48"/>
        <pc:sldMkLst>
          <pc:docMk/>
          <pc:sldMk cId="2568393358" sldId="344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81" v="47"/>
        <pc:sldMkLst>
          <pc:docMk/>
          <pc:sldMk cId="3066743593" sldId="345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6"/>
        <pc:sldMkLst>
          <pc:docMk/>
          <pc:sldMk cId="553697297" sldId="346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5"/>
        <pc:sldMkLst>
          <pc:docMk/>
          <pc:sldMk cId="812247056" sldId="347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4"/>
        <pc:sldMkLst>
          <pc:docMk/>
          <pc:sldMk cId="3836081669" sldId="348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3"/>
        <pc:sldMkLst>
          <pc:docMk/>
          <pc:sldMk cId="2845901307" sldId="349"/>
        </pc:sldMkLst>
      </pc:sldChg>
      <pc:sldChg chg="del">
        <pc:chgData name="Dr. Nadia Saeed" userId="S::drnadiasaeed@qauisbpk.onmicrosoft.com::fec71205-607b-4a5d-a322-5dd2013b7194" providerId="AD" clId="Web-{80EFE2DE-3AA5-4230-8091-1C59D368F228}" dt="2026-04-16T06:13:55.665" v="42"/>
        <pc:sldMkLst>
          <pc:docMk/>
          <pc:sldMk cId="184500154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644B0-5D43-4D0B-BB9F-C2141AC844F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0AE92-11BC-410C-AC78-C886CC532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5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90AE92-11BC-410C-AC78-C886CC5323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3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87707" y="60223"/>
            <a:ext cx="4168584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527" y="5426"/>
            <a:ext cx="8544945" cy="557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2221680" y="2849400"/>
            <a:ext cx="4699000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7: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Logistic</a:t>
            </a:r>
            <a:r>
              <a:rPr sz="19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endParaRPr sz="1950" dirty="0">
              <a:latin typeface="Arial"/>
              <a:cs typeface="Arial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dirty="0" err="1">
                <a:solidFill>
                  <a:srgbClr val="FFFFFF"/>
                </a:solidFill>
                <a:latin typeface="Arial MT"/>
                <a:cs typeface="Arial MT"/>
              </a:rPr>
              <a:t>Dr.Nadia</a:t>
            </a:r>
            <a:r>
              <a:rPr lang="en-US" sz="1950" dirty="0">
                <a:solidFill>
                  <a:srgbClr val="FFFFFF"/>
                </a:solidFill>
                <a:latin typeface="Arial MT"/>
                <a:cs typeface="Arial MT"/>
              </a:rPr>
              <a:t> Saeed</a:t>
            </a: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sz="1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endParaRPr lang="en-US" sz="1950" spc="-20" dirty="0">
              <a:solidFill>
                <a:srgbClr val="FFFFFF"/>
              </a:solidFill>
              <a:latin typeface="Arial MT"/>
              <a:cs typeface="Arial MT"/>
            </a:endParaRPr>
          </a:p>
          <a:p>
            <a:pPr marL="12700" marR="5080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dirty="0">
                <a:solidFill>
                  <a:srgbClr val="FFFFFF"/>
                </a:solidFill>
                <a:latin typeface="Arial MT"/>
                <a:cs typeface="Arial MT"/>
              </a:rPr>
              <a:t>Quaid-I-</a:t>
            </a:r>
            <a:r>
              <a:rPr lang="en-US" sz="1950" dirty="0" err="1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lang="en-US" sz="19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Universit</a:t>
            </a:r>
            <a:r>
              <a:rPr lang="en-US" sz="195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56019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Classification</a:t>
            </a:r>
            <a:r>
              <a:rPr sz="2500" spc="-30" dirty="0"/>
              <a:t> </a:t>
            </a:r>
            <a:r>
              <a:rPr sz="2500" dirty="0"/>
              <a:t>with</a:t>
            </a:r>
            <a:r>
              <a:rPr sz="2500" spc="-25" dirty="0"/>
              <a:t> </a:t>
            </a:r>
            <a:r>
              <a:rPr sz="2500" dirty="0"/>
              <a:t>Logistic</a:t>
            </a:r>
            <a:r>
              <a:rPr sz="2500" spc="-25" dirty="0"/>
              <a:t> </a:t>
            </a:r>
            <a:r>
              <a:rPr sz="2500" spc="-10" dirty="0"/>
              <a:t>Regression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238827" y="527617"/>
            <a:ext cx="8366125" cy="12153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sigmoid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advantages:</a:t>
            </a:r>
            <a:endParaRPr sz="2000" dirty="0">
              <a:latin typeface="Arial MT"/>
              <a:cs typeface="Arial MT"/>
            </a:endParaRPr>
          </a:p>
          <a:p>
            <a:pPr marL="469900" marR="5080" indent="-344170">
              <a:lnSpc>
                <a:spcPct val="105000"/>
              </a:lnSpc>
              <a:spcBef>
                <a:spcPts val="20"/>
              </a:spcBef>
              <a:buSzPct val="83333"/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real-</a:t>
            </a:r>
            <a:r>
              <a:rPr sz="1800" dirty="0">
                <a:latin typeface="Arial MT"/>
                <a:cs typeface="Arial MT"/>
              </a:rPr>
              <a:t>valued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range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[0,1],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just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what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probability</a:t>
            </a:r>
            <a:endParaRPr sz="1800" dirty="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110"/>
              </a:spcBef>
              <a:buSzPct val="83333"/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It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tends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squash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outlier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toward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827" y="3458042"/>
            <a:ext cx="40665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Turning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classifier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627" y="2022614"/>
            <a:ext cx="4074149" cy="1125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6753" y="2022614"/>
            <a:ext cx="4005253" cy="16423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75678" y="3969839"/>
            <a:ext cx="3711300" cy="8380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48428" y="4447679"/>
            <a:ext cx="20866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decision</a:t>
            </a:r>
            <a:r>
              <a:rPr sz="2000" spc="-114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 MT"/>
                <a:cs typeface="Arial MT"/>
              </a:rPr>
              <a:t>boundary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40303" y="3993988"/>
            <a:ext cx="516890" cy="393700"/>
          </a:xfrm>
          <a:custGeom>
            <a:avLst/>
            <a:gdLst/>
            <a:ahLst/>
            <a:cxnLst/>
            <a:rect l="l" t="t" r="r" b="b"/>
            <a:pathLst>
              <a:path w="516890" h="393700">
                <a:moveTo>
                  <a:pt x="0" y="0"/>
                </a:moveTo>
                <a:lnTo>
                  <a:pt x="516599" y="0"/>
                </a:lnTo>
                <a:lnTo>
                  <a:pt x="516599" y="393599"/>
                </a:lnTo>
                <a:lnTo>
                  <a:pt x="0" y="3935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8924879" y="4668356"/>
            <a:ext cx="230623" cy="16763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1" name="Rectangle 10"/>
          <p:cNvSpPr/>
          <p:nvPr/>
        </p:nvSpPr>
        <p:spPr>
          <a:xfrm>
            <a:off x="214385" y="4752175"/>
            <a:ext cx="80330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👉 It’s the </a:t>
            </a:r>
            <a:r>
              <a:rPr lang="en-US" b="1" dirty="0"/>
              <a:t>remaining probability</a:t>
            </a:r>
            <a:r>
              <a:rPr lang="en-US" dirty="0"/>
              <a:t>, not just flipping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96625" y="728219"/>
            <a:ext cx="848487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**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It's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hokey.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virtually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surprises,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second-rate.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enjoyable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?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thing,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great.</a:t>
            </a:r>
            <a:endParaRPr sz="2000">
              <a:latin typeface="Arial MT"/>
              <a:cs typeface="Arial MT"/>
            </a:endParaRPr>
          </a:p>
          <a:p>
            <a:pPr marL="12700" marR="277495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Another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nice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music.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overcome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urge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-25" dirty="0">
                <a:latin typeface="Arial MT"/>
                <a:cs typeface="Arial MT"/>
              </a:rPr>
              <a:t> off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dancing.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sucked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it'll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you.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8" name="Rectangle 7"/>
          <p:cNvSpPr/>
          <p:nvPr/>
        </p:nvSpPr>
        <p:spPr>
          <a:xfrm>
            <a:off x="1447800" y="2321436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𝑥1	​: number of positive words</a:t>
            </a:r>
          </a:p>
          <a:p>
            <a:pPr>
              <a:lnSpc>
                <a:spcPct val="150000"/>
              </a:lnSpc>
            </a:pPr>
            <a:r>
              <a:rPr lang="en-US" dirty="0"/>
              <a:t>𝑥2	​: number of negative words</a:t>
            </a:r>
          </a:p>
          <a:p>
            <a:pPr>
              <a:lnSpc>
                <a:spcPct val="150000"/>
              </a:lnSpc>
            </a:pPr>
            <a:r>
              <a:rPr lang="en-US" dirty="0"/>
              <a:t>𝑥3	​: does “no” appear (0/1)</a:t>
            </a:r>
          </a:p>
          <a:p>
            <a:pPr>
              <a:lnSpc>
                <a:spcPct val="150000"/>
              </a:lnSpc>
            </a:pPr>
            <a:r>
              <a:rPr lang="en-US" dirty="0"/>
              <a:t>𝑥4	​: pronoun count</a:t>
            </a:r>
          </a:p>
          <a:p>
            <a:pPr>
              <a:lnSpc>
                <a:spcPct val="150000"/>
              </a:lnSpc>
            </a:pPr>
            <a:r>
              <a:rPr lang="en-US" dirty="0"/>
              <a:t>𝑥5	​: does “!” appear</a:t>
            </a:r>
          </a:p>
          <a:p>
            <a:pPr>
              <a:lnSpc>
                <a:spcPct val="150000"/>
              </a:lnSpc>
            </a:pPr>
            <a:r>
              <a:rPr lang="en-US" dirty="0"/>
              <a:t>𝑥6	​: natural log(word count of doc)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96625" y="728219"/>
            <a:ext cx="848487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**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It's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hokey.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virtually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surprises,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writing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second-rate.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enjoyable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?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thing,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great.</a:t>
            </a:r>
            <a:endParaRPr sz="2000">
              <a:latin typeface="Arial MT"/>
              <a:cs typeface="Arial MT"/>
            </a:endParaRPr>
          </a:p>
          <a:p>
            <a:pPr marL="12700" marR="277495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Another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nice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touch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music.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overcome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urge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get</a:t>
            </a:r>
            <a:r>
              <a:rPr sz="2000" spc="-25" dirty="0">
                <a:latin typeface="Arial MT"/>
                <a:cs typeface="Arial MT"/>
              </a:rPr>
              <a:t> off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dancing.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sucked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it'll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you.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949" y="2502900"/>
            <a:ext cx="6084098" cy="2091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724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9949" y="660449"/>
            <a:ext cx="6084098" cy="20918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92950" y="3036100"/>
            <a:ext cx="5334000" cy="2086610"/>
            <a:chOff x="1892950" y="3036100"/>
            <a:chExt cx="5334000" cy="20866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2950" y="3036100"/>
              <a:ext cx="5333408" cy="20864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50850" y="3055649"/>
              <a:ext cx="865505" cy="209550"/>
            </a:xfrm>
            <a:custGeom>
              <a:avLst/>
              <a:gdLst/>
              <a:ahLst/>
              <a:cxnLst/>
              <a:rect l="l" t="t" r="r" b="b"/>
              <a:pathLst>
                <a:path w="865504" h="209550">
                  <a:moveTo>
                    <a:pt x="865499" y="209399"/>
                  </a:moveTo>
                  <a:lnTo>
                    <a:pt x="0" y="209399"/>
                  </a:lnTo>
                  <a:lnTo>
                    <a:pt x="0" y="0"/>
                  </a:lnTo>
                  <a:lnTo>
                    <a:pt x="865499" y="0"/>
                  </a:lnTo>
                  <a:lnTo>
                    <a:pt x="865499" y="20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50850" y="3055649"/>
              <a:ext cx="865505" cy="209550"/>
            </a:xfrm>
            <a:custGeom>
              <a:avLst/>
              <a:gdLst/>
              <a:ahLst/>
              <a:cxnLst/>
              <a:rect l="l" t="t" r="r" b="b"/>
              <a:pathLst>
                <a:path w="865504" h="209550">
                  <a:moveTo>
                    <a:pt x="0" y="0"/>
                  </a:moveTo>
                  <a:lnTo>
                    <a:pt x="865499" y="0"/>
                  </a:lnTo>
                  <a:lnTo>
                    <a:pt x="865499" y="209399"/>
                  </a:lnTo>
                  <a:lnTo>
                    <a:pt x="0" y="20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grpSp>
        <p:nvGrpSpPr>
          <p:cNvPr id="4" name="object 4"/>
          <p:cNvGrpSpPr/>
          <p:nvPr/>
        </p:nvGrpSpPr>
        <p:grpSpPr>
          <a:xfrm>
            <a:off x="1892950" y="3036100"/>
            <a:ext cx="5334000" cy="2086610"/>
            <a:chOff x="1892950" y="3036100"/>
            <a:chExt cx="5334000" cy="2086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92950" y="3036100"/>
              <a:ext cx="5333408" cy="20864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50850" y="3055649"/>
              <a:ext cx="865505" cy="209550"/>
            </a:xfrm>
            <a:custGeom>
              <a:avLst/>
              <a:gdLst/>
              <a:ahLst/>
              <a:cxnLst/>
              <a:rect l="l" t="t" r="r" b="b"/>
              <a:pathLst>
                <a:path w="865504" h="209550">
                  <a:moveTo>
                    <a:pt x="865499" y="209399"/>
                  </a:moveTo>
                  <a:lnTo>
                    <a:pt x="0" y="209399"/>
                  </a:lnTo>
                  <a:lnTo>
                    <a:pt x="0" y="0"/>
                  </a:lnTo>
                  <a:lnTo>
                    <a:pt x="865499" y="0"/>
                  </a:lnTo>
                  <a:lnTo>
                    <a:pt x="865499" y="20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50850" y="3055649"/>
              <a:ext cx="865505" cy="209550"/>
            </a:xfrm>
            <a:custGeom>
              <a:avLst/>
              <a:gdLst/>
              <a:ahLst/>
              <a:cxnLst/>
              <a:rect l="l" t="t" r="r" b="b"/>
              <a:pathLst>
                <a:path w="865504" h="209550">
                  <a:moveTo>
                    <a:pt x="0" y="0"/>
                  </a:moveTo>
                  <a:lnTo>
                    <a:pt x="865499" y="0"/>
                  </a:lnTo>
                  <a:lnTo>
                    <a:pt x="865499" y="209399"/>
                  </a:lnTo>
                  <a:lnTo>
                    <a:pt x="0" y="20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1687" y="632149"/>
            <a:ext cx="4070850" cy="3029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1200" y="1064877"/>
            <a:ext cx="6921600" cy="11742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3367" y="2368849"/>
            <a:ext cx="3394965" cy="5177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47867" y="1947760"/>
            <a:ext cx="544703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dirty="0"/>
              <a:t>Learning</a:t>
            </a:r>
            <a:r>
              <a:rPr sz="5500" spc="-260" dirty="0"/>
              <a:t> </a:t>
            </a:r>
            <a:r>
              <a:rPr sz="5500" spc="-10" dirty="0"/>
              <a:t>Weights</a:t>
            </a:r>
            <a:endParaRPr sz="5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05" rIns="0" bIns="0" rtlCol="0">
            <a:spAutoFit/>
          </a:bodyPr>
          <a:lstStyle/>
          <a:p>
            <a:pPr marL="300228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How</a:t>
            </a:r>
            <a:r>
              <a:rPr sz="2750" spc="25" dirty="0"/>
              <a:t> </a:t>
            </a:r>
            <a:r>
              <a:rPr sz="2750" dirty="0"/>
              <a:t>to</a:t>
            </a:r>
            <a:r>
              <a:rPr sz="2750" spc="40" dirty="0"/>
              <a:t> </a:t>
            </a:r>
            <a:r>
              <a:rPr sz="2750" dirty="0"/>
              <a:t>Set</a:t>
            </a:r>
            <a:r>
              <a:rPr sz="2750" spc="35" dirty="0"/>
              <a:t> </a:t>
            </a:r>
            <a:r>
              <a:rPr sz="2750" spc="-25" dirty="0"/>
              <a:t>Ws?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0949" y="733106"/>
            <a:ext cx="8675370" cy="3901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weights </a:t>
            </a:r>
            <a:r>
              <a:rPr sz="1800" b="1" dirty="0">
                <a:latin typeface="Arial"/>
                <a:cs typeface="Arial"/>
              </a:rPr>
              <a:t>w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bias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model)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learned?</a:t>
            </a:r>
            <a:endParaRPr sz="1800">
              <a:latin typeface="Arial MT"/>
              <a:cs typeface="Arial MT"/>
            </a:endParaRPr>
          </a:p>
          <a:p>
            <a:pPr marL="469900" marR="209550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Logistic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regression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instance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supervised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classification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know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correct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(either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0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observation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x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  <a:tab pos="271716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estimated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value</a:t>
            </a:r>
            <a:r>
              <a:rPr sz="1800" dirty="0">
                <a:latin typeface="Arial MT"/>
                <a:cs typeface="Arial MT"/>
              </a:rPr>
              <a:t>	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system’s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estimate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  <a:p>
            <a:pPr marL="469900" marR="113664" indent="-36703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  <a:tab pos="5669915" algn="l"/>
              </a:tabLst>
            </a:pP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make</a:t>
            </a:r>
            <a:r>
              <a:rPr sz="1800" dirty="0">
                <a:latin typeface="Arial MT"/>
                <a:cs typeface="Arial MT"/>
              </a:rPr>
              <a:t>	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training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observation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possible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learn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parameters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require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things: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metric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close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current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label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gold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label</a:t>
            </a: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optimization</a:t>
            </a:r>
            <a:r>
              <a:rPr sz="18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algorithm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iteratively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updating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minimize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loss </a:t>
            </a:r>
            <a:r>
              <a:rPr sz="1800" spc="-10" dirty="0">
                <a:latin typeface="Arial MT"/>
                <a:cs typeface="Arial MT"/>
              </a:rPr>
              <a:t>function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050" y="2057200"/>
            <a:ext cx="157999" cy="217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6975" y="2516500"/>
            <a:ext cx="157999" cy="2179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6837" rIns="0" bIns="0" rtlCol="0">
            <a:spAutoFit/>
          </a:bodyPr>
          <a:lstStyle/>
          <a:p>
            <a:pPr marL="2966085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Learning</a:t>
            </a:r>
            <a:r>
              <a:rPr sz="2650" spc="-145" dirty="0"/>
              <a:t> </a:t>
            </a:r>
            <a:r>
              <a:rPr sz="2650" spc="-10" dirty="0"/>
              <a:t>Weights</a:t>
            </a:r>
            <a:endParaRPr sz="26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31073"/>
            <a:ext cx="8695055" cy="369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 MT"/>
                <a:cs typeface="Arial MT"/>
              </a:rPr>
              <a:t>A</a:t>
            </a:r>
            <a:r>
              <a:rPr sz="2200" spc="-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metric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how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close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label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true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gold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label</a:t>
            </a:r>
            <a:endParaRPr sz="2200">
              <a:latin typeface="Arial MT"/>
              <a:cs typeface="Arial MT"/>
            </a:endParaRPr>
          </a:p>
          <a:p>
            <a:pPr marL="469900" marR="287020" indent="-382270">
              <a:lnSpc>
                <a:spcPct val="114999"/>
              </a:lnSpc>
              <a:spcBef>
                <a:spcPts val="1245"/>
              </a:spcBef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gold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truth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as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loss</a:t>
            </a:r>
            <a:r>
              <a:rPr sz="20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function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cost</a:t>
            </a:r>
            <a:r>
              <a:rPr sz="20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 MT"/>
                <a:cs typeface="Arial MT"/>
              </a:rPr>
              <a:t>function</a:t>
            </a:r>
            <a:endParaRPr sz="2000">
              <a:latin typeface="Arial MT"/>
              <a:cs typeface="Arial MT"/>
            </a:endParaRPr>
          </a:p>
          <a:p>
            <a:pPr marL="469900" marR="555625" indent="-38227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commonly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cross-entropy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loss</a:t>
            </a:r>
            <a:endParaRPr sz="2000">
              <a:latin typeface="Arial MT"/>
              <a:cs typeface="Arial MT"/>
            </a:endParaRPr>
          </a:p>
          <a:p>
            <a:pPr marL="12700" marR="927735">
              <a:lnSpc>
                <a:spcPct val="114999"/>
              </a:lnSpc>
              <a:spcBef>
                <a:spcPts val="1155"/>
              </a:spcBef>
            </a:pPr>
            <a:r>
              <a:rPr sz="2200" dirty="0">
                <a:latin typeface="Arial MT"/>
                <a:cs typeface="Arial MT"/>
              </a:rPr>
              <a:t>An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optimization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algorithm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iteratively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updating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weights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to </a:t>
            </a:r>
            <a:r>
              <a:rPr sz="2200" dirty="0">
                <a:latin typeface="Arial MT"/>
                <a:cs typeface="Arial MT"/>
              </a:rPr>
              <a:t>minimize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this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loss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function</a:t>
            </a:r>
            <a:endParaRPr sz="2200">
              <a:latin typeface="Arial MT"/>
              <a:cs typeface="Arial MT"/>
            </a:endParaRPr>
          </a:p>
          <a:p>
            <a:pPr marL="469900" marR="5080" indent="-382270">
              <a:lnSpc>
                <a:spcPct val="114999"/>
              </a:lnSpc>
              <a:spcBef>
                <a:spcPts val="1245"/>
              </a:spcBef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gradient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descent </a:t>
            </a:r>
            <a:r>
              <a:rPr sz="2000" dirty="0">
                <a:latin typeface="Arial MT"/>
                <a:cs typeface="Arial MT"/>
              </a:rPr>
              <a:t>(or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stochastic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gradient descent)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05" rIns="0" bIns="0" rtlCol="0">
            <a:spAutoFit/>
          </a:bodyPr>
          <a:lstStyle/>
          <a:p>
            <a:pPr marL="272669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Cross</a:t>
            </a:r>
            <a:r>
              <a:rPr sz="2750" spc="90" dirty="0"/>
              <a:t> </a:t>
            </a:r>
            <a:r>
              <a:rPr sz="2750" dirty="0"/>
              <a:t>Entropy</a:t>
            </a:r>
            <a:r>
              <a:rPr sz="2750" spc="85" dirty="0"/>
              <a:t> </a:t>
            </a:r>
            <a:r>
              <a:rPr sz="2750" spc="-20" dirty="0"/>
              <a:t>Loss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0949" y="686370"/>
            <a:ext cx="8749030" cy="398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30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expresses,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output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output: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000">
              <a:latin typeface="Arial MT"/>
              <a:cs typeface="Arial MT"/>
            </a:endParaRPr>
          </a:p>
          <a:p>
            <a:pPr marL="12700" marR="34290" algn="just">
              <a:lnSpc>
                <a:spcPct val="114999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4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logistic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regression,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known</a:t>
            </a:r>
            <a:r>
              <a:rPr sz="2000" spc="4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 </a:t>
            </a:r>
            <a:r>
              <a:rPr sz="2000" spc="-10" dirty="0">
                <a:solidFill>
                  <a:srgbClr val="0000FF"/>
                </a:solidFill>
                <a:latin typeface="Arial MT"/>
                <a:cs typeface="Arial MT"/>
              </a:rPr>
              <a:t>conditional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maximum</a:t>
            </a:r>
            <a:r>
              <a:rPr sz="2000" spc="3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likelihood</a:t>
            </a:r>
            <a:r>
              <a:rPr sz="2000" spc="37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estimation</a:t>
            </a:r>
            <a:r>
              <a:rPr sz="2000" spc="3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prefers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labels</a:t>
            </a:r>
            <a:r>
              <a:rPr sz="2000" spc="3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3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likely</a:t>
            </a:r>
            <a:endParaRPr sz="2000">
              <a:latin typeface="Arial MT"/>
              <a:cs typeface="Arial MT"/>
            </a:endParaRPr>
          </a:p>
          <a:p>
            <a:pPr marL="466725" marR="33655" indent="-379095" algn="just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We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choose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parameters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w,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135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maximize</a:t>
            </a:r>
            <a:r>
              <a:rPr sz="2000" u="heavy" spc="1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000" u="heavy" spc="12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log</a:t>
            </a:r>
            <a:r>
              <a:rPr sz="2000" u="heavy" spc="1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probability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true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y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labels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given</a:t>
            </a:r>
            <a:r>
              <a:rPr sz="2000" u="heavy" spc="-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observations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heavy" spc="-5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x</a:t>
            </a:r>
            <a:endParaRPr sz="2000">
              <a:latin typeface="Arial MT"/>
              <a:cs typeface="Arial MT"/>
            </a:endParaRPr>
          </a:p>
          <a:p>
            <a:pPr marL="466725" marR="5080" indent="-379095" algn="just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29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resulting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negative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likelihood</a:t>
            </a:r>
            <a:r>
              <a:rPr sz="2000" spc="2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loss,</a:t>
            </a:r>
            <a:r>
              <a:rPr sz="2000" spc="229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generally 	</a:t>
            </a:r>
            <a:r>
              <a:rPr sz="2000" dirty="0">
                <a:latin typeface="Arial MT"/>
                <a:cs typeface="Arial MT"/>
              </a:rPr>
              <a:t>called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cross</a:t>
            </a:r>
            <a:r>
              <a:rPr sz="20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entropy</a:t>
            </a:r>
            <a:r>
              <a:rPr sz="20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Arial MT"/>
                <a:cs typeface="Arial MT"/>
              </a:rPr>
              <a:t>loss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400" y="1554349"/>
            <a:ext cx="5489003" cy="3598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205" rIns="0" bIns="0" rtlCol="0">
            <a:spAutoFit/>
          </a:bodyPr>
          <a:lstStyle/>
          <a:p>
            <a:pPr marL="66929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Cross</a:t>
            </a:r>
            <a:r>
              <a:rPr sz="2750" spc="50" dirty="0"/>
              <a:t> </a:t>
            </a:r>
            <a:r>
              <a:rPr sz="2750" dirty="0"/>
              <a:t>Entropy</a:t>
            </a:r>
            <a:r>
              <a:rPr sz="2750" spc="55" dirty="0"/>
              <a:t> </a:t>
            </a:r>
            <a:r>
              <a:rPr sz="2750" dirty="0"/>
              <a:t>Loss:</a:t>
            </a:r>
            <a:r>
              <a:rPr sz="2750" spc="60" dirty="0"/>
              <a:t> </a:t>
            </a:r>
            <a:r>
              <a:rPr sz="2750" dirty="0"/>
              <a:t>For</a:t>
            </a:r>
            <a:r>
              <a:rPr sz="2750" spc="60" dirty="0"/>
              <a:t> </a:t>
            </a:r>
            <a:r>
              <a:rPr sz="2750" dirty="0"/>
              <a:t>a</a:t>
            </a:r>
            <a:r>
              <a:rPr sz="2750" spc="55" dirty="0"/>
              <a:t> </a:t>
            </a:r>
            <a:r>
              <a:rPr sz="2750" dirty="0"/>
              <a:t>Single</a:t>
            </a:r>
            <a:r>
              <a:rPr sz="2750" spc="60" dirty="0"/>
              <a:t> </a:t>
            </a:r>
            <a:r>
              <a:rPr sz="2750" spc="-10" dirty="0"/>
              <a:t>Observation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60949" y="732090"/>
            <a:ext cx="8747125" cy="118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Goal: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maximize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label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p(y|x)</a:t>
            </a: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2000" dirty="0">
                <a:latin typeface="Arial MT"/>
                <a:cs typeface="Arial MT"/>
              </a:rPr>
              <a:t>Since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discrete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outcomes</a:t>
            </a:r>
            <a:r>
              <a:rPr sz="2000" spc="3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(1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0),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express</a:t>
            </a:r>
            <a:r>
              <a:rPr sz="2000" spc="3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p(y|x)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follows: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034" y="2236550"/>
            <a:ext cx="3583631" cy="5500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80575" y="2165599"/>
            <a:ext cx="3085113" cy="714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49" y="4061474"/>
            <a:ext cx="3883300" cy="6435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0949" y="3048569"/>
            <a:ext cx="8719185" cy="155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Take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sides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(whatever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maximize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also </a:t>
            </a:r>
            <a:r>
              <a:rPr sz="2000" dirty="0">
                <a:latin typeface="Arial MT"/>
                <a:cs typeface="Arial MT"/>
              </a:rPr>
              <a:t>maximize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probability):</a:t>
            </a:r>
            <a:endParaRPr sz="2000">
              <a:latin typeface="Arial MT"/>
              <a:cs typeface="Arial MT"/>
            </a:endParaRPr>
          </a:p>
          <a:p>
            <a:pPr marL="4803140" marR="177800">
              <a:lnSpc>
                <a:spcPct val="100000"/>
              </a:lnSpc>
              <a:spcBef>
                <a:spcPts val="2205"/>
              </a:spcBef>
            </a:pPr>
            <a:r>
              <a:rPr sz="1800" dirty="0">
                <a:latin typeface="Arial MT"/>
                <a:cs typeface="Arial MT"/>
              </a:rPr>
              <a:t>Whatever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maximize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log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p(y|x)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also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maximize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Arial MT"/>
                <a:cs typeface="Arial MT"/>
              </a:rPr>
              <a:t>p(y|x)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551" rIns="0" bIns="0" rtlCol="0">
            <a:spAutoFit/>
          </a:bodyPr>
          <a:lstStyle/>
          <a:p>
            <a:pPr marL="2554605">
              <a:lnSpc>
                <a:spcPct val="100000"/>
              </a:lnSpc>
              <a:spcBef>
                <a:spcPts val="100"/>
              </a:spcBef>
            </a:pPr>
            <a:r>
              <a:rPr sz="3100" dirty="0"/>
              <a:t>Cross</a:t>
            </a:r>
            <a:r>
              <a:rPr sz="3100" spc="-100" dirty="0"/>
              <a:t> </a:t>
            </a:r>
            <a:r>
              <a:rPr sz="3100" dirty="0"/>
              <a:t>Entropy</a:t>
            </a:r>
            <a:r>
              <a:rPr sz="3100" spc="-100" dirty="0"/>
              <a:t> </a:t>
            </a:r>
            <a:r>
              <a:rPr sz="3100" spc="-20" dirty="0"/>
              <a:t>Loss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160949" y="686368"/>
            <a:ext cx="84753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order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turn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function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(something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minimize), </a:t>
            </a:r>
            <a:r>
              <a:rPr sz="2000" dirty="0">
                <a:latin typeface="Arial MT"/>
                <a:cs typeface="Arial MT"/>
              </a:rPr>
              <a:t>we’ll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just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flip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sign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3140008"/>
            <a:ext cx="852487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perfect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would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outcome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(y=1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y=0)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incorrect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outcome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7928" y="1628200"/>
            <a:ext cx="6223020" cy="393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1024" y="2233675"/>
            <a:ext cx="7146094" cy="40648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1200" y="1246327"/>
            <a:ext cx="6921600" cy="1174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2912" y="3032899"/>
            <a:ext cx="5733067" cy="11742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4675" y="726077"/>
            <a:ext cx="5398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True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y=1.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doing?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4675" y="2512677"/>
            <a:ext cx="1880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What's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loss?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037" rIns="0" bIns="0" rtlCol="0">
            <a:spAutoFit/>
          </a:bodyPr>
          <a:lstStyle/>
          <a:p>
            <a:pPr marL="1853564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Example:</a:t>
            </a:r>
            <a:r>
              <a:rPr sz="2500" spc="-40" dirty="0"/>
              <a:t> </a:t>
            </a:r>
            <a:r>
              <a:rPr sz="2500" dirty="0"/>
              <a:t>Sentiment</a:t>
            </a:r>
            <a:r>
              <a:rPr sz="2500" spc="-35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84675" y="726077"/>
            <a:ext cx="55067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False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y=0.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model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doing?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675" y="2512677"/>
            <a:ext cx="1880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What's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loss?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349" y="2993950"/>
            <a:ext cx="6929299" cy="14033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050" y="1367300"/>
            <a:ext cx="4181899" cy="63772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25C64D-4DC7-49AF-BD10-D24C6A3FDA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0662B1-077A-4454-A398-811AAB33B2C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3178A37-401C-4514-8427-D4461C940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cbcca3-9c48-4d51-affd-7f500234a3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3278</Words>
  <Application>Microsoft Office PowerPoint</Application>
  <PresentationFormat>On-screen Show (16:9)</PresentationFormat>
  <Paragraphs>451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Natural Language Processing</vt:lpstr>
      <vt:lpstr>Classification with Logistic Regression</vt:lpstr>
      <vt:lpstr>Example: Sentiment Classification</vt:lpstr>
      <vt:lpstr>Example: Sentiment Classification</vt:lpstr>
      <vt:lpstr>Example: Sentiment Classification</vt:lpstr>
      <vt:lpstr>Example: Sentiment Classification</vt:lpstr>
      <vt:lpstr>Learning Weights</vt:lpstr>
      <vt:lpstr>How to Set Ws?</vt:lpstr>
      <vt:lpstr>Learning Weights</vt:lpstr>
      <vt:lpstr>Cross Entropy Loss</vt:lpstr>
      <vt:lpstr>Cross Entropy Loss: For a Single Observation</vt:lpstr>
      <vt:lpstr>Cross Entropy Loss</vt:lpstr>
      <vt:lpstr>Example: Sentiment Classification</vt:lpstr>
      <vt:lpstr>Example: Sentiment Classification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7 - Logistic Regression.pptx</dc:title>
  <dc:creator>Administrator</dc:creator>
  <cp:lastModifiedBy>Administrator</cp:lastModifiedBy>
  <cp:revision>20</cp:revision>
  <dcterms:created xsi:type="dcterms:W3CDTF">2026-04-13T09:46:18Z</dcterms:created>
  <dcterms:modified xsi:type="dcterms:W3CDTF">2026-04-16T06:13:56Z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Google</vt:lpwstr>
  </property>
  <property fmtid="{D5CDD505-2E9C-101B-9397-08002B2CF9AE}" pid="5" name="LastSaved">
    <vt:filetime>2026-04-13T00:00:00Z</vt:filetime>
  </property>
  <property fmtid="{D5CDD505-2E9C-101B-9397-08002B2CF9AE}" pid="6" name="ContentTypeId">
    <vt:lpwstr>0x010100E0EA04D33E482A4BA12D40215DDD827E</vt:lpwstr>
  </property>
</Properties>
</file>