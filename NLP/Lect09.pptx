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24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7"/>
  </p:notesMasterIdLst>
  <p:sldIdLst>
    <p:sldId id="256" r:id="rId2"/>
    <p:sldId id="283" r:id="rId3"/>
    <p:sldId id="285" r:id="rId4"/>
    <p:sldId id="286" r:id="rId5"/>
    <p:sldId id="288" r:id="rId6"/>
    <p:sldId id="289" r:id="rId7"/>
    <p:sldId id="319" r:id="rId8"/>
    <p:sldId id="290" r:id="rId9"/>
    <p:sldId id="291" r:id="rId10"/>
    <p:sldId id="292" r:id="rId11"/>
    <p:sldId id="293" r:id="rId12"/>
    <p:sldId id="294" r:id="rId13"/>
    <p:sldId id="295" r:id="rId14"/>
    <p:sldId id="299" r:id="rId15"/>
    <p:sldId id="300" r:id="rId16"/>
    <p:sldId id="301" r:id="rId17"/>
    <p:sldId id="302" r:id="rId18"/>
    <p:sldId id="304" r:id="rId19"/>
    <p:sldId id="337" r:id="rId20"/>
    <p:sldId id="321" r:id="rId21"/>
    <p:sldId id="322" r:id="rId22"/>
    <p:sldId id="323" r:id="rId23"/>
    <p:sldId id="324" r:id="rId24"/>
    <p:sldId id="325" r:id="rId25"/>
    <p:sldId id="326" r:id="rId26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743" autoAdjust="0"/>
    <p:restoredTop sz="94660"/>
  </p:normalViewPr>
  <p:slideViewPr>
    <p:cSldViewPr>
      <p:cViewPr varScale="1">
        <p:scale>
          <a:sx n="149" d="100"/>
          <a:sy n="149" d="100"/>
        </p:scale>
        <p:origin x="126" y="2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F9AFAA-CB19-4736-B76E-F7524FB4F08B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51B0D3-AAD7-4B18-A34D-0B25ED5D56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7418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429179" y="60223"/>
            <a:ext cx="6285641" cy="4095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0858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0858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0858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0858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0858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72770"/>
          </a:xfrm>
          <a:custGeom>
            <a:avLst/>
            <a:gdLst/>
            <a:ahLst/>
            <a:cxnLst/>
            <a:rect l="l" t="t" r="r" b="b"/>
            <a:pathLst>
              <a:path w="9144000" h="572770">
                <a:moveTo>
                  <a:pt x="9143999" y="572699"/>
                </a:moveTo>
                <a:lnTo>
                  <a:pt x="0" y="5726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726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99984" y="58547"/>
            <a:ext cx="6944030" cy="4597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34825" y="2106230"/>
            <a:ext cx="6524625" cy="12877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847001" y="4854767"/>
            <a:ext cx="230623" cy="1676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0858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tartarus.org/martin/PorterStemmer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ai.googleblog.com/2006/08/all-our-n-gram-are-belong-to-you.html" TargetMode="Externa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nltk.org/" TargetMode="Externa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60141" y="1359903"/>
            <a:ext cx="8221345" cy="772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900" dirty="0"/>
              <a:t>Natural</a:t>
            </a:r>
            <a:r>
              <a:rPr sz="4900" spc="-120" dirty="0"/>
              <a:t> </a:t>
            </a:r>
            <a:r>
              <a:rPr sz="4900" dirty="0"/>
              <a:t>Language</a:t>
            </a:r>
            <a:r>
              <a:rPr sz="4900" spc="-114" dirty="0"/>
              <a:t> </a:t>
            </a:r>
            <a:r>
              <a:rPr sz="4900" spc="-10" dirty="0"/>
              <a:t>Processing</a:t>
            </a:r>
            <a:endParaRPr sz="4900"/>
          </a:p>
        </p:txBody>
      </p:sp>
      <p:sp>
        <p:nvSpPr>
          <p:cNvPr id="4" name="object 4"/>
          <p:cNvSpPr txBox="1"/>
          <p:nvPr/>
        </p:nvSpPr>
        <p:spPr>
          <a:xfrm>
            <a:off x="2221680" y="2849400"/>
            <a:ext cx="4699000" cy="1776127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10"/>
              </a:spcBef>
            </a:pP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Session</a:t>
            </a:r>
            <a:r>
              <a:rPr sz="195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4:</a:t>
            </a:r>
            <a:r>
              <a:rPr sz="195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b="1" spc="-10" dirty="0">
                <a:solidFill>
                  <a:srgbClr val="FFFFFF"/>
                </a:solidFill>
                <a:latin typeface="Arial"/>
                <a:cs typeface="Arial"/>
              </a:rPr>
              <a:t>Tokenization</a:t>
            </a:r>
            <a:r>
              <a:rPr sz="195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50" b="1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195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50" b="1" spc="-10" dirty="0">
                <a:solidFill>
                  <a:srgbClr val="FFFFFF"/>
                </a:solidFill>
                <a:latin typeface="Arial"/>
                <a:cs typeface="Arial"/>
              </a:rPr>
              <a:t>Stemming</a:t>
            </a:r>
            <a:endParaRPr sz="1950" dirty="0">
              <a:latin typeface="Arial"/>
              <a:cs typeface="Arial"/>
            </a:endParaRPr>
          </a:p>
          <a:p>
            <a:pPr marL="12700" marR="5080" indent="739775">
              <a:lnSpc>
                <a:spcPts val="1880"/>
              </a:lnSpc>
              <a:spcBef>
                <a:spcPts val="1870"/>
              </a:spcBef>
            </a:pP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Instructor:</a:t>
            </a:r>
            <a:r>
              <a:rPr sz="195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n-US" sz="1950" spc="-30" dirty="0" err="1" smtClean="0">
                <a:solidFill>
                  <a:srgbClr val="FFFFFF"/>
                </a:solidFill>
                <a:latin typeface="Arial MT"/>
                <a:cs typeface="Arial MT"/>
              </a:rPr>
              <a:t>Dr.Nadia</a:t>
            </a:r>
            <a:r>
              <a:rPr lang="en-US" sz="1950" spc="-30" dirty="0" smtClean="0">
                <a:solidFill>
                  <a:srgbClr val="FFFFFF"/>
                </a:solidFill>
                <a:latin typeface="Arial MT"/>
                <a:cs typeface="Arial MT"/>
              </a:rPr>
              <a:t> Saeed</a:t>
            </a:r>
          </a:p>
          <a:p>
            <a:pPr marL="12700" marR="5080" indent="739775">
              <a:lnSpc>
                <a:spcPts val="1880"/>
              </a:lnSpc>
              <a:spcBef>
                <a:spcPts val="1870"/>
              </a:spcBef>
            </a:pPr>
            <a:r>
              <a:rPr sz="1950" dirty="0" smtClean="0">
                <a:solidFill>
                  <a:srgbClr val="FFFFFF"/>
                </a:solidFill>
                <a:latin typeface="Arial MT"/>
                <a:cs typeface="Arial MT"/>
              </a:rPr>
              <a:t>Spring</a:t>
            </a:r>
            <a:r>
              <a:rPr sz="1950" spc="-30" dirty="0" smtClean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 smtClean="0">
                <a:solidFill>
                  <a:srgbClr val="FFFFFF"/>
                </a:solidFill>
                <a:latin typeface="Arial MT"/>
                <a:cs typeface="Arial MT"/>
              </a:rPr>
              <a:t>202</a:t>
            </a:r>
            <a:r>
              <a:rPr lang="en-US" sz="1950" dirty="0" smtClean="0">
                <a:solidFill>
                  <a:srgbClr val="FFFFFF"/>
                </a:solidFill>
                <a:latin typeface="Arial MT"/>
                <a:cs typeface="Arial MT"/>
              </a:rPr>
              <a:t>6</a:t>
            </a:r>
            <a:r>
              <a:rPr sz="1950" dirty="0" smtClean="0">
                <a:solidFill>
                  <a:srgbClr val="FFFFFF"/>
                </a:solidFill>
                <a:latin typeface="Arial MT"/>
                <a:cs typeface="Arial MT"/>
              </a:rPr>
              <a:t>,</a:t>
            </a:r>
            <a:r>
              <a:rPr sz="1950" spc="-20" dirty="0" smtClean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endParaRPr lang="en-US" sz="1950" spc="-20" dirty="0" smtClean="0">
              <a:solidFill>
                <a:srgbClr val="FFFFFF"/>
              </a:solidFill>
              <a:latin typeface="Arial MT"/>
              <a:cs typeface="Arial MT"/>
            </a:endParaRPr>
          </a:p>
          <a:p>
            <a:pPr marL="12700" marR="5080" indent="739775">
              <a:lnSpc>
                <a:spcPts val="1880"/>
              </a:lnSpc>
              <a:spcBef>
                <a:spcPts val="1870"/>
              </a:spcBef>
            </a:pPr>
            <a:r>
              <a:rPr lang="en-US" sz="1950" spc="-20" dirty="0" smtClean="0">
                <a:solidFill>
                  <a:srgbClr val="FFFFFF"/>
                </a:solidFill>
                <a:latin typeface="Arial MT"/>
                <a:cs typeface="Arial MT"/>
              </a:rPr>
              <a:t>Quaid-I-</a:t>
            </a:r>
            <a:r>
              <a:rPr lang="en-US" sz="1950" spc="-20" dirty="0" err="1" smtClean="0">
                <a:solidFill>
                  <a:srgbClr val="FFFFFF"/>
                </a:solidFill>
                <a:latin typeface="Arial MT"/>
                <a:cs typeface="Arial MT"/>
              </a:rPr>
              <a:t>Azam</a:t>
            </a:r>
            <a:r>
              <a:rPr lang="en-US" sz="1950" spc="-20" dirty="0" smtClean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 smtClean="0">
                <a:solidFill>
                  <a:srgbClr val="FFFFFF"/>
                </a:solidFill>
                <a:latin typeface="Arial MT"/>
                <a:cs typeface="Arial MT"/>
              </a:rPr>
              <a:t>University</a:t>
            </a:r>
            <a:endParaRPr sz="195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035" y="1972144"/>
            <a:ext cx="2997835" cy="817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200" spc="-10" dirty="0"/>
              <a:t>Stemming</a:t>
            </a:r>
            <a:endParaRPr sz="5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751455">
              <a:lnSpc>
                <a:spcPct val="100000"/>
              </a:lnSpc>
              <a:spcBef>
                <a:spcPts val="120"/>
              </a:spcBef>
            </a:pPr>
            <a:r>
              <a:rPr spc="-10" dirty="0"/>
              <a:t>Stemming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60949" y="631252"/>
            <a:ext cx="8461375" cy="3640454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sz="1700" spc="-10" dirty="0">
                <a:solidFill>
                  <a:srgbClr val="0000FF"/>
                </a:solidFill>
                <a:latin typeface="Arial MT"/>
                <a:cs typeface="Arial MT"/>
              </a:rPr>
              <a:t>Stemming</a:t>
            </a:r>
            <a:r>
              <a:rPr sz="1700" spc="-10" dirty="0">
                <a:latin typeface="Arial MT"/>
                <a:cs typeface="Arial MT"/>
              </a:rPr>
              <a:t>:</a:t>
            </a:r>
            <a:r>
              <a:rPr sz="1700" spc="-95" dirty="0">
                <a:latin typeface="Arial MT"/>
                <a:cs typeface="Arial MT"/>
              </a:rPr>
              <a:t> </a:t>
            </a:r>
            <a:r>
              <a:rPr sz="1700" spc="-90" dirty="0">
                <a:latin typeface="Arial MT"/>
                <a:cs typeface="Arial MT"/>
              </a:rPr>
              <a:t>To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group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words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that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are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derived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from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common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spc="-20" dirty="0">
                <a:latin typeface="Arial MT"/>
                <a:cs typeface="Arial MT"/>
              </a:rPr>
              <a:t>stem</a:t>
            </a:r>
            <a:endParaRPr sz="1700" dirty="0">
              <a:latin typeface="Arial MT"/>
              <a:cs typeface="Arial MT"/>
            </a:endParaRPr>
          </a:p>
          <a:p>
            <a:pPr marL="469265" indent="-335915">
              <a:lnSpc>
                <a:spcPct val="100000"/>
              </a:lnSpc>
              <a:spcBef>
                <a:spcPts val="805"/>
              </a:spcBef>
              <a:buSzPct val="82352"/>
              <a:buChar char="●"/>
              <a:tabLst>
                <a:tab pos="469265" algn="l"/>
              </a:tabLst>
            </a:pPr>
            <a:r>
              <a:rPr sz="1700" dirty="0">
                <a:latin typeface="Arial MT"/>
                <a:cs typeface="Arial MT"/>
              </a:rPr>
              <a:t>e.g,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“fish”,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“fishes”,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“fishing”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could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be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mapped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to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“fish”</a:t>
            </a:r>
            <a:endParaRPr sz="1700" dirty="0">
              <a:latin typeface="Arial MT"/>
              <a:cs typeface="Arial MT"/>
            </a:endParaRPr>
          </a:p>
          <a:p>
            <a:pPr marL="469265" indent="-335915">
              <a:lnSpc>
                <a:spcPct val="100000"/>
              </a:lnSpc>
              <a:spcBef>
                <a:spcPts val="305"/>
              </a:spcBef>
              <a:buSzPct val="82352"/>
              <a:buChar char="●"/>
              <a:tabLst>
                <a:tab pos="469265" algn="l"/>
              </a:tabLst>
            </a:pPr>
            <a:r>
              <a:rPr sz="1700" dirty="0">
                <a:latin typeface="Arial MT"/>
                <a:cs typeface="Arial MT"/>
              </a:rPr>
              <a:t>Generally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produces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small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improvements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in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tasks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effectiveness</a:t>
            </a:r>
            <a:endParaRPr sz="1700" dirty="0">
              <a:latin typeface="Arial MT"/>
              <a:cs typeface="Arial MT"/>
            </a:endParaRPr>
          </a:p>
          <a:p>
            <a:pPr marL="469265" indent="-335915">
              <a:lnSpc>
                <a:spcPct val="100000"/>
              </a:lnSpc>
              <a:spcBef>
                <a:spcPts val="305"/>
              </a:spcBef>
              <a:buSzPct val="82352"/>
              <a:buChar char="●"/>
              <a:tabLst>
                <a:tab pos="469265" algn="l"/>
              </a:tabLst>
            </a:pPr>
            <a:r>
              <a:rPr sz="1700" dirty="0">
                <a:latin typeface="Arial MT"/>
                <a:cs typeface="Arial MT"/>
              </a:rPr>
              <a:t>Similar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to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stopping,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stemming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can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be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done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aggressively,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conservatively,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or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not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at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spc="-25" dirty="0">
                <a:latin typeface="Arial MT"/>
                <a:cs typeface="Arial MT"/>
              </a:rPr>
              <a:t>all</a:t>
            </a:r>
            <a:endParaRPr sz="1700" dirty="0">
              <a:latin typeface="Arial MT"/>
              <a:cs typeface="Arial MT"/>
            </a:endParaRPr>
          </a:p>
          <a:p>
            <a:pPr marL="926465" lvl="1" indent="-389255">
              <a:lnSpc>
                <a:spcPct val="100000"/>
              </a:lnSpc>
              <a:spcBef>
                <a:spcPts val="690"/>
              </a:spcBef>
              <a:buSzPct val="123529"/>
              <a:buChar char="○"/>
              <a:tabLst>
                <a:tab pos="926465" algn="l"/>
              </a:tabLst>
            </a:pPr>
            <a:r>
              <a:rPr sz="1700" spc="-10" dirty="0">
                <a:latin typeface="Arial MT"/>
                <a:cs typeface="Arial MT"/>
              </a:rPr>
              <a:t>Aggressively: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consider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“fish”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and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“fishing”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the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spc="-20" dirty="0">
                <a:latin typeface="Arial MT"/>
                <a:cs typeface="Arial MT"/>
              </a:rPr>
              <a:t>same</a:t>
            </a:r>
            <a:endParaRPr sz="1700" dirty="0">
              <a:latin typeface="Arial MT"/>
              <a:cs typeface="Arial MT"/>
            </a:endParaRPr>
          </a:p>
          <a:p>
            <a:pPr marL="926465" lvl="1" indent="-389255">
              <a:lnSpc>
                <a:spcPct val="100000"/>
              </a:lnSpc>
              <a:spcBef>
                <a:spcPts val="860"/>
              </a:spcBef>
              <a:buSzPct val="123529"/>
              <a:buChar char="○"/>
              <a:tabLst>
                <a:tab pos="926465" algn="l"/>
              </a:tabLst>
            </a:pPr>
            <a:r>
              <a:rPr sz="1700" spc="-10" dirty="0">
                <a:latin typeface="Arial MT"/>
                <a:cs typeface="Arial MT"/>
              </a:rPr>
              <a:t>Conservatively: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just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identifying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plural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forms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using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the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letter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spc="-25" dirty="0">
                <a:latin typeface="Arial MT"/>
                <a:cs typeface="Arial MT"/>
              </a:rPr>
              <a:t>“s”</a:t>
            </a:r>
            <a:endParaRPr sz="1700" dirty="0">
              <a:latin typeface="Arial MT"/>
              <a:cs typeface="Arial MT"/>
            </a:endParaRPr>
          </a:p>
          <a:p>
            <a:pPr marL="1383665" lvl="2" indent="-358775">
              <a:lnSpc>
                <a:spcPct val="100000"/>
              </a:lnSpc>
              <a:spcBef>
                <a:spcPts val="475"/>
              </a:spcBef>
              <a:buChar char="■"/>
              <a:tabLst>
                <a:tab pos="1383665" algn="l"/>
                <a:tab pos="2298065" algn="l"/>
              </a:tabLst>
            </a:pPr>
            <a:r>
              <a:rPr sz="1700" spc="-10" dirty="0">
                <a:latin typeface="Arial MT"/>
                <a:cs typeface="Arial MT"/>
              </a:rPr>
              <a:t>issues:</a:t>
            </a:r>
            <a:r>
              <a:rPr sz="1700" dirty="0">
                <a:latin typeface="Arial MT"/>
                <a:cs typeface="Arial MT"/>
              </a:rPr>
              <a:t>	</a:t>
            </a:r>
            <a:r>
              <a:rPr sz="1700" spc="-10" dirty="0">
                <a:latin typeface="Arial MT"/>
                <a:cs typeface="Arial MT"/>
              </a:rPr>
              <a:t>‘Centuries’</a:t>
            </a:r>
            <a:r>
              <a:rPr sz="1700" spc="-7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→</a:t>
            </a:r>
            <a:r>
              <a:rPr sz="1700" spc="-20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‘Centurie”</a:t>
            </a:r>
            <a:endParaRPr sz="1700" dirty="0">
              <a:latin typeface="Arial MT"/>
              <a:cs typeface="Arial MT"/>
            </a:endParaRPr>
          </a:p>
          <a:p>
            <a:pPr marL="926465" lvl="1" indent="-389255">
              <a:lnSpc>
                <a:spcPct val="100000"/>
              </a:lnSpc>
              <a:spcBef>
                <a:spcPts val="690"/>
              </a:spcBef>
              <a:buSzPct val="123529"/>
              <a:buChar char="○"/>
              <a:tabLst>
                <a:tab pos="926465" algn="l"/>
              </a:tabLst>
            </a:pPr>
            <a:r>
              <a:rPr sz="1700" dirty="0">
                <a:latin typeface="Arial MT"/>
                <a:cs typeface="Arial MT"/>
              </a:rPr>
              <a:t>Not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at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all: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Consider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all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the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word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variants</a:t>
            </a:r>
            <a:endParaRPr sz="1700" dirty="0">
              <a:latin typeface="Arial MT"/>
              <a:cs typeface="Arial MT"/>
            </a:endParaRPr>
          </a:p>
          <a:p>
            <a:pPr marL="469265" indent="-335915">
              <a:lnSpc>
                <a:spcPct val="100000"/>
              </a:lnSpc>
              <a:spcBef>
                <a:spcPts val="475"/>
              </a:spcBef>
              <a:buSzPct val="82352"/>
              <a:buChar char="●"/>
              <a:tabLst>
                <a:tab pos="469265" algn="l"/>
              </a:tabLst>
            </a:pPr>
            <a:r>
              <a:rPr sz="1700" dirty="0">
                <a:latin typeface="Arial MT"/>
                <a:cs typeface="Arial MT"/>
              </a:rPr>
              <a:t>In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different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languages,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stemming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can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have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different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importance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for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effectiveness:</a:t>
            </a:r>
            <a:endParaRPr sz="1700" dirty="0">
              <a:latin typeface="Arial MT"/>
              <a:cs typeface="Arial MT"/>
            </a:endParaRPr>
          </a:p>
          <a:p>
            <a:pPr marL="926465" lvl="1" indent="-358775">
              <a:lnSpc>
                <a:spcPct val="100000"/>
              </a:lnSpc>
              <a:spcBef>
                <a:spcPts val="305"/>
              </a:spcBef>
              <a:buChar char="○"/>
              <a:tabLst>
                <a:tab pos="926465" algn="l"/>
              </a:tabLst>
            </a:pPr>
            <a:r>
              <a:rPr sz="1700" spc="-10" dirty="0">
                <a:latin typeface="Arial MT"/>
                <a:cs typeface="Arial MT"/>
              </a:rPr>
              <a:t>In</a:t>
            </a:r>
            <a:r>
              <a:rPr sz="1700" spc="-11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Arabic,</a:t>
            </a:r>
            <a:r>
              <a:rPr sz="1700" spc="-8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morphology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is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more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complicated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than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English</a:t>
            </a:r>
            <a:endParaRPr sz="1700" dirty="0">
              <a:latin typeface="Arial MT"/>
              <a:cs typeface="Arial MT"/>
            </a:endParaRPr>
          </a:p>
          <a:p>
            <a:pPr marL="926465" lvl="1" indent="-358775">
              <a:lnSpc>
                <a:spcPct val="100000"/>
              </a:lnSpc>
              <a:spcBef>
                <a:spcPts val="305"/>
              </a:spcBef>
              <a:buChar char="○"/>
              <a:tabLst>
                <a:tab pos="926465" algn="l"/>
              </a:tabLst>
            </a:pPr>
            <a:r>
              <a:rPr sz="1700" dirty="0">
                <a:latin typeface="Arial MT"/>
                <a:cs typeface="Arial MT"/>
              </a:rPr>
              <a:t>In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Chinese,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stemming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is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not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effective</a:t>
            </a:r>
            <a:endParaRPr sz="17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773555">
              <a:lnSpc>
                <a:spcPct val="100000"/>
              </a:lnSpc>
              <a:spcBef>
                <a:spcPts val="120"/>
              </a:spcBef>
            </a:pPr>
            <a:r>
              <a:rPr dirty="0"/>
              <a:t>Evaluation</a:t>
            </a:r>
            <a:r>
              <a:rPr spc="30" dirty="0"/>
              <a:t> </a:t>
            </a:r>
            <a:r>
              <a:rPr dirty="0"/>
              <a:t>of</a:t>
            </a:r>
            <a:r>
              <a:rPr spc="35" dirty="0"/>
              <a:t> </a:t>
            </a:r>
            <a:r>
              <a:rPr spc="-10" dirty="0"/>
              <a:t>Stemmers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60949" y="694752"/>
            <a:ext cx="7531734" cy="3651250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1700" dirty="0">
                <a:latin typeface="Arial MT"/>
                <a:cs typeface="Arial MT"/>
              </a:rPr>
              <a:t>There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are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three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criteria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for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evaluating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stemmers:</a:t>
            </a:r>
            <a:endParaRPr sz="1700" dirty="0">
              <a:latin typeface="Arial MT"/>
              <a:cs typeface="Arial MT"/>
            </a:endParaRPr>
          </a:p>
          <a:p>
            <a:pPr marL="708660" indent="-238760">
              <a:lnSpc>
                <a:spcPct val="100000"/>
              </a:lnSpc>
              <a:spcBef>
                <a:spcPts val="305"/>
              </a:spcBef>
              <a:buAutoNum type="arabicPeriod"/>
              <a:tabLst>
                <a:tab pos="708660" algn="l"/>
              </a:tabLst>
            </a:pPr>
            <a:r>
              <a:rPr sz="1700" spc="-10" dirty="0">
                <a:latin typeface="Arial MT"/>
                <a:cs typeface="Arial MT"/>
              </a:rPr>
              <a:t>Correctness</a:t>
            </a:r>
            <a:endParaRPr sz="1700" dirty="0">
              <a:latin typeface="Arial MT"/>
              <a:cs typeface="Arial MT"/>
            </a:endParaRPr>
          </a:p>
          <a:p>
            <a:pPr marL="708660" indent="-238760">
              <a:lnSpc>
                <a:spcPct val="100000"/>
              </a:lnSpc>
              <a:spcBef>
                <a:spcPts val="305"/>
              </a:spcBef>
              <a:buAutoNum type="arabicPeriod"/>
              <a:tabLst>
                <a:tab pos="708660" algn="l"/>
              </a:tabLst>
            </a:pPr>
            <a:r>
              <a:rPr sz="1700" dirty="0">
                <a:latin typeface="Arial MT"/>
                <a:cs typeface="Arial MT"/>
              </a:rPr>
              <a:t>Efficiency</a:t>
            </a:r>
            <a:r>
              <a:rPr sz="1700" spc="-6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of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the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spc="-20" dirty="0">
                <a:latin typeface="Arial MT"/>
                <a:cs typeface="Arial MT"/>
              </a:rPr>
              <a:t>task</a:t>
            </a:r>
            <a:endParaRPr sz="1700" dirty="0">
              <a:latin typeface="Arial MT"/>
              <a:cs typeface="Arial MT"/>
            </a:endParaRPr>
          </a:p>
          <a:p>
            <a:pPr marL="708660" indent="-238760">
              <a:lnSpc>
                <a:spcPct val="100000"/>
              </a:lnSpc>
              <a:spcBef>
                <a:spcPts val="305"/>
              </a:spcBef>
              <a:buAutoNum type="arabicPeriod"/>
              <a:tabLst>
                <a:tab pos="708660" algn="l"/>
              </a:tabLst>
            </a:pPr>
            <a:r>
              <a:rPr sz="1700" spc="-10" dirty="0">
                <a:latin typeface="Arial MT"/>
                <a:cs typeface="Arial MT"/>
              </a:rPr>
              <a:t>Compression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performance</a:t>
            </a:r>
            <a:endParaRPr sz="17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900"/>
              </a:spcBef>
            </a:pPr>
            <a:endParaRPr sz="17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700" dirty="0">
                <a:latin typeface="Arial MT"/>
                <a:cs typeface="Arial MT"/>
              </a:rPr>
              <a:t>There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are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two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ways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in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which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stemming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can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be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incorrect:</a:t>
            </a:r>
            <a:endParaRPr sz="1700" dirty="0">
              <a:latin typeface="Arial MT"/>
              <a:cs typeface="Arial MT"/>
            </a:endParaRPr>
          </a:p>
          <a:p>
            <a:pPr marL="469265" indent="-351155">
              <a:lnSpc>
                <a:spcPct val="100000"/>
              </a:lnSpc>
              <a:spcBef>
                <a:spcPts val="310"/>
              </a:spcBef>
              <a:buChar char="●"/>
              <a:tabLst>
                <a:tab pos="469265" algn="l"/>
              </a:tabLst>
            </a:pPr>
            <a:r>
              <a:rPr sz="1600" spc="-20" dirty="0">
                <a:latin typeface="Arial MT"/>
                <a:cs typeface="Arial MT"/>
              </a:rPr>
              <a:t>Over-</a:t>
            </a:r>
            <a:r>
              <a:rPr sz="1600" dirty="0">
                <a:latin typeface="Arial MT"/>
                <a:cs typeface="Arial MT"/>
              </a:rPr>
              <a:t>stemming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(too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much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of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term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is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removed)</a:t>
            </a:r>
            <a:endParaRPr sz="1600" dirty="0">
              <a:latin typeface="Arial MT"/>
              <a:cs typeface="Arial MT"/>
            </a:endParaRPr>
          </a:p>
          <a:p>
            <a:pPr marL="926465" lvl="1" indent="-351155">
              <a:lnSpc>
                <a:spcPct val="100000"/>
              </a:lnSpc>
              <a:spcBef>
                <a:spcPts val="290"/>
              </a:spcBef>
              <a:buChar char="○"/>
              <a:tabLst>
                <a:tab pos="926465" algn="l"/>
              </a:tabLst>
            </a:pPr>
            <a:r>
              <a:rPr sz="1600" dirty="0">
                <a:latin typeface="Arial MT"/>
                <a:cs typeface="Arial MT"/>
              </a:rPr>
              <a:t>Two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or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more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words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being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reduced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to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same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wrong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spc="-20" dirty="0">
                <a:latin typeface="Arial MT"/>
                <a:cs typeface="Arial MT"/>
              </a:rPr>
              <a:t>root</a:t>
            </a:r>
            <a:endParaRPr sz="1600" dirty="0">
              <a:latin typeface="Arial MT"/>
              <a:cs typeface="Arial MT"/>
            </a:endParaRPr>
          </a:p>
          <a:p>
            <a:pPr marL="926465" lvl="1" indent="-351155">
              <a:lnSpc>
                <a:spcPct val="100000"/>
              </a:lnSpc>
              <a:spcBef>
                <a:spcPts val="285"/>
              </a:spcBef>
              <a:buChar char="○"/>
              <a:tabLst>
                <a:tab pos="926465" algn="l"/>
              </a:tabLst>
            </a:pPr>
            <a:r>
              <a:rPr sz="1600" dirty="0">
                <a:latin typeface="Arial MT"/>
                <a:cs typeface="Arial MT"/>
              </a:rPr>
              <a:t>e.g.,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‘centennial’,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‘century’,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‘center’: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‘cent’</a:t>
            </a:r>
            <a:endParaRPr sz="1600" dirty="0">
              <a:latin typeface="Arial MT"/>
              <a:cs typeface="Arial MT"/>
            </a:endParaRPr>
          </a:p>
          <a:p>
            <a:pPr marL="469265" indent="-351155">
              <a:lnSpc>
                <a:spcPct val="100000"/>
              </a:lnSpc>
              <a:spcBef>
                <a:spcPts val="290"/>
              </a:spcBef>
              <a:buChar char="●"/>
              <a:tabLst>
                <a:tab pos="469265" algn="l"/>
              </a:tabLst>
            </a:pPr>
            <a:r>
              <a:rPr sz="1600" spc="-10" dirty="0">
                <a:latin typeface="Arial MT"/>
                <a:cs typeface="Arial MT"/>
              </a:rPr>
              <a:t>Under-</a:t>
            </a:r>
            <a:r>
              <a:rPr sz="1600" dirty="0">
                <a:latin typeface="Arial MT"/>
                <a:cs typeface="Arial MT"/>
              </a:rPr>
              <a:t>stemming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(too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little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of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term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is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removed)</a:t>
            </a:r>
            <a:endParaRPr sz="1600" dirty="0">
              <a:latin typeface="Arial MT"/>
              <a:cs typeface="Arial MT"/>
            </a:endParaRPr>
          </a:p>
          <a:p>
            <a:pPr marL="926465" lvl="1" indent="-351155">
              <a:lnSpc>
                <a:spcPct val="100000"/>
              </a:lnSpc>
              <a:spcBef>
                <a:spcPts val="285"/>
              </a:spcBef>
              <a:buChar char="○"/>
              <a:tabLst>
                <a:tab pos="926465" algn="l"/>
              </a:tabLst>
            </a:pPr>
            <a:r>
              <a:rPr sz="1600" dirty="0">
                <a:latin typeface="Arial MT"/>
                <a:cs typeface="Arial MT"/>
              </a:rPr>
              <a:t>Two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or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more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words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could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be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wrongly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reduced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to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more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than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one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root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spc="-20" dirty="0">
                <a:latin typeface="Arial MT"/>
                <a:cs typeface="Arial MT"/>
              </a:rPr>
              <a:t>word</a:t>
            </a:r>
            <a:endParaRPr sz="1600" dirty="0">
              <a:latin typeface="Arial MT"/>
              <a:cs typeface="Arial MT"/>
            </a:endParaRPr>
          </a:p>
          <a:p>
            <a:pPr marL="926465" lvl="1" indent="-351155">
              <a:lnSpc>
                <a:spcPct val="100000"/>
              </a:lnSpc>
              <a:spcBef>
                <a:spcPts val="290"/>
              </a:spcBef>
              <a:buChar char="○"/>
              <a:tabLst>
                <a:tab pos="926465" algn="l"/>
                <a:tab pos="5041265" algn="l"/>
              </a:tabLst>
            </a:pPr>
            <a:r>
              <a:rPr sz="1600" dirty="0">
                <a:latin typeface="Arial MT"/>
                <a:cs typeface="Arial MT"/>
              </a:rPr>
              <a:t>e.g.,</a:t>
            </a:r>
            <a:r>
              <a:rPr sz="1600" spc="-6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‘acquire’,</a:t>
            </a:r>
            <a:r>
              <a:rPr sz="1600" spc="-5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‘acquiring’,</a:t>
            </a:r>
            <a:r>
              <a:rPr sz="1600" spc="-5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‘acquired’:</a:t>
            </a:r>
            <a:r>
              <a:rPr sz="1600" spc="-5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acquir</a:t>
            </a:r>
            <a:r>
              <a:rPr sz="1600" dirty="0">
                <a:latin typeface="Arial MT"/>
                <a:cs typeface="Arial MT"/>
              </a:rPr>
              <a:t>	‘acquisition’:</a:t>
            </a:r>
            <a:r>
              <a:rPr sz="1600" spc="-7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‘acquis’</a:t>
            </a:r>
            <a:endParaRPr sz="16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835785">
              <a:lnSpc>
                <a:spcPct val="100000"/>
              </a:lnSpc>
              <a:spcBef>
                <a:spcPts val="120"/>
              </a:spcBef>
            </a:pPr>
            <a:r>
              <a:rPr dirty="0"/>
              <a:t>Porter Stemmer </a:t>
            </a:r>
            <a:r>
              <a:rPr spc="-10" dirty="0"/>
              <a:t>(1980)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0949" y="628458"/>
            <a:ext cx="6334760" cy="783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81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most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common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stemmer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English,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introduced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by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Martin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Porter </a:t>
            </a:r>
            <a:r>
              <a:rPr sz="1800" spc="-20" dirty="0">
                <a:latin typeface="Times New Roman"/>
                <a:cs typeface="Times New Roman"/>
              </a:rPr>
              <a:t>A</a:t>
            </a:r>
            <a:r>
              <a:rPr sz="1800" spc="-10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rule-</a:t>
            </a:r>
            <a:r>
              <a:rPr sz="1800" dirty="0">
                <a:latin typeface="Times New Roman"/>
                <a:cs typeface="Times New Roman"/>
              </a:rPr>
              <a:t>based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stemmer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with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rules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mostly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suffix-</a:t>
            </a:r>
            <a:r>
              <a:rPr sz="1800" dirty="0">
                <a:latin typeface="Times New Roman"/>
                <a:cs typeface="Times New Roman"/>
              </a:rPr>
              <a:t>stripping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such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as: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48450" y="1452688"/>
            <a:ext cx="654685" cy="621665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1700" dirty="0">
                <a:latin typeface="Times New Roman"/>
                <a:cs typeface="Times New Roman"/>
              </a:rPr>
              <a:t>→ </a:t>
            </a:r>
            <a:r>
              <a:rPr sz="1700" spc="-10" dirty="0">
                <a:latin typeface="Times New Roman"/>
                <a:cs typeface="Times New Roman"/>
              </a:rPr>
              <a:t>“-</a:t>
            </a:r>
            <a:r>
              <a:rPr sz="1700" spc="-50" dirty="0">
                <a:latin typeface="Times New Roman"/>
                <a:cs typeface="Times New Roman"/>
              </a:rPr>
              <a:t>”</a:t>
            </a:r>
            <a:endParaRPr sz="1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sz="1700" dirty="0">
                <a:latin typeface="Times New Roman"/>
                <a:cs typeface="Times New Roman"/>
              </a:rPr>
              <a:t>→ </a:t>
            </a:r>
            <a:r>
              <a:rPr sz="1700" spc="-20" dirty="0">
                <a:latin typeface="Times New Roman"/>
                <a:cs typeface="Times New Roman"/>
              </a:rPr>
              <a:t>“ss”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04150" y="1452688"/>
            <a:ext cx="1966595" cy="6216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1700" dirty="0">
                <a:latin typeface="Times New Roman"/>
                <a:cs typeface="Times New Roman"/>
              </a:rPr>
              <a:t>connecting → </a:t>
            </a:r>
            <a:r>
              <a:rPr sz="1700" spc="-10" dirty="0">
                <a:latin typeface="Times New Roman"/>
                <a:cs typeface="Times New Roman"/>
              </a:rPr>
              <a:t>connect </a:t>
            </a:r>
            <a:r>
              <a:rPr sz="1700" dirty="0">
                <a:latin typeface="Times New Roman"/>
                <a:cs typeface="Times New Roman"/>
              </a:rPr>
              <a:t>caresses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→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caress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59205" y="1452688"/>
            <a:ext cx="6518909" cy="1515110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371475" indent="-358775">
              <a:lnSpc>
                <a:spcPct val="100000"/>
              </a:lnSpc>
              <a:spcBef>
                <a:spcPts val="405"/>
              </a:spcBef>
              <a:buFont typeface="Arial MT"/>
              <a:buChar char="●"/>
              <a:tabLst>
                <a:tab pos="371475" algn="l"/>
              </a:tabLst>
            </a:pPr>
            <a:r>
              <a:rPr sz="1700" spc="-10" dirty="0">
                <a:latin typeface="Times New Roman"/>
                <a:cs typeface="Times New Roman"/>
              </a:rPr>
              <a:t>“ing”</a:t>
            </a:r>
            <a:endParaRPr sz="1700" dirty="0">
              <a:latin typeface="Times New Roman"/>
              <a:cs typeface="Times New Roman"/>
            </a:endParaRPr>
          </a:p>
          <a:p>
            <a:pPr marL="371475" indent="-358775">
              <a:lnSpc>
                <a:spcPct val="100000"/>
              </a:lnSpc>
              <a:spcBef>
                <a:spcPts val="305"/>
              </a:spcBef>
              <a:buFont typeface="Arial MT"/>
              <a:buChar char="●"/>
              <a:tabLst>
                <a:tab pos="371475" algn="l"/>
              </a:tabLst>
            </a:pPr>
            <a:r>
              <a:rPr sz="1700" spc="-10" dirty="0">
                <a:latin typeface="Times New Roman"/>
                <a:cs typeface="Times New Roman"/>
              </a:rPr>
              <a:t>“sses”</a:t>
            </a:r>
            <a:endParaRPr sz="1700" dirty="0">
              <a:latin typeface="Times New Roman"/>
              <a:cs typeface="Times New Roman"/>
            </a:endParaRPr>
          </a:p>
          <a:p>
            <a:pPr marL="371475" indent="-358775">
              <a:lnSpc>
                <a:spcPct val="100000"/>
              </a:lnSpc>
              <a:spcBef>
                <a:spcPts val="305"/>
              </a:spcBef>
              <a:buFont typeface="Arial MT"/>
              <a:buChar char="●"/>
              <a:tabLst>
                <a:tab pos="371475" algn="l"/>
                <a:tab pos="2657475" algn="l"/>
                <a:tab pos="4486275" algn="l"/>
              </a:tabLst>
            </a:pPr>
            <a:r>
              <a:rPr sz="1700" dirty="0">
                <a:latin typeface="Times New Roman"/>
                <a:cs typeface="Times New Roman"/>
              </a:rPr>
              <a:t>(m&gt;0)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“EED”</a:t>
            </a:r>
            <a:r>
              <a:rPr sz="1700" spc="409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→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20" dirty="0">
                <a:latin typeface="Times New Roman"/>
                <a:cs typeface="Times New Roman"/>
              </a:rPr>
              <a:t>“EE”</a:t>
            </a:r>
            <a:r>
              <a:rPr sz="1700" dirty="0">
                <a:latin typeface="Times New Roman"/>
                <a:cs typeface="Times New Roman"/>
              </a:rPr>
              <a:t>	feed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→ </a:t>
            </a:r>
            <a:r>
              <a:rPr sz="1700" spc="-20" dirty="0">
                <a:latin typeface="Times New Roman"/>
                <a:cs typeface="Times New Roman"/>
              </a:rPr>
              <a:t>feed</a:t>
            </a:r>
            <a:r>
              <a:rPr sz="1700" dirty="0">
                <a:latin typeface="Times New Roman"/>
                <a:cs typeface="Times New Roman"/>
              </a:rPr>
              <a:t>	agreed → </a:t>
            </a:r>
            <a:r>
              <a:rPr sz="1700" spc="-10" dirty="0">
                <a:latin typeface="Times New Roman"/>
                <a:cs typeface="Times New Roman"/>
              </a:rPr>
              <a:t>agree</a:t>
            </a:r>
            <a:endParaRPr sz="1700" dirty="0">
              <a:latin typeface="Times New Roman"/>
              <a:cs typeface="Times New Roman"/>
            </a:endParaRPr>
          </a:p>
          <a:p>
            <a:pPr marL="828675" lvl="1" indent="-358775">
              <a:lnSpc>
                <a:spcPct val="100000"/>
              </a:lnSpc>
              <a:spcBef>
                <a:spcPts val="305"/>
              </a:spcBef>
              <a:buFont typeface="Arial MT"/>
              <a:buChar char="○"/>
              <a:tabLst>
                <a:tab pos="828675" algn="l"/>
              </a:tabLst>
            </a:pPr>
            <a:r>
              <a:rPr sz="1700" dirty="0">
                <a:latin typeface="Times New Roman"/>
                <a:cs typeface="Times New Roman"/>
              </a:rPr>
              <a:t>m=measure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word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or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word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part,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when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represented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in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form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20" dirty="0">
                <a:latin typeface="Times New Roman"/>
                <a:cs typeface="Times New Roman"/>
              </a:rPr>
              <a:t>(VC)</a:t>
            </a:r>
            <a:endParaRPr sz="1700" dirty="0">
              <a:latin typeface="Times New Roman"/>
              <a:cs typeface="Times New Roman"/>
            </a:endParaRPr>
          </a:p>
          <a:p>
            <a:pPr marL="1285875" lvl="2" indent="-358775">
              <a:lnSpc>
                <a:spcPct val="100000"/>
              </a:lnSpc>
              <a:spcBef>
                <a:spcPts val="309"/>
              </a:spcBef>
              <a:buFont typeface="Arial MT"/>
              <a:buChar char="■"/>
              <a:tabLst>
                <a:tab pos="1285875" algn="l"/>
              </a:tabLst>
            </a:pPr>
            <a:r>
              <a:rPr sz="1700" dirty="0">
                <a:latin typeface="Times New Roman"/>
                <a:cs typeface="Times New Roman"/>
              </a:rPr>
              <a:t>V=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vowel and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C=consonants</a:t>
            </a:r>
            <a:endParaRPr sz="17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0949" y="3303840"/>
            <a:ext cx="1258570" cy="7486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9500"/>
              </a:lnSpc>
              <a:spcBef>
                <a:spcPts val="100"/>
              </a:spcBef>
            </a:pPr>
            <a:r>
              <a:rPr sz="1700" spc="-10" dirty="0">
                <a:solidFill>
                  <a:srgbClr val="0000FF"/>
                </a:solidFill>
                <a:latin typeface="Times New Roman"/>
                <a:cs typeface="Times New Roman"/>
              </a:rPr>
              <a:t>Advantage: Disadvantage: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32550" y="3303840"/>
            <a:ext cx="7215505" cy="7486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9500"/>
              </a:lnSpc>
              <a:spcBef>
                <a:spcPts val="100"/>
              </a:spcBef>
            </a:pPr>
            <a:r>
              <a:rPr sz="1700" dirty="0">
                <a:latin typeface="Times New Roman"/>
                <a:cs typeface="Times New Roman"/>
              </a:rPr>
              <a:t>It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produces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best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output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as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compared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to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other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stemmers,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and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it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has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less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error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-20" dirty="0">
                <a:latin typeface="Times New Roman"/>
                <a:cs typeface="Times New Roman"/>
              </a:rPr>
              <a:t>rate </a:t>
            </a:r>
            <a:r>
              <a:rPr sz="1700" dirty="0">
                <a:latin typeface="Times New Roman"/>
                <a:cs typeface="Times New Roman"/>
              </a:rPr>
              <a:t>Morphological</a:t>
            </a:r>
            <a:r>
              <a:rPr sz="1700" spc="-3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variants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produced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are</a:t>
            </a:r>
            <a:r>
              <a:rPr sz="1700" spc="-3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not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always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real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words</a:t>
            </a:r>
            <a:r>
              <a:rPr sz="1700" spc="-3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(produces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stems)</a:t>
            </a:r>
            <a:endParaRPr sz="1700" dirty="0">
              <a:latin typeface="Times New Roman"/>
              <a:cs typeface="Times New Roman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07524" y="762700"/>
            <a:ext cx="2113499" cy="164384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215750" y="4616978"/>
            <a:ext cx="2840990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z="1200" u="heavy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3"/>
              </a:rPr>
              <a:t>https://tartarus.org/martin/PorterStemmer/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729105">
              <a:lnSpc>
                <a:spcPct val="100000"/>
              </a:lnSpc>
              <a:spcBef>
                <a:spcPts val="120"/>
              </a:spcBef>
            </a:pPr>
            <a:r>
              <a:rPr dirty="0"/>
              <a:t>Krovetz Stemmer </a:t>
            </a:r>
            <a:r>
              <a:rPr spc="-10" dirty="0"/>
              <a:t>(1993)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0949" y="628458"/>
            <a:ext cx="6917690" cy="3242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81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Hybrid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algorithmic-dictionary-</a:t>
            </a:r>
            <a:r>
              <a:rPr sz="1800" dirty="0">
                <a:latin typeface="Times New Roman"/>
                <a:cs typeface="Times New Roman"/>
              </a:rPr>
              <a:t>based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method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introduced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by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Robert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Krovetz </a:t>
            </a:r>
            <a:r>
              <a:rPr sz="1800" spc="-25" dirty="0">
                <a:latin typeface="Times New Roman"/>
                <a:cs typeface="Times New Roman"/>
              </a:rPr>
              <a:t>Word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checked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dictionary:</a:t>
            </a:r>
            <a:endParaRPr sz="1800" dirty="0">
              <a:latin typeface="Times New Roman"/>
              <a:cs typeface="Times New Roman"/>
            </a:endParaRPr>
          </a:p>
          <a:p>
            <a:pPr marL="469265" indent="-358775">
              <a:lnSpc>
                <a:spcPct val="100000"/>
              </a:lnSpc>
              <a:spcBef>
                <a:spcPts val="825"/>
              </a:spcBef>
              <a:buSzPct val="94444"/>
              <a:buFont typeface="Arial MT"/>
              <a:buChar char="●"/>
              <a:tabLst>
                <a:tab pos="469265" algn="l"/>
              </a:tabLst>
            </a:pPr>
            <a:r>
              <a:rPr sz="1800" dirty="0">
                <a:latin typeface="Times New Roman"/>
                <a:cs typeface="Times New Roman"/>
              </a:rPr>
              <a:t>If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present,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either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left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alone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(or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replaced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with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“exception”)</a:t>
            </a:r>
            <a:endParaRPr sz="1800" dirty="0">
              <a:latin typeface="Times New Roman"/>
              <a:cs typeface="Times New Roman"/>
            </a:endParaRPr>
          </a:p>
          <a:p>
            <a:pPr marL="469265" indent="-358775">
              <a:lnSpc>
                <a:spcPct val="100000"/>
              </a:lnSpc>
              <a:spcBef>
                <a:spcPts val="325"/>
              </a:spcBef>
              <a:buSzPct val="94444"/>
              <a:buFont typeface="Arial MT"/>
              <a:buChar char="●"/>
              <a:tabLst>
                <a:tab pos="469265" algn="l"/>
              </a:tabLst>
            </a:pPr>
            <a:r>
              <a:rPr sz="1800" dirty="0">
                <a:latin typeface="Times New Roman"/>
                <a:cs typeface="Times New Roman"/>
              </a:rPr>
              <a:t>If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not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present,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word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checked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suffixes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that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could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be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removed</a:t>
            </a:r>
            <a:endParaRPr sz="1800" dirty="0">
              <a:latin typeface="Times New Roman"/>
              <a:cs typeface="Times New Roman"/>
            </a:endParaRPr>
          </a:p>
          <a:p>
            <a:pPr marL="469265" indent="-358775">
              <a:lnSpc>
                <a:spcPct val="100000"/>
              </a:lnSpc>
              <a:spcBef>
                <a:spcPts val="320"/>
              </a:spcBef>
              <a:buSzPct val="94444"/>
              <a:buFont typeface="Arial MT"/>
              <a:buChar char="●"/>
              <a:tabLst>
                <a:tab pos="469265" algn="l"/>
              </a:tabLst>
            </a:pPr>
            <a:r>
              <a:rPr sz="1800" dirty="0">
                <a:latin typeface="Times New Roman"/>
                <a:cs typeface="Times New Roman"/>
              </a:rPr>
              <a:t>After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removal,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dictionary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checked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again</a:t>
            </a: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605"/>
              </a:spcBef>
            </a:pPr>
            <a:endParaRPr sz="1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1383665" algn="l"/>
              </a:tabLst>
            </a:pPr>
            <a:r>
              <a:rPr sz="1700" spc="-10" dirty="0">
                <a:solidFill>
                  <a:srgbClr val="0000FF"/>
                </a:solidFill>
                <a:latin typeface="Times New Roman"/>
                <a:cs typeface="Times New Roman"/>
              </a:rPr>
              <a:t>Advantage:</a:t>
            </a:r>
            <a:r>
              <a:rPr sz="1700" dirty="0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sz="1700" dirty="0">
                <a:latin typeface="Times New Roman"/>
                <a:cs typeface="Times New Roman"/>
              </a:rPr>
              <a:t>Produces</a:t>
            </a:r>
            <a:r>
              <a:rPr sz="1700" spc="-3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words</a:t>
            </a:r>
            <a:r>
              <a:rPr sz="1700" spc="-3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not</a:t>
            </a:r>
            <a:r>
              <a:rPr sz="1700" spc="-3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stems</a:t>
            </a:r>
            <a:endParaRPr sz="1700" dirty="0">
              <a:latin typeface="Times New Roman"/>
              <a:cs typeface="Times New Roman"/>
            </a:endParaRPr>
          </a:p>
          <a:p>
            <a:pPr marL="1384300" marR="554990" indent="-1371600">
              <a:lnSpc>
                <a:spcPct val="139500"/>
              </a:lnSpc>
              <a:tabLst>
                <a:tab pos="1383665" algn="l"/>
                <a:tab pos="3669665" algn="l"/>
              </a:tabLst>
            </a:pPr>
            <a:r>
              <a:rPr sz="1700" spc="-10" dirty="0">
                <a:solidFill>
                  <a:srgbClr val="0000FF"/>
                </a:solidFill>
                <a:latin typeface="Times New Roman"/>
                <a:cs typeface="Times New Roman"/>
              </a:rPr>
              <a:t>Disadvantage:</a:t>
            </a:r>
            <a:r>
              <a:rPr sz="1700" dirty="0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sz="1700" dirty="0">
                <a:latin typeface="Times New Roman"/>
                <a:cs typeface="Times New Roman"/>
              </a:rPr>
              <a:t>Lower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false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positive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rate,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somewhat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higher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false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negative </a:t>
            </a:r>
            <a:r>
              <a:rPr sz="1700" dirty="0">
                <a:latin typeface="Times New Roman"/>
                <a:cs typeface="Times New Roman"/>
              </a:rPr>
              <a:t>FP:</a:t>
            </a:r>
            <a:r>
              <a:rPr sz="1700" spc="-3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Policy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→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Police</a:t>
            </a:r>
            <a:r>
              <a:rPr sz="1700" dirty="0">
                <a:latin typeface="Times New Roman"/>
                <a:cs typeface="Times New Roman"/>
              </a:rPr>
              <a:t>	FN:</a:t>
            </a:r>
            <a:r>
              <a:rPr sz="1700" spc="-4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noise/noisy</a:t>
            </a:r>
            <a:endParaRPr sz="1700" dirty="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51675" y="784300"/>
            <a:ext cx="1257999" cy="189044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0222" y="85873"/>
            <a:ext cx="7977640" cy="4001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729105">
              <a:lnSpc>
                <a:spcPct val="100000"/>
              </a:lnSpc>
              <a:spcBef>
                <a:spcPts val="120"/>
              </a:spcBef>
            </a:pPr>
            <a:r>
              <a:rPr lang="en-US" dirty="0"/>
              <a:t>FP, FN, TP, TN – Simple Explanation</a:t>
            </a:r>
            <a:endParaRPr spc="-1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l="4499" t="3704"/>
          <a:stretch/>
        </p:blipFill>
        <p:spPr>
          <a:xfrm>
            <a:off x="151083" y="895350"/>
            <a:ext cx="8695918" cy="355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48085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72770"/>
          </a:xfrm>
          <a:custGeom>
            <a:avLst/>
            <a:gdLst/>
            <a:ahLst/>
            <a:cxnLst/>
            <a:rect l="l" t="t" r="r" b="b"/>
            <a:pathLst>
              <a:path w="9144000" h="572770">
                <a:moveTo>
                  <a:pt x="9143999" y="572699"/>
                </a:moveTo>
                <a:lnTo>
                  <a:pt x="0" y="5726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726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849245">
              <a:lnSpc>
                <a:spcPct val="100000"/>
              </a:lnSpc>
              <a:spcBef>
                <a:spcPts val="120"/>
              </a:spcBef>
            </a:pPr>
            <a:r>
              <a:rPr spc="-10" dirty="0"/>
              <a:t>Example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860875" y="725100"/>
            <a:ext cx="7422515" cy="3711575"/>
            <a:chOff x="860875" y="725100"/>
            <a:chExt cx="7422515" cy="371157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0875" y="725100"/>
              <a:ext cx="7422249" cy="371112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215350" y="2458500"/>
              <a:ext cx="873125" cy="1447165"/>
            </a:xfrm>
            <a:custGeom>
              <a:avLst/>
              <a:gdLst/>
              <a:ahLst/>
              <a:cxnLst/>
              <a:rect l="l" t="t" r="r" b="b"/>
              <a:pathLst>
                <a:path w="873125" h="1447164">
                  <a:moveTo>
                    <a:pt x="0" y="0"/>
                  </a:moveTo>
                  <a:lnTo>
                    <a:pt x="548699" y="0"/>
                  </a:lnTo>
                  <a:lnTo>
                    <a:pt x="548699" y="231299"/>
                  </a:lnTo>
                  <a:lnTo>
                    <a:pt x="0" y="231299"/>
                  </a:lnTo>
                  <a:lnTo>
                    <a:pt x="0" y="0"/>
                  </a:lnTo>
                  <a:close/>
                </a:path>
                <a:path w="873125" h="1447164">
                  <a:moveTo>
                    <a:pt x="83124" y="1215749"/>
                  </a:moveTo>
                  <a:lnTo>
                    <a:pt x="872724" y="1215749"/>
                  </a:lnTo>
                  <a:lnTo>
                    <a:pt x="872724" y="1447049"/>
                  </a:lnTo>
                  <a:lnTo>
                    <a:pt x="83124" y="1447049"/>
                  </a:lnTo>
                  <a:lnTo>
                    <a:pt x="83124" y="1215749"/>
                  </a:lnTo>
                  <a:close/>
                </a:path>
              </a:pathLst>
            </a:custGeom>
            <a:ln w="9524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436500" y="951849"/>
              <a:ext cx="789940" cy="231775"/>
            </a:xfrm>
            <a:custGeom>
              <a:avLst/>
              <a:gdLst/>
              <a:ahLst/>
              <a:cxnLst/>
              <a:rect l="l" t="t" r="r" b="b"/>
              <a:pathLst>
                <a:path w="789939" h="231775">
                  <a:moveTo>
                    <a:pt x="0" y="0"/>
                  </a:moveTo>
                  <a:lnTo>
                    <a:pt x="789599" y="0"/>
                  </a:lnTo>
                  <a:lnTo>
                    <a:pt x="789599" y="231299"/>
                  </a:lnTo>
                  <a:lnTo>
                    <a:pt x="0" y="2312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093600" y="951849"/>
              <a:ext cx="342900" cy="231775"/>
            </a:xfrm>
            <a:custGeom>
              <a:avLst/>
              <a:gdLst/>
              <a:ahLst/>
              <a:cxnLst/>
              <a:rect l="l" t="t" r="r" b="b"/>
              <a:pathLst>
                <a:path w="342900" h="231775">
                  <a:moveTo>
                    <a:pt x="0" y="0"/>
                  </a:moveTo>
                  <a:lnTo>
                    <a:pt x="342899" y="0"/>
                  </a:lnTo>
                  <a:lnTo>
                    <a:pt x="342899" y="231299"/>
                  </a:lnTo>
                  <a:lnTo>
                    <a:pt x="0" y="2312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649275" y="2465013"/>
              <a:ext cx="1212215" cy="1440815"/>
            </a:xfrm>
            <a:custGeom>
              <a:avLst/>
              <a:gdLst/>
              <a:ahLst/>
              <a:cxnLst/>
              <a:rect l="l" t="t" r="r" b="b"/>
              <a:pathLst>
                <a:path w="1212214" h="1440814">
                  <a:moveTo>
                    <a:pt x="0" y="0"/>
                  </a:moveTo>
                  <a:lnTo>
                    <a:pt x="789599" y="0"/>
                  </a:lnTo>
                  <a:lnTo>
                    <a:pt x="789599" y="231299"/>
                  </a:lnTo>
                  <a:lnTo>
                    <a:pt x="0" y="231299"/>
                  </a:lnTo>
                  <a:lnTo>
                    <a:pt x="0" y="0"/>
                  </a:lnTo>
                  <a:close/>
                </a:path>
                <a:path w="1212214" h="1440814">
                  <a:moveTo>
                    <a:pt x="422474" y="1209224"/>
                  </a:moveTo>
                  <a:lnTo>
                    <a:pt x="1212074" y="1209224"/>
                  </a:lnTo>
                  <a:lnTo>
                    <a:pt x="1212074" y="1440524"/>
                  </a:lnTo>
                  <a:lnTo>
                    <a:pt x="422474" y="1440524"/>
                  </a:lnTo>
                  <a:lnTo>
                    <a:pt x="422474" y="1209224"/>
                  </a:lnTo>
                  <a:close/>
                </a:path>
              </a:pathLst>
            </a:custGeom>
            <a:ln w="9524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547875" y="951849"/>
              <a:ext cx="789940" cy="231775"/>
            </a:xfrm>
            <a:custGeom>
              <a:avLst/>
              <a:gdLst/>
              <a:ahLst/>
              <a:cxnLst/>
              <a:rect l="l" t="t" r="r" b="b"/>
              <a:pathLst>
                <a:path w="789939" h="231775">
                  <a:moveTo>
                    <a:pt x="0" y="0"/>
                  </a:moveTo>
                  <a:lnTo>
                    <a:pt x="789599" y="0"/>
                  </a:lnTo>
                  <a:lnTo>
                    <a:pt x="789599" y="231299"/>
                  </a:lnTo>
                  <a:lnTo>
                    <a:pt x="0" y="2312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12201" y="1972144"/>
            <a:ext cx="4318635" cy="817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200" spc="-10" dirty="0"/>
              <a:t>Lemmatization</a:t>
            </a:r>
            <a:endParaRPr sz="52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431415">
              <a:lnSpc>
                <a:spcPct val="100000"/>
              </a:lnSpc>
              <a:spcBef>
                <a:spcPts val="120"/>
              </a:spcBef>
            </a:pPr>
            <a:r>
              <a:rPr spc="-10" dirty="0"/>
              <a:t>Lemmatization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872401" y="4854767"/>
            <a:ext cx="167005" cy="16764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spc="-25" dirty="0">
                <a:latin typeface="Arial MT"/>
                <a:cs typeface="Arial MT"/>
              </a:rPr>
              <a:t>37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0949" y="689163"/>
            <a:ext cx="8635365" cy="2611755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sz="1900" dirty="0">
                <a:latin typeface="Times New Roman"/>
                <a:cs typeface="Times New Roman"/>
              </a:rPr>
              <a:t>Reduce</a:t>
            </a:r>
            <a:r>
              <a:rPr sz="1900" spc="-4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inflectional/variant</a:t>
            </a:r>
            <a:r>
              <a:rPr sz="1900" spc="-4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forms</a:t>
            </a:r>
            <a:r>
              <a:rPr sz="1900" spc="-4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to</a:t>
            </a:r>
            <a:r>
              <a:rPr sz="1900" spc="-4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base</a:t>
            </a:r>
            <a:r>
              <a:rPr sz="1900" spc="-45" dirty="0">
                <a:latin typeface="Times New Roman"/>
                <a:cs typeface="Times New Roman"/>
              </a:rPr>
              <a:t> </a:t>
            </a:r>
            <a:r>
              <a:rPr sz="1900" spc="-20" dirty="0">
                <a:latin typeface="Times New Roman"/>
                <a:cs typeface="Times New Roman"/>
              </a:rPr>
              <a:t>form</a:t>
            </a:r>
            <a:endParaRPr sz="1900">
              <a:latin typeface="Times New Roman"/>
              <a:cs typeface="Times New Roman"/>
            </a:endParaRPr>
          </a:p>
          <a:p>
            <a:pPr marL="469265" indent="-374015">
              <a:lnSpc>
                <a:spcPct val="100000"/>
              </a:lnSpc>
              <a:spcBef>
                <a:spcPts val="345"/>
              </a:spcBef>
              <a:buFont typeface="Arial MT"/>
              <a:buChar char="●"/>
              <a:tabLst>
                <a:tab pos="469265" algn="l"/>
              </a:tabLst>
            </a:pPr>
            <a:r>
              <a:rPr sz="1900" dirty="0">
                <a:latin typeface="Times New Roman"/>
                <a:cs typeface="Times New Roman"/>
              </a:rPr>
              <a:t>am,</a:t>
            </a:r>
            <a:r>
              <a:rPr sz="1900" spc="-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are, is</a:t>
            </a:r>
            <a:r>
              <a:rPr sz="1900" spc="-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→ </a:t>
            </a:r>
            <a:r>
              <a:rPr sz="1900" spc="-25" dirty="0">
                <a:latin typeface="Times New Roman"/>
                <a:cs typeface="Times New Roman"/>
              </a:rPr>
              <a:t>be</a:t>
            </a:r>
            <a:endParaRPr sz="1900">
              <a:latin typeface="Times New Roman"/>
              <a:cs typeface="Times New Roman"/>
            </a:endParaRPr>
          </a:p>
          <a:p>
            <a:pPr marL="469265" indent="-374015">
              <a:lnSpc>
                <a:spcPct val="100000"/>
              </a:lnSpc>
              <a:spcBef>
                <a:spcPts val="340"/>
              </a:spcBef>
              <a:buFont typeface="Arial MT"/>
              <a:buChar char="●"/>
              <a:tabLst>
                <a:tab pos="469265" algn="l"/>
              </a:tabLst>
            </a:pPr>
            <a:r>
              <a:rPr sz="1900" dirty="0">
                <a:latin typeface="Times New Roman"/>
                <a:cs typeface="Times New Roman"/>
              </a:rPr>
              <a:t>car,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cars,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car's,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cars'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→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spc="-25" dirty="0">
                <a:latin typeface="Times New Roman"/>
                <a:cs typeface="Times New Roman"/>
              </a:rPr>
              <a:t>car</a:t>
            </a:r>
            <a:endParaRPr sz="1900">
              <a:latin typeface="Times New Roman"/>
              <a:cs typeface="Times New Roman"/>
            </a:endParaRPr>
          </a:p>
          <a:p>
            <a:pPr marL="469265" indent="-374015">
              <a:lnSpc>
                <a:spcPct val="100000"/>
              </a:lnSpc>
              <a:spcBef>
                <a:spcPts val="340"/>
              </a:spcBef>
              <a:buFont typeface="Arial MT"/>
              <a:buChar char="●"/>
              <a:tabLst>
                <a:tab pos="469265" algn="l"/>
              </a:tabLst>
            </a:pPr>
            <a:r>
              <a:rPr sz="1900" dirty="0">
                <a:latin typeface="Times New Roman"/>
                <a:cs typeface="Times New Roman"/>
              </a:rPr>
              <a:t>the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boy's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cars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are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different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colors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→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the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boy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car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be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different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color</a:t>
            </a: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sz="1800" dirty="0">
                <a:latin typeface="Times New Roman"/>
                <a:cs typeface="Times New Roman"/>
              </a:rPr>
              <a:t>Lemmatization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implies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doing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“proper”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reduction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FF"/>
                </a:solidFill>
                <a:latin typeface="Times New Roman"/>
                <a:cs typeface="Times New Roman"/>
              </a:rPr>
              <a:t>dictionary</a:t>
            </a:r>
            <a:r>
              <a:rPr sz="1800" spc="-5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headword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form</a:t>
            </a:r>
            <a:endParaRPr sz="1800">
              <a:latin typeface="Times New Roman"/>
              <a:cs typeface="Times New Roman"/>
            </a:endParaRPr>
          </a:p>
          <a:p>
            <a:pPr marL="469900" marR="5080" indent="-367030">
              <a:lnSpc>
                <a:spcPct val="114999"/>
              </a:lnSpc>
              <a:spcBef>
                <a:spcPts val="1200"/>
              </a:spcBef>
              <a:buFont typeface="Arial MT"/>
              <a:buChar char="●"/>
              <a:tabLst>
                <a:tab pos="469900" algn="l"/>
              </a:tabLst>
            </a:pPr>
            <a:r>
              <a:rPr sz="1800" dirty="0">
                <a:latin typeface="Times New Roman"/>
                <a:cs typeface="Times New Roman"/>
              </a:rPr>
              <a:t>e.g.,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WordNet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lexical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database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semantic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relations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between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words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more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than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200 </a:t>
            </a:r>
            <a:r>
              <a:rPr sz="1800" spc="-10" dirty="0">
                <a:latin typeface="Times New Roman"/>
                <a:cs typeface="Times New Roman"/>
              </a:rPr>
              <a:t>languages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8250" y="3750474"/>
            <a:ext cx="7909559" cy="1047115"/>
          </a:xfrm>
          <a:prstGeom prst="rect">
            <a:avLst/>
          </a:prstGeom>
          <a:ln w="28574">
            <a:solidFill>
              <a:srgbClr val="0000FF"/>
            </a:solidFill>
          </a:ln>
        </p:spPr>
        <p:txBody>
          <a:bodyPr vert="horz" wrap="square" lIns="0" tIns="78740" rIns="0" bIns="0" rtlCol="0">
            <a:spAutoFit/>
          </a:bodyPr>
          <a:lstStyle/>
          <a:p>
            <a:pPr marL="85090" marR="480059">
              <a:lnSpc>
                <a:spcPct val="100000"/>
              </a:lnSpc>
              <a:spcBef>
                <a:spcPts val="620"/>
              </a:spcBef>
            </a:pPr>
            <a:r>
              <a:rPr sz="1400" b="1" dirty="0">
                <a:latin typeface="Arial"/>
                <a:cs typeface="Arial"/>
              </a:rPr>
              <a:t>Stemming</a:t>
            </a:r>
            <a:r>
              <a:rPr sz="1400" b="1" spc="-15" dirty="0">
                <a:latin typeface="Arial"/>
                <a:cs typeface="Arial"/>
              </a:rPr>
              <a:t> </a:t>
            </a:r>
            <a:r>
              <a:rPr sz="1400" dirty="0">
                <a:latin typeface="Arial MT"/>
                <a:cs typeface="Arial MT"/>
              </a:rPr>
              <a:t>is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process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that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extract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stems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by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removing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last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few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characters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from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word,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often </a:t>
            </a:r>
            <a:r>
              <a:rPr sz="1400" dirty="0">
                <a:latin typeface="Arial MT"/>
                <a:cs typeface="Arial MT"/>
              </a:rPr>
              <a:t>leading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to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incorrect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meanings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and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spelling</a:t>
            </a:r>
            <a:endParaRPr sz="1400">
              <a:latin typeface="Arial MT"/>
              <a:cs typeface="Arial MT"/>
            </a:endParaRPr>
          </a:p>
          <a:p>
            <a:pPr marL="85090" marR="133350">
              <a:lnSpc>
                <a:spcPct val="100000"/>
              </a:lnSpc>
            </a:pPr>
            <a:r>
              <a:rPr sz="1400" b="1" dirty="0">
                <a:latin typeface="Arial"/>
                <a:cs typeface="Arial"/>
              </a:rPr>
              <a:t>Lemmatization</a:t>
            </a:r>
            <a:r>
              <a:rPr sz="1400" b="1" spc="-25" dirty="0">
                <a:latin typeface="Arial"/>
                <a:cs typeface="Arial"/>
              </a:rPr>
              <a:t> </a:t>
            </a:r>
            <a:r>
              <a:rPr sz="1400" dirty="0">
                <a:latin typeface="Arial MT"/>
                <a:cs typeface="Arial MT"/>
              </a:rPr>
              <a:t>considers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the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context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and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converts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the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word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to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its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meaningful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base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form,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which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spc="-25" dirty="0">
                <a:latin typeface="Arial MT"/>
                <a:cs typeface="Arial MT"/>
              </a:rPr>
              <a:t>is </a:t>
            </a:r>
            <a:r>
              <a:rPr sz="1400" dirty="0">
                <a:latin typeface="Arial MT"/>
                <a:cs typeface="Arial MT"/>
              </a:rPr>
              <a:t>called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Lemma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48074" y="1972144"/>
            <a:ext cx="2448560" cy="817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200" spc="-10" dirty="0"/>
              <a:t>Phrases</a:t>
            </a:r>
            <a:endParaRPr sz="52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884805">
              <a:lnSpc>
                <a:spcPct val="100000"/>
              </a:lnSpc>
              <a:spcBef>
                <a:spcPts val="120"/>
              </a:spcBef>
            </a:pPr>
            <a:r>
              <a:rPr spc="-10" dirty="0"/>
              <a:t>Phrases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60949" y="691956"/>
            <a:ext cx="8176259" cy="396367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task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such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as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information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retrieval,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input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queries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can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be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2-</a:t>
            </a:r>
            <a:r>
              <a:rPr sz="1800" dirty="0">
                <a:latin typeface="Times New Roman"/>
                <a:cs typeface="Times New Roman"/>
              </a:rPr>
              <a:t>3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word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phrases</a:t>
            </a:r>
            <a:endParaRPr sz="1800">
              <a:latin typeface="Times New Roman"/>
              <a:cs typeface="Times New Roman"/>
            </a:endParaRPr>
          </a:p>
          <a:p>
            <a:pPr marL="469265" indent="-366395">
              <a:lnSpc>
                <a:spcPct val="100000"/>
              </a:lnSpc>
              <a:spcBef>
                <a:spcPts val="320"/>
              </a:spcBef>
              <a:buFont typeface="Arial MT"/>
              <a:buChar char="●"/>
              <a:tabLst>
                <a:tab pos="469265" algn="l"/>
              </a:tabLst>
            </a:pPr>
            <a:r>
              <a:rPr sz="1800" dirty="0">
                <a:latin typeface="Times New Roman"/>
                <a:cs typeface="Times New Roman"/>
              </a:rPr>
              <a:t>Phrases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can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yield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more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precise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queries</a:t>
            </a:r>
            <a:endParaRPr sz="1800">
              <a:latin typeface="Times New Roman"/>
              <a:cs typeface="Times New Roman"/>
            </a:endParaRPr>
          </a:p>
          <a:p>
            <a:pPr marL="926465" lvl="1" indent="-366395">
              <a:lnSpc>
                <a:spcPct val="100000"/>
              </a:lnSpc>
              <a:spcBef>
                <a:spcPts val="325"/>
              </a:spcBef>
              <a:buFont typeface="Arial MT"/>
              <a:buChar char="○"/>
              <a:tabLst>
                <a:tab pos="926465" algn="l"/>
              </a:tabLst>
            </a:pPr>
            <a:r>
              <a:rPr sz="1800" dirty="0">
                <a:latin typeface="Times New Roman"/>
                <a:cs typeface="Times New Roman"/>
              </a:rPr>
              <a:t>“University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Southern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Maine”,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“black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sea”</a:t>
            </a:r>
            <a:endParaRPr sz="1800">
              <a:latin typeface="Times New Roman"/>
              <a:cs typeface="Times New Roman"/>
            </a:endParaRPr>
          </a:p>
          <a:p>
            <a:pPr marL="469265" indent="-366395">
              <a:lnSpc>
                <a:spcPct val="100000"/>
              </a:lnSpc>
              <a:spcBef>
                <a:spcPts val="325"/>
              </a:spcBef>
              <a:buFont typeface="Arial MT"/>
              <a:buChar char="●"/>
              <a:tabLst>
                <a:tab pos="469265" algn="l"/>
              </a:tabLst>
            </a:pPr>
            <a:r>
              <a:rPr sz="1800" dirty="0">
                <a:latin typeface="Times New Roman"/>
                <a:cs typeface="Times New Roman"/>
              </a:rPr>
              <a:t>Less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ambiguous</a:t>
            </a:r>
            <a:endParaRPr sz="1800">
              <a:latin typeface="Times New Roman"/>
              <a:cs typeface="Times New Roman"/>
            </a:endParaRPr>
          </a:p>
          <a:p>
            <a:pPr marL="926465" lvl="1" indent="-366395">
              <a:lnSpc>
                <a:spcPct val="100000"/>
              </a:lnSpc>
              <a:spcBef>
                <a:spcPts val="325"/>
              </a:spcBef>
              <a:buFont typeface="Arial MT"/>
              <a:buChar char="○"/>
              <a:tabLst>
                <a:tab pos="926465" algn="l"/>
              </a:tabLst>
            </a:pPr>
            <a:r>
              <a:rPr sz="1800" dirty="0">
                <a:latin typeface="Times New Roman"/>
                <a:cs typeface="Times New Roman"/>
              </a:rPr>
              <a:t>“Red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apple”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vs.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“apple”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25"/>
              </a:spcBef>
            </a:pPr>
            <a:r>
              <a:rPr sz="1800" dirty="0">
                <a:latin typeface="Times New Roman"/>
                <a:cs typeface="Times New Roman"/>
              </a:rPr>
              <a:t>Phrase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any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sequence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words: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n-gram</a:t>
            </a:r>
            <a:endParaRPr sz="1800">
              <a:latin typeface="Times New Roman"/>
              <a:cs typeface="Times New Roman"/>
            </a:endParaRPr>
          </a:p>
          <a:p>
            <a:pPr marL="469265" indent="-366395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 MT"/>
              <a:buChar char="●"/>
              <a:tabLst>
                <a:tab pos="469265" algn="l"/>
                <a:tab pos="2755265" algn="l"/>
              </a:tabLst>
            </a:pPr>
            <a:r>
              <a:rPr sz="1800" dirty="0">
                <a:solidFill>
                  <a:srgbClr val="0000FF"/>
                </a:solidFill>
                <a:latin typeface="Times New Roman"/>
                <a:cs typeface="Times New Roman"/>
              </a:rPr>
              <a:t>unigram</a:t>
            </a:r>
            <a:r>
              <a:rPr sz="1800" dirty="0">
                <a:latin typeface="Times New Roman"/>
                <a:cs typeface="Times New Roman"/>
              </a:rPr>
              <a:t>: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one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word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dirty="0">
                <a:solidFill>
                  <a:srgbClr val="0000FF"/>
                </a:solidFill>
                <a:latin typeface="Times New Roman"/>
                <a:cs typeface="Times New Roman"/>
              </a:rPr>
              <a:t>bigram</a:t>
            </a:r>
            <a:r>
              <a:rPr sz="1800" dirty="0">
                <a:latin typeface="Times New Roman"/>
                <a:cs typeface="Times New Roman"/>
              </a:rPr>
              <a:t>: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sequence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2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words</a:t>
            </a:r>
            <a:r>
              <a:rPr sz="1800" spc="295" dirty="0"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FF"/>
                </a:solidFill>
                <a:latin typeface="Times New Roman"/>
                <a:cs typeface="Times New Roman"/>
              </a:rPr>
              <a:t>trigram</a:t>
            </a:r>
            <a:r>
              <a:rPr sz="1800" dirty="0">
                <a:latin typeface="Times New Roman"/>
                <a:cs typeface="Times New Roman"/>
              </a:rPr>
              <a:t>: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sequence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3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words</a:t>
            </a:r>
            <a:endParaRPr sz="1800">
              <a:latin typeface="Times New Roman"/>
              <a:cs typeface="Times New Roman"/>
            </a:endParaRPr>
          </a:p>
          <a:p>
            <a:pPr marL="469265" indent="-366395">
              <a:lnSpc>
                <a:spcPct val="100000"/>
              </a:lnSpc>
              <a:spcBef>
                <a:spcPts val="325"/>
              </a:spcBef>
              <a:buFont typeface="Arial MT"/>
              <a:buChar char="●"/>
              <a:tabLst>
                <a:tab pos="469265" algn="l"/>
              </a:tabLst>
            </a:pPr>
            <a:r>
              <a:rPr sz="1800" dirty="0">
                <a:latin typeface="Times New Roman"/>
                <a:cs typeface="Times New Roman"/>
              </a:rPr>
              <a:t>Generated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by:</a:t>
            </a:r>
            <a:endParaRPr sz="1800">
              <a:latin typeface="Times New Roman"/>
              <a:cs typeface="Times New Roman"/>
            </a:endParaRPr>
          </a:p>
          <a:p>
            <a:pPr marL="926465" lvl="1" indent="-366395">
              <a:lnSpc>
                <a:spcPct val="100000"/>
              </a:lnSpc>
              <a:spcBef>
                <a:spcPts val="325"/>
              </a:spcBef>
              <a:buFont typeface="Arial MT"/>
              <a:buChar char="○"/>
              <a:tabLst>
                <a:tab pos="926465" algn="l"/>
              </a:tabLst>
            </a:pPr>
            <a:r>
              <a:rPr sz="1800" dirty="0">
                <a:latin typeface="Times New Roman"/>
                <a:cs typeface="Times New Roman"/>
              </a:rPr>
              <a:t>Choosing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particular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value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‘n’</a:t>
            </a:r>
            <a:endParaRPr sz="1800">
              <a:latin typeface="Times New Roman"/>
              <a:cs typeface="Times New Roman"/>
            </a:endParaRPr>
          </a:p>
          <a:p>
            <a:pPr marL="926465" lvl="1" indent="-366395">
              <a:lnSpc>
                <a:spcPct val="100000"/>
              </a:lnSpc>
              <a:spcBef>
                <a:spcPts val="325"/>
              </a:spcBef>
              <a:buFont typeface="Arial MT"/>
              <a:buChar char="○"/>
              <a:tabLst>
                <a:tab pos="926465" algn="l"/>
              </a:tabLst>
            </a:pPr>
            <a:r>
              <a:rPr sz="1800" dirty="0">
                <a:latin typeface="Times New Roman"/>
                <a:cs typeface="Times New Roman"/>
              </a:rPr>
              <a:t>Moving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that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“window”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forward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one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unit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word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at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time</a:t>
            </a:r>
            <a:endParaRPr sz="1800">
              <a:latin typeface="Times New Roman"/>
              <a:cs typeface="Times New Roman"/>
            </a:endParaRPr>
          </a:p>
          <a:p>
            <a:pPr marL="469900" marR="173990" indent="-367030">
              <a:lnSpc>
                <a:spcPct val="114999"/>
              </a:lnSpc>
              <a:buFont typeface="Arial MT"/>
              <a:buChar char="●"/>
              <a:tabLst>
                <a:tab pos="469900" algn="l"/>
              </a:tabLst>
            </a:pP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more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frequently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word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n-</a:t>
            </a:r>
            <a:r>
              <a:rPr sz="1800" dirty="0">
                <a:latin typeface="Times New Roman"/>
                <a:cs typeface="Times New Roman"/>
              </a:rPr>
              <a:t>gram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occurs,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more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likely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it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correspond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imes New Roman"/>
                <a:cs typeface="Times New Roman"/>
              </a:rPr>
              <a:t>a </a:t>
            </a:r>
            <a:r>
              <a:rPr sz="1800" spc="-10" dirty="0">
                <a:latin typeface="Times New Roman"/>
                <a:cs typeface="Times New Roman"/>
              </a:rPr>
              <a:t>meaningful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phrase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language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378075">
              <a:lnSpc>
                <a:spcPct val="100000"/>
              </a:lnSpc>
              <a:spcBef>
                <a:spcPts val="120"/>
              </a:spcBef>
            </a:pPr>
            <a:r>
              <a:rPr dirty="0"/>
              <a:t>Google</a:t>
            </a:r>
            <a:r>
              <a:rPr spc="-25" dirty="0"/>
              <a:t> </a:t>
            </a:r>
            <a:r>
              <a:rPr dirty="0"/>
              <a:t>N-</a:t>
            </a:r>
            <a:r>
              <a:rPr spc="-20" dirty="0"/>
              <a:t>gram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0200" y="1067401"/>
            <a:ext cx="5650103" cy="310454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719502" y="4637913"/>
            <a:ext cx="570611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u="heavy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3"/>
              </a:rPr>
              <a:t>https://ai.googleblog.com/2006/08/all-our-n-gram-are-belong-to-you.html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3972" y="1673541"/>
            <a:ext cx="8211820" cy="14217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505585" marR="5080" indent="-1493520">
              <a:lnSpc>
                <a:spcPct val="100699"/>
              </a:lnSpc>
              <a:spcBef>
                <a:spcPts val="90"/>
              </a:spcBef>
            </a:pPr>
            <a:r>
              <a:rPr sz="4550" spc="-10" dirty="0"/>
              <a:t>NLTK:</a:t>
            </a:r>
            <a:r>
              <a:rPr sz="4550" spc="-125" dirty="0"/>
              <a:t> </a:t>
            </a:r>
            <a:r>
              <a:rPr sz="4550" dirty="0">
                <a:hlinkClick r:id="rId2"/>
              </a:rPr>
              <a:t>Natural</a:t>
            </a:r>
            <a:r>
              <a:rPr sz="4550" spc="-125" dirty="0">
                <a:hlinkClick r:id="rId2"/>
              </a:rPr>
              <a:t> </a:t>
            </a:r>
            <a:r>
              <a:rPr sz="4550" dirty="0">
                <a:hlinkClick r:id="rId2"/>
              </a:rPr>
              <a:t>Language</a:t>
            </a:r>
            <a:r>
              <a:rPr sz="4550" spc="-195" dirty="0">
                <a:hlinkClick r:id="rId2"/>
              </a:rPr>
              <a:t> </a:t>
            </a:r>
            <a:r>
              <a:rPr sz="4550" spc="-445" dirty="0">
                <a:hlinkClick r:id="rId2"/>
              </a:rPr>
              <a:t>T</a:t>
            </a:r>
            <a:r>
              <a:rPr sz="4550" spc="60" dirty="0">
                <a:hlinkClick r:id="rId2"/>
              </a:rPr>
              <a:t>oolkit</a:t>
            </a:r>
            <a:r>
              <a:rPr sz="4550" spc="-15" dirty="0"/>
              <a:t> </a:t>
            </a:r>
            <a:r>
              <a:rPr sz="4550" u="heavy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2"/>
              </a:rPr>
              <a:t>https://www.nltk.org/</a:t>
            </a:r>
            <a:endParaRPr sz="455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72770"/>
          </a:xfrm>
          <a:custGeom>
            <a:avLst/>
            <a:gdLst/>
            <a:ahLst/>
            <a:cxnLst/>
            <a:rect l="l" t="t" r="r" b="b"/>
            <a:pathLst>
              <a:path w="9144000" h="572770">
                <a:moveTo>
                  <a:pt x="9143999" y="572699"/>
                </a:moveTo>
                <a:lnTo>
                  <a:pt x="0" y="5726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726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035050">
              <a:lnSpc>
                <a:spcPct val="100000"/>
              </a:lnSpc>
              <a:spcBef>
                <a:spcPts val="120"/>
              </a:spcBef>
            </a:pPr>
            <a:r>
              <a:rPr spc="-20" dirty="0"/>
              <a:t>Tokenization</a:t>
            </a:r>
            <a:r>
              <a:rPr spc="-35" dirty="0"/>
              <a:t> </a:t>
            </a:r>
            <a:r>
              <a:rPr dirty="0"/>
              <a:t>&amp;</a:t>
            </a:r>
            <a:r>
              <a:rPr spc="-30" dirty="0"/>
              <a:t> </a:t>
            </a:r>
            <a:r>
              <a:rPr dirty="0"/>
              <a:t>Stopword</a:t>
            </a:r>
            <a:r>
              <a:rPr spc="-30" dirty="0"/>
              <a:t> </a:t>
            </a:r>
            <a:r>
              <a:rPr spc="-10" dirty="0"/>
              <a:t>Removal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725099"/>
            <a:ext cx="8839201" cy="147576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2400" y="2460262"/>
            <a:ext cx="8494591" cy="2234254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72770"/>
          </a:xfrm>
          <a:custGeom>
            <a:avLst/>
            <a:gdLst/>
            <a:ahLst/>
            <a:cxnLst/>
            <a:rect l="l" t="t" r="r" b="b"/>
            <a:pathLst>
              <a:path w="9144000" h="572770">
                <a:moveTo>
                  <a:pt x="9143999" y="572699"/>
                </a:moveTo>
                <a:lnTo>
                  <a:pt x="0" y="5726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726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515745">
              <a:lnSpc>
                <a:spcPct val="100000"/>
              </a:lnSpc>
              <a:spcBef>
                <a:spcPts val="120"/>
              </a:spcBef>
            </a:pPr>
            <a:r>
              <a:rPr dirty="0"/>
              <a:t>Stemming</a:t>
            </a:r>
            <a:r>
              <a:rPr spc="-10" dirty="0"/>
              <a:t> </a:t>
            </a:r>
            <a:r>
              <a:rPr dirty="0"/>
              <a:t>&amp;</a:t>
            </a:r>
            <a:r>
              <a:rPr spc="-10" dirty="0"/>
              <a:t> Lemmatization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124" y="1402800"/>
            <a:ext cx="4485399" cy="266019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61649" y="1566874"/>
            <a:ext cx="4215674" cy="2603504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955675">
              <a:lnSpc>
                <a:spcPct val="100000"/>
              </a:lnSpc>
              <a:spcBef>
                <a:spcPts val="120"/>
              </a:spcBef>
            </a:pPr>
            <a:r>
              <a:rPr dirty="0"/>
              <a:t>WE</a:t>
            </a:r>
            <a:r>
              <a:rPr spc="-5" dirty="0"/>
              <a:t> </a:t>
            </a:r>
            <a:r>
              <a:rPr dirty="0"/>
              <a:t>NEED</a:t>
            </a:r>
            <a:r>
              <a:rPr spc="-50" dirty="0"/>
              <a:t> </a:t>
            </a:r>
            <a:r>
              <a:rPr dirty="0"/>
              <a:t>TO</a:t>
            </a:r>
            <a:r>
              <a:rPr spc="-5" dirty="0"/>
              <a:t> </a:t>
            </a:r>
            <a:r>
              <a:rPr dirty="0"/>
              <a:t>LOOK</a:t>
            </a:r>
            <a:r>
              <a:rPr spc="-5" dirty="0"/>
              <a:t> </a:t>
            </a:r>
            <a:r>
              <a:rPr spc="-10" dirty="0"/>
              <a:t>CAREFULLY!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251474" y="691956"/>
            <a:ext cx="8234045" cy="2350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19050" indent="-367030">
              <a:lnSpc>
                <a:spcPct val="114999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sz="1800" spc="-35" dirty="0">
                <a:latin typeface="Arial MT"/>
                <a:cs typeface="Arial MT"/>
              </a:rPr>
              <a:t>You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should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always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make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sure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look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data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what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are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tokens </a:t>
            </a:r>
            <a:r>
              <a:rPr sz="1800" dirty="0">
                <a:latin typeface="Arial MT"/>
                <a:cs typeface="Arial MT"/>
              </a:rPr>
              <a:t>after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tokenization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→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What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being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indexed?</a:t>
            </a:r>
            <a:endParaRPr sz="1800">
              <a:latin typeface="Arial MT"/>
              <a:cs typeface="Arial MT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dirty="0">
                <a:latin typeface="Arial MT"/>
                <a:cs typeface="Arial MT"/>
              </a:rPr>
              <a:t>Use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small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input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small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manually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observe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output</a:t>
            </a:r>
            <a:endParaRPr sz="1800">
              <a:latin typeface="Arial MT"/>
              <a:cs typeface="Arial MT"/>
            </a:endParaRPr>
          </a:p>
          <a:p>
            <a:pPr marL="379095" marR="5080" indent="-367030">
              <a:lnSpc>
                <a:spcPct val="114999"/>
              </a:lnSpc>
              <a:buChar char="●"/>
              <a:tabLst>
                <a:tab pos="379095" algn="l"/>
              </a:tabLst>
            </a:pPr>
            <a:r>
              <a:rPr sz="1800" dirty="0">
                <a:latin typeface="Arial MT"/>
                <a:cs typeface="Arial MT"/>
              </a:rPr>
              <a:t>In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many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researches,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default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parameters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have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handled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input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differently </a:t>
            </a:r>
            <a:r>
              <a:rPr sz="1800" dirty="0">
                <a:latin typeface="Arial MT"/>
                <a:cs typeface="Arial MT"/>
              </a:rPr>
              <a:t>than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expected</a:t>
            </a:r>
            <a:endParaRPr sz="1800">
              <a:latin typeface="Arial MT"/>
              <a:cs typeface="Arial MT"/>
            </a:endParaRPr>
          </a:p>
          <a:p>
            <a:pPr marL="836294" lvl="1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sz="1400" dirty="0">
                <a:latin typeface="Arial MT"/>
                <a:cs typeface="Arial MT"/>
              </a:rPr>
              <a:t>Using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HTML</a:t>
            </a:r>
            <a:r>
              <a:rPr sz="1400" spc="-7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files,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how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the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tags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are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handled?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What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encoding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is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used?</a:t>
            </a:r>
            <a:endParaRPr sz="1400">
              <a:latin typeface="Arial MT"/>
              <a:cs typeface="Arial MT"/>
            </a:endParaRPr>
          </a:p>
          <a:p>
            <a:pPr marL="836294" lvl="1" indent="-335915">
              <a:lnSpc>
                <a:spcPct val="100000"/>
              </a:lnSpc>
              <a:spcBef>
                <a:spcPts val="250"/>
              </a:spcBef>
              <a:buChar char="○"/>
              <a:tabLst>
                <a:tab pos="836294" algn="l"/>
              </a:tabLst>
            </a:pPr>
            <a:r>
              <a:rPr sz="1400" dirty="0">
                <a:latin typeface="Arial MT"/>
                <a:cs typeface="Arial MT"/>
              </a:rPr>
              <a:t>Check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what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kind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of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normalization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is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applied.</a:t>
            </a:r>
            <a:endParaRPr sz="1400">
              <a:latin typeface="Arial MT"/>
              <a:cs typeface="Arial MT"/>
            </a:endParaRPr>
          </a:p>
          <a:p>
            <a:pPr marL="836294" lvl="1" indent="-335915">
              <a:lnSpc>
                <a:spcPct val="100000"/>
              </a:lnSpc>
              <a:spcBef>
                <a:spcPts val="250"/>
              </a:spcBef>
              <a:buChar char="○"/>
              <a:tabLst>
                <a:tab pos="836294" algn="l"/>
              </a:tabLst>
            </a:pPr>
            <a:r>
              <a:rPr sz="1400" dirty="0">
                <a:latin typeface="Arial MT"/>
                <a:cs typeface="Arial MT"/>
              </a:rPr>
              <a:t>Decided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whether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the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stop-words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are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removed?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(or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should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be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removed)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787015">
              <a:lnSpc>
                <a:spcPct val="100000"/>
              </a:lnSpc>
              <a:spcBef>
                <a:spcPts val="120"/>
              </a:spcBef>
            </a:pPr>
            <a:r>
              <a:rPr spc="-10" dirty="0"/>
              <a:t>Summary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0949" y="733104"/>
            <a:ext cx="3582035" cy="24947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25" dirty="0">
                <a:latin typeface="Arial MT"/>
                <a:cs typeface="Arial MT"/>
              </a:rPr>
              <a:t>W</a:t>
            </a:r>
            <a:r>
              <a:rPr sz="1800" dirty="0" smtClean="0">
                <a:latin typeface="Arial MT"/>
                <a:cs typeface="Arial MT"/>
              </a:rPr>
              <a:t>e</a:t>
            </a:r>
            <a:r>
              <a:rPr sz="1800" spc="-45" dirty="0" smtClean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learned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spc="-10" dirty="0" smtClean="0">
                <a:latin typeface="Arial MT"/>
                <a:cs typeface="Arial MT"/>
              </a:rPr>
              <a:t>about:</a:t>
            </a:r>
            <a:endParaRPr sz="1800" dirty="0" smtClean="0">
              <a:latin typeface="Arial MT"/>
              <a:cs typeface="Arial MT"/>
            </a:endParaRPr>
          </a:p>
          <a:p>
            <a:pPr marL="584200" marR="5080" indent="12065">
              <a:lnSpc>
                <a:spcPct val="170600"/>
              </a:lnSpc>
            </a:pPr>
            <a:r>
              <a:rPr sz="1800" dirty="0" smtClean="0">
                <a:latin typeface="Arial MT"/>
                <a:cs typeface="Arial MT"/>
              </a:rPr>
              <a:t>Processing</a:t>
            </a:r>
            <a:r>
              <a:rPr sz="1800" spc="-35" dirty="0" smtClean="0">
                <a:latin typeface="Arial MT"/>
                <a:cs typeface="Arial MT"/>
              </a:rPr>
              <a:t> </a:t>
            </a:r>
            <a:r>
              <a:rPr sz="1800" dirty="0" smtClean="0">
                <a:latin typeface="Arial MT"/>
                <a:cs typeface="Arial MT"/>
              </a:rPr>
              <a:t>text</a:t>
            </a:r>
            <a:r>
              <a:rPr sz="1800" spc="-35" dirty="0" smtClean="0">
                <a:latin typeface="Arial MT"/>
                <a:cs typeface="Arial MT"/>
              </a:rPr>
              <a:t> </a:t>
            </a:r>
            <a:r>
              <a:rPr sz="1800" spc="-10" dirty="0" smtClean="0">
                <a:latin typeface="Arial MT"/>
                <a:cs typeface="Arial MT"/>
              </a:rPr>
              <a:t>with:</a:t>
            </a:r>
            <a:endParaRPr sz="1800" dirty="0" smtClean="0">
              <a:latin typeface="Arial MT"/>
              <a:cs typeface="Arial MT"/>
            </a:endParaRPr>
          </a:p>
          <a:p>
            <a:pPr marL="926465" indent="-366395">
              <a:lnSpc>
                <a:spcPct val="100000"/>
              </a:lnSpc>
              <a:spcBef>
                <a:spcPts val="1520"/>
              </a:spcBef>
              <a:buChar char="●"/>
              <a:tabLst>
                <a:tab pos="926465" algn="l"/>
              </a:tabLst>
            </a:pPr>
            <a:r>
              <a:rPr sz="1800" spc="-10" dirty="0" smtClean="0">
                <a:latin typeface="Arial MT"/>
                <a:cs typeface="Arial MT"/>
              </a:rPr>
              <a:t>Tokenization</a:t>
            </a:r>
            <a:endParaRPr sz="1800" dirty="0">
              <a:latin typeface="Arial MT"/>
              <a:cs typeface="Arial MT"/>
            </a:endParaRPr>
          </a:p>
          <a:p>
            <a:pPr marL="92646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926465" algn="l"/>
              </a:tabLst>
            </a:pPr>
            <a:r>
              <a:rPr sz="1800" dirty="0">
                <a:latin typeface="Arial MT"/>
                <a:cs typeface="Arial MT"/>
              </a:rPr>
              <a:t>Stopword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removal</a:t>
            </a:r>
            <a:endParaRPr sz="1800" dirty="0">
              <a:latin typeface="Arial MT"/>
              <a:cs typeface="Arial MT"/>
            </a:endParaRPr>
          </a:p>
          <a:p>
            <a:pPr marL="92646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926465" algn="l"/>
              </a:tabLst>
            </a:pPr>
            <a:r>
              <a:rPr sz="1800" spc="-10" dirty="0">
                <a:latin typeface="Arial MT"/>
                <a:cs typeface="Arial MT"/>
              </a:rPr>
              <a:t>Normalization</a:t>
            </a:r>
            <a:endParaRPr sz="1800" dirty="0">
              <a:latin typeface="Arial MT"/>
              <a:cs typeface="Arial MT"/>
            </a:endParaRPr>
          </a:p>
          <a:p>
            <a:pPr marL="92646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926465" algn="l"/>
              </a:tabLst>
            </a:pPr>
            <a:r>
              <a:rPr sz="1800" spc="-10" dirty="0">
                <a:latin typeface="Arial MT"/>
                <a:cs typeface="Arial MT"/>
              </a:rPr>
              <a:t>Stemming</a:t>
            </a:r>
            <a:endParaRPr sz="1800" dirty="0">
              <a:latin typeface="Arial MT"/>
              <a:cs typeface="Arial MT"/>
            </a:endParaRPr>
          </a:p>
          <a:p>
            <a:pPr marL="92646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926465" algn="l"/>
              </a:tabLst>
            </a:pPr>
            <a:r>
              <a:rPr sz="1800" spc="-10" dirty="0">
                <a:latin typeface="Arial MT"/>
                <a:cs typeface="Arial MT"/>
              </a:rPr>
              <a:t>Lemmetization</a:t>
            </a:r>
            <a:endParaRPr sz="1800" dirty="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0749" y="1191000"/>
            <a:ext cx="331799" cy="331799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38400" y="1972144"/>
            <a:ext cx="6248400" cy="8130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5200" spc="-10" dirty="0" smtClean="0"/>
              <a:t>Word Embedding</a:t>
            </a:r>
            <a:endParaRPr sz="5200" dirty="0"/>
          </a:p>
        </p:txBody>
      </p:sp>
    </p:spTree>
    <p:extLst>
      <p:ext uri="{BB962C8B-B14F-4D97-AF65-F5344CB8AC3E}">
        <p14:creationId xmlns:p14="http://schemas.microsoft.com/office/powerpoint/2010/main" val="38566093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B975B2C-FD35-4BCF-94B9-21B0F79481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45" y="666749"/>
            <a:ext cx="8486775" cy="4398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145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42D50D3-B132-4069-B762-320DF397B5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590550"/>
            <a:ext cx="8626081" cy="455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8694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5EBF267-B78B-4533-9AD6-CD35A64DF5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094" y="742950"/>
            <a:ext cx="8169812" cy="440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2440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BD655A1-E7B6-4824-B538-458BD9381D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596" y="666750"/>
            <a:ext cx="8400548" cy="4202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6786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C192080-C19C-4262-B4E5-B89E53D215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666750"/>
            <a:ext cx="8161020" cy="4169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562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6325B1-83C5-4506-B0E5-0C0177FB03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1" y="590550"/>
            <a:ext cx="8425113" cy="4244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1787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0EA04D33E482A4BA12D40215DDD827E" ma:contentTypeVersion="3" ma:contentTypeDescription="Create a new document." ma:contentTypeScope="" ma:versionID="dbcfff18694569661796f1ccd994738f">
  <xsd:schema xmlns:xsd="http://www.w3.org/2001/XMLSchema" xmlns:xs="http://www.w3.org/2001/XMLSchema" xmlns:p="http://schemas.microsoft.com/office/2006/metadata/properties" xmlns:ns2="6ccbcca3-9c48-4d51-affd-7f500234a31c" targetNamespace="http://schemas.microsoft.com/office/2006/metadata/properties" ma:root="true" ma:fieldsID="7c1a1658f5b2498d87a9b8295f17185d" ns2:_="">
    <xsd:import namespace="6ccbcca3-9c48-4d51-affd-7f500234a31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ccbcca3-9c48-4d51-affd-7f500234a31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9C899E4-D3DA-486F-BEE9-515E92F0EF65}"/>
</file>

<file path=customXml/itemProps2.xml><?xml version="1.0" encoding="utf-8"?>
<ds:datastoreItem xmlns:ds="http://schemas.openxmlformats.org/officeDocument/2006/customXml" ds:itemID="{BAE8A85D-BA9D-4877-9905-927EBF7BD243}"/>
</file>

<file path=customXml/itemProps3.xml><?xml version="1.0" encoding="utf-8"?>
<ds:datastoreItem xmlns:ds="http://schemas.openxmlformats.org/officeDocument/2006/customXml" ds:itemID="{94E0F582-85D2-4170-9961-00A51694F340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307</TotalTime>
  <Words>661</Words>
  <Application>Microsoft Office PowerPoint</Application>
  <PresentationFormat>On-screen Show (16:9)</PresentationFormat>
  <Paragraphs>111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Arial MT</vt:lpstr>
      <vt:lpstr>Calibri</vt:lpstr>
      <vt:lpstr>Times New Roman</vt:lpstr>
      <vt:lpstr>Office Theme</vt:lpstr>
      <vt:lpstr>Natural Language Processing</vt:lpstr>
      <vt:lpstr>Stemming</vt:lpstr>
      <vt:lpstr>Stemming</vt:lpstr>
      <vt:lpstr>Evaluation of Stemmers</vt:lpstr>
      <vt:lpstr>Porter Stemmer (1980)</vt:lpstr>
      <vt:lpstr>Krovetz Stemmer (1993)</vt:lpstr>
      <vt:lpstr>FP, FN, TP, TN – Simple Explanation</vt:lpstr>
      <vt:lpstr>Example</vt:lpstr>
      <vt:lpstr>Lemmatization</vt:lpstr>
      <vt:lpstr>Lemmatization</vt:lpstr>
      <vt:lpstr>Phrases</vt:lpstr>
      <vt:lpstr>Phrases</vt:lpstr>
      <vt:lpstr>Google N-gram</vt:lpstr>
      <vt:lpstr>NLTK: Natural Language Toolkit https://www.nltk.org/</vt:lpstr>
      <vt:lpstr>Tokenization &amp; Stopword Removal</vt:lpstr>
      <vt:lpstr>Stemming &amp; Lemmatization</vt:lpstr>
      <vt:lpstr>WE NEED TO LOOK CAREFULLY!</vt:lpstr>
      <vt:lpstr>Summary</vt:lpstr>
      <vt:lpstr>Word Embedding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Natural Language Processing -- Session 4 - Tokenization and Stemming.pptx</dc:title>
  <dc:creator>Pc</dc:creator>
  <cp:lastModifiedBy>Dr</cp:lastModifiedBy>
  <cp:revision>12</cp:revision>
  <dcterms:created xsi:type="dcterms:W3CDTF">2026-03-05T07:01:40Z</dcterms:created>
  <dcterms:modified xsi:type="dcterms:W3CDTF">2026-04-02T05:18:17Z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2026-03-05T00:00:00Z</vt:filetime>
  </property>
  <property fmtid="{D5CDD505-2E9C-101B-9397-08002B2CF9AE}" pid="3" name="Creator">
    <vt:lpwstr>Google</vt:lpwstr>
  </property>
  <property fmtid="{D5CDD505-2E9C-101B-9397-08002B2CF9AE}" pid="4" name="LastSaved">
    <vt:filetime>2026-03-05T00:00:00Z</vt:filetime>
  </property>
  <property fmtid="{D5CDD505-2E9C-101B-9397-08002B2CF9AE}" pid="5" name="ContentTypeId">
    <vt:lpwstr>0x010100E0EA04D33E482A4BA12D40215DDD827E</vt:lpwstr>
  </property>
</Properties>
</file>