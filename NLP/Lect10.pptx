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7" d="100"/>
          <a:sy n="157" d="100"/>
        </p:scale>
        <p:origin x="294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60239" y="57022"/>
            <a:ext cx="4823520" cy="505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7722" y="21682"/>
            <a:ext cx="8608554" cy="562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41725" y="2263935"/>
            <a:ext cx="5526405" cy="1390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5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0141" y="1359903"/>
            <a:ext cx="822134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Natural</a:t>
            </a:r>
            <a:r>
              <a:rPr sz="4900" spc="-120" dirty="0"/>
              <a:t> </a:t>
            </a:r>
            <a:r>
              <a:rPr sz="4900" dirty="0"/>
              <a:t>Language</a:t>
            </a:r>
            <a:r>
              <a:rPr sz="4900" spc="-114" dirty="0"/>
              <a:t> </a:t>
            </a:r>
            <a:r>
              <a:rPr sz="4900" spc="-10" dirty="0"/>
              <a:t>Processing</a:t>
            </a:r>
            <a:endParaRPr sz="4900"/>
          </a:p>
        </p:txBody>
      </p:sp>
      <p:sp>
        <p:nvSpPr>
          <p:cNvPr id="4" name="object 4"/>
          <p:cNvSpPr txBox="1"/>
          <p:nvPr/>
        </p:nvSpPr>
        <p:spPr>
          <a:xfrm>
            <a:off x="1475219" y="2849400"/>
            <a:ext cx="6190615" cy="177612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Session</a:t>
            </a:r>
            <a:r>
              <a:rPr sz="1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6:</a:t>
            </a:r>
            <a:r>
              <a:rPr sz="1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Naïve</a:t>
            </a:r>
            <a:r>
              <a:rPr sz="19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Bayes</a:t>
            </a:r>
            <a:r>
              <a:rPr sz="19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9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"/>
                <a:cs typeface="Arial"/>
              </a:rPr>
              <a:t>Sentiment</a:t>
            </a:r>
            <a:r>
              <a:rPr sz="1950" b="1" spc="-10" dirty="0">
                <a:solidFill>
                  <a:srgbClr val="FFFFFF"/>
                </a:solidFill>
                <a:latin typeface="Arial"/>
                <a:cs typeface="Arial"/>
              </a:rPr>
              <a:t> Classification</a:t>
            </a:r>
            <a:endParaRPr sz="1950" dirty="0">
              <a:latin typeface="Arial"/>
              <a:cs typeface="Arial"/>
            </a:endParaRPr>
          </a:p>
          <a:p>
            <a:pPr marL="758825" marR="749935" indent="739775">
              <a:lnSpc>
                <a:spcPts val="1880"/>
              </a:lnSpc>
              <a:spcBef>
                <a:spcPts val="1870"/>
              </a:spcBef>
            </a:pPr>
            <a:r>
              <a:rPr sz="1950" dirty="0">
                <a:solidFill>
                  <a:srgbClr val="FFFFFF"/>
                </a:solidFill>
                <a:latin typeface="Arial MT"/>
                <a:cs typeface="Arial MT"/>
              </a:rPr>
              <a:t>Instructor:</a:t>
            </a:r>
            <a:r>
              <a:rPr sz="1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Dr. Nadia Saeed</a:t>
            </a:r>
          </a:p>
          <a:p>
            <a:pPr marL="758825" marR="749935" indent="739775">
              <a:lnSpc>
                <a:spcPts val="1880"/>
              </a:lnSpc>
              <a:spcBef>
                <a:spcPts val="1870"/>
              </a:spcBef>
            </a:pP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Spring</a:t>
            </a:r>
            <a:r>
              <a:rPr sz="1950" spc="-3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202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,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</a:p>
          <a:p>
            <a:pPr marL="758825" marR="749935" indent="739775">
              <a:lnSpc>
                <a:spcPts val="1880"/>
              </a:lnSpc>
              <a:spcBef>
                <a:spcPts val="1870"/>
              </a:spcBef>
            </a:pP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Quaid-</a:t>
            </a:r>
            <a:r>
              <a:rPr lang="en-US" sz="1950" dirty="0" err="1" smtClean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lang="en-US" sz="1950" dirty="0" smtClean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lang="en-US" sz="1950" dirty="0" err="1" smtClean="0">
                <a:solidFill>
                  <a:srgbClr val="FFFFFF"/>
                </a:solidFill>
                <a:latin typeface="Arial MT"/>
                <a:cs typeface="Arial MT"/>
              </a:rPr>
              <a:t>Azam</a:t>
            </a:r>
            <a:r>
              <a:rPr sz="1950" spc="-20" dirty="0" smtClean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50" dirty="0" smtClean="0">
                <a:solidFill>
                  <a:srgbClr val="FFFFFF"/>
                </a:solidFill>
                <a:latin typeface="Arial MT"/>
                <a:cs typeface="Arial MT"/>
              </a:rPr>
              <a:t>University</a:t>
            </a:r>
            <a:endParaRPr sz="1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6941" y="1972144"/>
            <a:ext cx="530733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25" dirty="0"/>
              <a:t>T</a:t>
            </a:r>
            <a:r>
              <a:rPr sz="5200" spc="50" dirty="0"/>
              <a:t>e</a:t>
            </a:r>
            <a:r>
              <a:rPr sz="5200" spc="45" dirty="0"/>
              <a:t>x</a:t>
            </a:r>
            <a:r>
              <a:rPr sz="5200" spc="55" dirty="0"/>
              <a:t>t</a:t>
            </a:r>
            <a:r>
              <a:rPr sz="5200" spc="-275" dirty="0"/>
              <a:t> </a:t>
            </a:r>
            <a:r>
              <a:rPr sz="5200" spc="-10" dirty="0"/>
              <a:t>Classification</a:t>
            </a:r>
            <a:endParaRPr sz="5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3023870">
              <a:lnSpc>
                <a:spcPct val="100000"/>
              </a:lnSpc>
              <a:spcBef>
                <a:spcPts val="120"/>
              </a:spcBef>
            </a:pPr>
            <a:r>
              <a:rPr sz="2500" spc="-35" dirty="0"/>
              <a:t>Text</a:t>
            </a:r>
            <a:r>
              <a:rPr sz="2500" spc="-140" dirty="0"/>
              <a:t> </a:t>
            </a:r>
            <a:r>
              <a:rPr sz="2500" spc="-10" dirty="0"/>
              <a:t>Classification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93413"/>
            <a:ext cx="8385809" cy="41179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5080">
              <a:lnSpc>
                <a:spcPts val="1590"/>
              </a:lnSpc>
              <a:spcBef>
                <a:spcPts val="484"/>
              </a:spcBef>
            </a:pPr>
            <a:r>
              <a:rPr sz="1650" spc="-30" dirty="0">
                <a:latin typeface="Arial MT"/>
                <a:cs typeface="Arial MT"/>
              </a:rPr>
              <a:t>Text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Classification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(Text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Categorization)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is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the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task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of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assigning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a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label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or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a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category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to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spc="-25" dirty="0">
                <a:latin typeface="Arial MT"/>
                <a:cs typeface="Arial MT"/>
              </a:rPr>
              <a:t>an </a:t>
            </a:r>
            <a:r>
              <a:rPr sz="1650" dirty="0">
                <a:latin typeface="Arial MT"/>
                <a:cs typeface="Arial MT"/>
              </a:rPr>
              <a:t>entire</a:t>
            </a:r>
            <a:r>
              <a:rPr sz="1650" spc="-1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text</a:t>
            </a:r>
            <a:r>
              <a:rPr sz="1650" spc="-2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or</a:t>
            </a:r>
            <a:r>
              <a:rPr sz="1650" spc="-10" dirty="0">
                <a:latin typeface="Arial MT"/>
                <a:cs typeface="Arial MT"/>
              </a:rPr>
              <a:t> document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latin typeface="Arial MT"/>
                <a:cs typeface="Arial MT"/>
              </a:rPr>
              <a:t>Some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common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text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categorization</a:t>
            </a:r>
            <a:r>
              <a:rPr sz="1650" spc="-2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tasks</a:t>
            </a:r>
            <a:r>
              <a:rPr sz="1650" spc="-20" dirty="0">
                <a:latin typeface="Arial MT"/>
                <a:cs typeface="Arial MT"/>
              </a:rPr>
              <a:t> are:</a:t>
            </a:r>
            <a:endParaRPr sz="1650">
              <a:latin typeface="Arial MT"/>
              <a:cs typeface="Arial MT"/>
            </a:endParaRPr>
          </a:p>
          <a:p>
            <a:pPr marL="469265" indent="-342265">
              <a:lnSpc>
                <a:spcPct val="100000"/>
              </a:lnSpc>
              <a:spcBef>
                <a:spcPts val="685"/>
              </a:spcBef>
              <a:buChar char="●"/>
              <a:tabLst>
                <a:tab pos="469265" algn="l"/>
              </a:tabLst>
            </a:pPr>
            <a:r>
              <a:rPr sz="1450" dirty="0">
                <a:latin typeface="Arial MT"/>
                <a:cs typeface="Arial MT"/>
              </a:rPr>
              <a:t>Sentiment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analysis</a:t>
            </a:r>
            <a:endParaRPr sz="1450">
              <a:latin typeface="Arial MT"/>
              <a:cs typeface="Arial MT"/>
            </a:endParaRPr>
          </a:p>
          <a:p>
            <a:pPr marL="926465" lvl="1" indent="-329565">
              <a:lnSpc>
                <a:spcPct val="100000"/>
              </a:lnSpc>
              <a:spcBef>
                <a:spcPts val="705"/>
              </a:spcBef>
              <a:buChar char="○"/>
              <a:tabLst>
                <a:tab pos="926465" algn="l"/>
              </a:tabLst>
            </a:pPr>
            <a:r>
              <a:rPr sz="1300" dirty="0">
                <a:latin typeface="Arial MT"/>
                <a:cs typeface="Arial MT"/>
              </a:rPr>
              <a:t>extraction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sentiment,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positive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negative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orientation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that</a:t>
            </a:r>
            <a:r>
              <a:rPr sz="1300" spc="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writer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expresses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toward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object</a:t>
            </a:r>
            <a:endParaRPr sz="1300">
              <a:latin typeface="Arial MT"/>
              <a:cs typeface="Arial MT"/>
            </a:endParaRPr>
          </a:p>
          <a:p>
            <a:pPr marL="469265" indent="-342265">
              <a:lnSpc>
                <a:spcPct val="100000"/>
              </a:lnSpc>
              <a:spcBef>
                <a:spcPts val="685"/>
              </a:spcBef>
              <a:buChar char="●"/>
              <a:tabLst>
                <a:tab pos="469265" algn="l"/>
              </a:tabLst>
            </a:pPr>
            <a:r>
              <a:rPr sz="1450" dirty="0">
                <a:latin typeface="Arial MT"/>
                <a:cs typeface="Arial MT"/>
              </a:rPr>
              <a:t>Spam</a:t>
            </a:r>
            <a:r>
              <a:rPr sz="1450" spc="8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detection</a:t>
            </a:r>
            <a:endParaRPr sz="1450">
              <a:latin typeface="Arial MT"/>
              <a:cs typeface="Arial MT"/>
            </a:endParaRPr>
          </a:p>
          <a:p>
            <a:pPr marL="926465" lvl="1" indent="-329565">
              <a:lnSpc>
                <a:spcPct val="100000"/>
              </a:lnSpc>
              <a:spcBef>
                <a:spcPts val="710"/>
              </a:spcBef>
              <a:buChar char="○"/>
              <a:tabLst>
                <a:tab pos="926465" algn="l"/>
              </a:tabLst>
            </a:pPr>
            <a:r>
              <a:rPr sz="1300" dirty="0">
                <a:latin typeface="Arial MT"/>
                <a:cs typeface="Arial MT"/>
              </a:rPr>
              <a:t>binary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classification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task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assigning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email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one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two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classes,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spam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or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not-</a:t>
            </a:r>
            <a:r>
              <a:rPr sz="1300" spc="-20" dirty="0">
                <a:latin typeface="Arial MT"/>
                <a:cs typeface="Arial MT"/>
              </a:rPr>
              <a:t>spam</a:t>
            </a:r>
            <a:endParaRPr sz="1300">
              <a:latin typeface="Arial MT"/>
              <a:cs typeface="Arial MT"/>
            </a:endParaRPr>
          </a:p>
          <a:p>
            <a:pPr marL="469265" indent="-342265">
              <a:lnSpc>
                <a:spcPct val="100000"/>
              </a:lnSpc>
              <a:spcBef>
                <a:spcPts val="685"/>
              </a:spcBef>
              <a:buChar char="●"/>
              <a:tabLst>
                <a:tab pos="469265" algn="l"/>
              </a:tabLst>
            </a:pPr>
            <a:r>
              <a:rPr sz="1450" dirty="0">
                <a:latin typeface="Arial MT"/>
                <a:cs typeface="Arial MT"/>
              </a:rPr>
              <a:t>Authorship</a:t>
            </a:r>
            <a:r>
              <a:rPr sz="1450" spc="9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identification</a:t>
            </a:r>
            <a:endParaRPr sz="1450">
              <a:latin typeface="Arial MT"/>
              <a:cs typeface="Arial MT"/>
            </a:endParaRPr>
          </a:p>
          <a:p>
            <a:pPr marL="926465" lvl="1" indent="-329565">
              <a:lnSpc>
                <a:spcPct val="100000"/>
              </a:lnSpc>
              <a:spcBef>
                <a:spcPts val="705"/>
              </a:spcBef>
              <a:buChar char="○"/>
              <a:tabLst>
                <a:tab pos="926465" algn="l"/>
              </a:tabLst>
            </a:pPr>
            <a:r>
              <a:rPr sz="1300" dirty="0">
                <a:latin typeface="Arial MT"/>
                <a:cs typeface="Arial MT"/>
              </a:rPr>
              <a:t>determining a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text’s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author</a:t>
            </a:r>
            <a:endParaRPr sz="1300">
              <a:latin typeface="Arial MT"/>
              <a:cs typeface="Arial MT"/>
            </a:endParaRPr>
          </a:p>
          <a:p>
            <a:pPr marL="469265" indent="-342265">
              <a:lnSpc>
                <a:spcPct val="100000"/>
              </a:lnSpc>
              <a:spcBef>
                <a:spcPts val="685"/>
              </a:spcBef>
              <a:buChar char="●"/>
              <a:tabLst>
                <a:tab pos="469265" algn="l"/>
              </a:tabLst>
            </a:pPr>
            <a:r>
              <a:rPr sz="1450" dirty="0">
                <a:latin typeface="Arial MT"/>
                <a:cs typeface="Arial MT"/>
              </a:rPr>
              <a:t>Age/gender</a:t>
            </a:r>
            <a:r>
              <a:rPr sz="1450" spc="15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identification</a:t>
            </a:r>
            <a:endParaRPr sz="1450">
              <a:latin typeface="Arial MT"/>
              <a:cs typeface="Arial MT"/>
            </a:endParaRPr>
          </a:p>
          <a:p>
            <a:pPr marL="926465" lvl="1" indent="-329565">
              <a:lnSpc>
                <a:spcPct val="100000"/>
              </a:lnSpc>
              <a:spcBef>
                <a:spcPts val="710"/>
              </a:spcBef>
              <a:buChar char="○"/>
              <a:tabLst>
                <a:tab pos="926465" algn="l"/>
              </a:tabLst>
            </a:pPr>
            <a:r>
              <a:rPr sz="1300" dirty="0">
                <a:latin typeface="Arial MT"/>
                <a:cs typeface="Arial MT"/>
              </a:rPr>
              <a:t>determining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text’s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author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characteristics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like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gender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and</a:t>
            </a:r>
            <a:r>
              <a:rPr sz="1300" spc="15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age</a:t>
            </a:r>
            <a:endParaRPr sz="1300">
              <a:latin typeface="Arial MT"/>
              <a:cs typeface="Arial MT"/>
            </a:endParaRPr>
          </a:p>
          <a:p>
            <a:pPr marL="469265" indent="-342265">
              <a:lnSpc>
                <a:spcPct val="100000"/>
              </a:lnSpc>
              <a:spcBef>
                <a:spcPts val="685"/>
              </a:spcBef>
              <a:buChar char="●"/>
              <a:tabLst>
                <a:tab pos="469265" algn="l"/>
              </a:tabLst>
            </a:pPr>
            <a:r>
              <a:rPr sz="1450" dirty="0">
                <a:latin typeface="Arial MT"/>
                <a:cs typeface="Arial MT"/>
              </a:rPr>
              <a:t>Language</a:t>
            </a:r>
            <a:r>
              <a:rPr sz="1450" spc="3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Identification</a:t>
            </a:r>
            <a:endParaRPr sz="1450">
              <a:latin typeface="Arial MT"/>
              <a:cs typeface="Arial MT"/>
            </a:endParaRPr>
          </a:p>
          <a:p>
            <a:pPr marL="926465" lvl="1" indent="-329565">
              <a:lnSpc>
                <a:spcPct val="100000"/>
              </a:lnSpc>
              <a:spcBef>
                <a:spcPts val="705"/>
              </a:spcBef>
              <a:buChar char="○"/>
              <a:tabLst>
                <a:tab pos="926465" algn="l"/>
              </a:tabLst>
            </a:pPr>
            <a:r>
              <a:rPr sz="1300" dirty="0">
                <a:latin typeface="Arial MT"/>
                <a:cs typeface="Arial MT"/>
              </a:rPr>
              <a:t>finding</a:t>
            </a:r>
            <a:r>
              <a:rPr sz="1300" spc="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language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</a:t>
            </a:r>
            <a:r>
              <a:rPr sz="1300" spc="10" dirty="0">
                <a:latin typeface="Arial MT"/>
                <a:cs typeface="Arial MT"/>
              </a:rPr>
              <a:t> </a:t>
            </a:r>
            <a:r>
              <a:rPr sz="1300" spc="-20" dirty="0">
                <a:latin typeface="Arial MT"/>
                <a:cs typeface="Arial MT"/>
              </a:rPr>
              <a:t>text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749" rIns="0" bIns="0" rtlCol="0">
            <a:spAutoFit/>
          </a:bodyPr>
          <a:lstStyle/>
          <a:p>
            <a:pPr marL="1979930">
              <a:lnSpc>
                <a:spcPct val="100000"/>
              </a:lnSpc>
              <a:spcBef>
                <a:spcPts val="95"/>
              </a:spcBef>
            </a:pPr>
            <a:r>
              <a:rPr sz="2300" dirty="0"/>
              <a:t>Positive</a:t>
            </a:r>
            <a:r>
              <a:rPr sz="2300" spc="-90" dirty="0"/>
              <a:t> </a:t>
            </a:r>
            <a:r>
              <a:rPr sz="2300" dirty="0"/>
              <a:t>or</a:t>
            </a:r>
            <a:r>
              <a:rPr sz="2300" spc="-85" dirty="0"/>
              <a:t> </a:t>
            </a:r>
            <a:r>
              <a:rPr sz="2300" dirty="0"/>
              <a:t>Negative</a:t>
            </a:r>
            <a:r>
              <a:rPr sz="2300" spc="-85" dirty="0"/>
              <a:t> </a:t>
            </a:r>
            <a:r>
              <a:rPr sz="2300" dirty="0"/>
              <a:t>Movie</a:t>
            </a:r>
            <a:r>
              <a:rPr sz="2300" spc="-85" dirty="0"/>
              <a:t> </a:t>
            </a:r>
            <a:r>
              <a:rPr sz="2300" spc="-10" dirty="0"/>
              <a:t>Review?</a:t>
            </a:r>
            <a:endParaRPr sz="23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31580"/>
            <a:ext cx="8408035" cy="255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Arial MT"/>
                <a:cs typeface="Arial MT"/>
              </a:rPr>
              <a:t>...zany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characters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richly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applied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satire,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some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great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plot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twists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It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pathetic.</a:t>
            </a:r>
            <a:r>
              <a:rPr sz="2100" spc="-6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worst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about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was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boxing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scenes…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...awesome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caramel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sauce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sweet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toasty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almonds.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love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this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place!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00" dirty="0">
                <a:latin typeface="Arial MT"/>
                <a:cs typeface="Arial MT"/>
              </a:rPr>
              <a:t>...awful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pizza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ridiculously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overpriced...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5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Simple</a:t>
            </a:r>
            <a:r>
              <a:rPr sz="2200" spc="-120" dirty="0"/>
              <a:t> </a:t>
            </a:r>
            <a:r>
              <a:rPr sz="2200" spc="-20" dirty="0"/>
              <a:t>Sentiment</a:t>
            </a:r>
            <a:r>
              <a:rPr sz="2200" spc="-130" dirty="0"/>
              <a:t> </a:t>
            </a:r>
            <a:r>
              <a:rPr sz="2200" dirty="0"/>
              <a:t>Analysis:</a:t>
            </a:r>
            <a:r>
              <a:rPr sz="2200" spc="-70" dirty="0"/>
              <a:t> </a:t>
            </a:r>
            <a:r>
              <a:rPr sz="2200" dirty="0"/>
              <a:t>Binary</a:t>
            </a:r>
            <a:r>
              <a:rPr sz="2200" spc="-65" dirty="0"/>
              <a:t> </a:t>
            </a:r>
            <a:r>
              <a:rPr sz="2200" spc="-10" dirty="0"/>
              <a:t>Classification,</a:t>
            </a:r>
            <a:r>
              <a:rPr sz="2200" spc="-70" dirty="0"/>
              <a:t> </a:t>
            </a:r>
            <a:r>
              <a:rPr sz="2200" dirty="0"/>
              <a:t>Positive</a:t>
            </a:r>
            <a:r>
              <a:rPr sz="2200" spc="-70" dirty="0"/>
              <a:t> </a:t>
            </a:r>
            <a:r>
              <a:rPr sz="2200" dirty="0"/>
              <a:t>or</a:t>
            </a:r>
            <a:r>
              <a:rPr sz="2200" spc="-65" dirty="0"/>
              <a:t> </a:t>
            </a:r>
            <a:r>
              <a:rPr sz="2200" spc="-10" dirty="0"/>
              <a:t>Negative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73649" y="683574"/>
            <a:ext cx="8389620" cy="296989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75"/>
              </a:spcBef>
            </a:pPr>
            <a:r>
              <a:rPr sz="2100" dirty="0">
                <a:latin typeface="Arial MT"/>
                <a:cs typeface="Arial MT"/>
              </a:rPr>
              <a:t>...zany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characters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763"/>
                </a:solidFill>
                <a:latin typeface="Arial MT"/>
                <a:cs typeface="Arial MT"/>
              </a:rPr>
              <a:t>richly</a:t>
            </a:r>
            <a:r>
              <a:rPr sz="2100" spc="-20" dirty="0">
                <a:solidFill>
                  <a:srgbClr val="00A763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applied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satire,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some </a:t>
            </a:r>
            <a:r>
              <a:rPr sz="2100" dirty="0">
                <a:solidFill>
                  <a:srgbClr val="00A763"/>
                </a:solidFill>
                <a:latin typeface="Arial MT"/>
                <a:cs typeface="Arial MT"/>
              </a:rPr>
              <a:t>great</a:t>
            </a:r>
            <a:r>
              <a:rPr sz="2100" spc="-15" dirty="0">
                <a:solidFill>
                  <a:srgbClr val="00A763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plot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twists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2100" spc="-50" dirty="0">
                <a:solidFill>
                  <a:srgbClr val="00A763"/>
                </a:solidFill>
                <a:latin typeface="Arial MT"/>
                <a:cs typeface="Arial MT"/>
              </a:rPr>
              <a:t>+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2100" dirty="0">
                <a:latin typeface="Arial MT"/>
                <a:cs typeface="Arial MT"/>
              </a:rPr>
              <a:t>It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was</a:t>
            </a:r>
            <a:r>
              <a:rPr sz="2100" spc="-5" dirty="0"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0000"/>
                </a:solidFill>
                <a:latin typeface="Arial MT"/>
                <a:cs typeface="Arial MT"/>
              </a:rPr>
              <a:t>pathetic</a:t>
            </a:r>
            <a:r>
              <a:rPr sz="2100" dirty="0">
                <a:latin typeface="Arial MT"/>
                <a:cs typeface="Arial MT"/>
              </a:rPr>
              <a:t>.</a:t>
            </a:r>
            <a:r>
              <a:rPr sz="2100" spc="-5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0000"/>
                </a:solidFill>
                <a:latin typeface="Arial MT"/>
                <a:cs typeface="Arial MT"/>
              </a:rPr>
              <a:t>worst</a:t>
            </a:r>
            <a:r>
              <a:rPr sz="2100"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part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about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the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boxing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scenes…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r>
              <a:rPr sz="2100" spc="-5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2100" dirty="0">
                <a:latin typeface="Arial MT"/>
                <a:cs typeface="Arial MT"/>
              </a:rPr>
              <a:t>...</a:t>
            </a:r>
            <a:r>
              <a:rPr sz="2100" dirty="0">
                <a:solidFill>
                  <a:srgbClr val="00A763"/>
                </a:solidFill>
                <a:latin typeface="Arial MT"/>
                <a:cs typeface="Arial MT"/>
              </a:rPr>
              <a:t>awesome</a:t>
            </a:r>
            <a:r>
              <a:rPr sz="2100" spc="-20" dirty="0">
                <a:solidFill>
                  <a:srgbClr val="00A763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caramel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sauce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sweet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toasty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almonds.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I</a:t>
            </a:r>
            <a:r>
              <a:rPr sz="2100" spc="20" dirty="0"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00A763"/>
                </a:solidFill>
                <a:latin typeface="Arial MT"/>
                <a:cs typeface="Arial MT"/>
              </a:rPr>
              <a:t>love</a:t>
            </a:r>
            <a:r>
              <a:rPr sz="2100" spc="-20" dirty="0">
                <a:solidFill>
                  <a:srgbClr val="00A763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this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place!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r>
              <a:rPr sz="2100" spc="-50" dirty="0">
                <a:solidFill>
                  <a:srgbClr val="00A763"/>
                </a:solidFill>
                <a:latin typeface="Arial MT"/>
                <a:cs typeface="Arial MT"/>
              </a:rPr>
              <a:t>+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2100" dirty="0">
                <a:latin typeface="Arial MT"/>
                <a:cs typeface="Arial MT"/>
              </a:rPr>
              <a:t>...</a:t>
            </a:r>
            <a:r>
              <a:rPr sz="2100" dirty="0">
                <a:solidFill>
                  <a:srgbClr val="FF0000"/>
                </a:solidFill>
                <a:latin typeface="Arial MT"/>
                <a:cs typeface="Arial MT"/>
              </a:rPr>
              <a:t>awful</a:t>
            </a:r>
            <a:r>
              <a:rPr sz="2100" spc="-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pizza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and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F0000"/>
                </a:solidFill>
                <a:latin typeface="Arial MT"/>
                <a:cs typeface="Arial MT"/>
              </a:rPr>
              <a:t>ridiculously</a:t>
            </a:r>
            <a:r>
              <a:rPr sz="2100" spc="-2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overpriced…</a:t>
            </a:r>
            <a:endParaRPr sz="2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r>
              <a:rPr sz="2100" spc="-50" dirty="0">
                <a:solidFill>
                  <a:srgbClr val="FF0000"/>
                </a:solidFill>
                <a:latin typeface="Arial MT"/>
                <a:cs typeface="Arial MT"/>
              </a:rPr>
              <a:t>-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2257" rIns="0" bIns="0" rtlCol="0">
            <a:spAutoFit/>
          </a:bodyPr>
          <a:lstStyle/>
          <a:p>
            <a:pPr marL="2731135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Why</a:t>
            </a:r>
            <a:r>
              <a:rPr sz="2200" spc="-10" dirty="0"/>
              <a:t> </a:t>
            </a:r>
            <a:r>
              <a:rPr sz="2200" spc="-20" dirty="0"/>
              <a:t>Sentiment</a:t>
            </a:r>
            <a:r>
              <a:rPr sz="2200" spc="-130" dirty="0"/>
              <a:t> </a:t>
            </a:r>
            <a:r>
              <a:rPr sz="2200" spc="-10" dirty="0"/>
              <a:t>Analysis?</a:t>
            </a:r>
            <a:endParaRPr sz="22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31327"/>
            <a:ext cx="8546465" cy="3368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b="1" dirty="0">
                <a:latin typeface="Arial"/>
                <a:cs typeface="Arial"/>
              </a:rPr>
              <a:t>Movie</a:t>
            </a:r>
            <a:r>
              <a:rPr sz="2150" dirty="0">
                <a:latin typeface="Arial MT"/>
                <a:cs typeface="Arial MT"/>
              </a:rPr>
              <a:t>: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is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this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review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positive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or</a:t>
            </a:r>
            <a:r>
              <a:rPr sz="2150" spc="-5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negative?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50" b="1" dirty="0">
                <a:latin typeface="Arial"/>
                <a:cs typeface="Arial"/>
              </a:rPr>
              <a:t>Products</a:t>
            </a:r>
            <a:r>
              <a:rPr sz="2150" dirty="0">
                <a:latin typeface="Arial MT"/>
                <a:cs typeface="Arial MT"/>
              </a:rPr>
              <a:t>: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what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do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people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think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about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the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new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iPhone?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50" b="1" dirty="0">
                <a:latin typeface="Arial"/>
                <a:cs typeface="Arial"/>
              </a:rPr>
              <a:t>Public</a:t>
            </a:r>
            <a:r>
              <a:rPr sz="2150" b="1" spc="-7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sentiment</a:t>
            </a:r>
            <a:r>
              <a:rPr sz="2150" dirty="0">
                <a:latin typeface="Arial MT"/>
                <a:cs typeface="Arial MT"/>
              </a:rPr>
              <a:t>: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how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is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consumer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confidence?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50" b="1" dirty="0">
                <a:latin typeface="Arial"/>
                <a:cs typeface="Arial"/>
              </a:rPr>
              <a:t>Politics</a:t>
            </a:r>
            <a:r>
              <a:rPr sz="2150" dirty="0">
                <a:latin typeface="Arial MT"/>
                <a:cs typeface="Arial MT"/>
              </a:rPr>
              <a:t>: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what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do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people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think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about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this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candidate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or</a:t>
            </a:r>
            <a:r>
              <a:rPr sz="2150" spc="-7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issue?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21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150" b="1" spc="-10" dirty="0">
                <a:latin typeface="Arial"/>
                <a:cs typeface="Arial"/>
              </a:rPr>
              <a:t>Prediction</a:t>
            </a:r>
            <a:r>
              <a:rPr sz="2150" spc="-10" dirty="0">
                <a:latin typeface="Arial MT"/>
                <a:cs typeface="Arial MT"/>
              </a:rPr>
              <a:t>: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predict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election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outcomes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or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market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trends</a:t>
            </a:r>
            <a:r>
              <a:rPr sz="2150" spc="-7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from</a:t>
            </a:r>
            <a:r>
              <a:rPr sz="2150" spc="-6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sentiment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267585">
              <a:lnSpc>
                <a:spcPct val="100000"/>
              </a:lnSpc>
              <a:spcBef>
                <a:spcPts val="120"/>
              </a:spcBef>
            </a:pPr>
            <a:r>
              <a:rPr sz="2500" spc="-35" dirty="0"/>
              <a:t>Text</a:t>
            </a:r>
            <a:r>
              <a:rPr sz="2500" spc="-105" dirty="0"/>
              <a:t> </a:t>
            </a:r>
            <a:r>
              <a:rPr sz="2500" dirty="0"/>
              <a:t>Classification:</a:t>
            </a:r>
            <a:r>
              <a:rPr sz="2500" spc="-105" dirty="0"/>
              <a:t> </a:t>
            </a:r>
            <a:r>
              <a:rPr sz="2500" spc="-10" dirty="0"/>
              <a:t>Definition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5549" y="730058"/>
            <a:ext cx="6034405" cy="3286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Arial MT"/>
                <a:cs typeface="Arial MT"/>
              </a:rPr>
              <a:t>Text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classification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defined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24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Arial"/>
                <a:cs typeface="Arial"/>
              </a:rPr>
              <a:t>Input:</a:t>
            </a:r>
            <a:endParaRPr sz="2400">
              <a:latin typeface="Arial"/>
              <a:cs typeface="Arial"/>
            </a:endParaRPr>
          </a:p>
          <a:p>
            <a:pPr marL="494665" indent="-404495">
              <a:lnSpc>
                <a:spcPct val="100000"/>
              </a:lnSpc>
              <a:spcBef>
                <a:spcPts val="434"/>
              </a:spcBef>
              <a:buChar char="●"/>
              <a:tabLst>
                <a:tab pos="4946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document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b="1" spc="-50" dirty="0">
                <a:latin typeface="Arial"/>
                <a:cs typeface="Arial"/>
              </a:rPr>
              <a:t>d</a:t>
            </a:r>
            <a:endParaRPr sz="2300">
              <a:latin typeface="Arial"/>
              <a:cs typeface="Arial"/>
            </a:endParaRPr>
          </a:p>
          <a:p>
            <a:pPr marL="494665" indent="-404495">
              <a:lnSpc>
                <a:spcPct val="100000"/>
              </a:lnSpc>
              <a:spcBef>
                <a:spcPts val="414"/>
              </a:spcBef>
              <a:buChar char="●"/>
              <a:tabLst>
                <a:tab pos="4946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fixed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set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classes </a:t>
            </a:r>
            <a:r>
              <a:rPr sz="2300" b="1" dirty="0">
                <a:latin typeface="Arial"/>
                <a:cs typeface="Arial"/>
              </a:rPr>
              <a:t>C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=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{c</a:t>
            </a:r>
            <a:r>
              <a:rPr sz="2250" b="1" baseline="-31481" dirty="0">
                <a:latin typeface="Arial"/>
                <a:cs typeface="Arial"/>
              </a:rPr>
              <a:t>1</a:t>
            </a:r>
            <a:r>
              <a:rPr sz="2300" b="1" dirty="0">
                <a:latin typeface="Arial"/>
                <a:cs typeface="Arial"/>
              </a:rPr>
              <a:t>,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c</a:t>
            </a:r>
            <a:r>
              <a:rPr sz="2250" b="1" baseline="-31481" dirty="0">
                <a:latin typeface="Arial"/>
                <a:cs typeface="Arial"/>
              </a:rPr>
              <a:t>2</a:t>
            </a:r>
            <a:r>
              <a:rPr sz="2300" b="1" dirty="0">
                <a:latin typeface="Arial"/>
                <a:cs typeface="Arial"/>
              </a:rPr>
              <a:t>,...,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b="1" spc="-25" dirty="0">
                <a:latin typeface="Arial"/>
                <a:cs typeface="Arial"/>
              </a:rPr>
              <a:t>c</a:t>
            </a:r>
            <a:r>
              <a:rPr sz="2250" b="1" spc="-37" baseline="-31481" dirty="0">
                <a:latin typeface="Arial"/>
                <a:cs typeface="Arial"/>
              </a:rPr>
              <a:t>n</a:t>
            </a:r>
            <a:r>
              <a:rPr sz="2300" b="1" spc="-25" dirty="0">
                <a:latin typeface="Arial"/>
                <a:cs typeface="Arial"/>
              </a:rPr>
              <a:t>}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75"/>
              </a:spcBef>
              <a:buFont typeface="Arial MT"/>
              <a:buChar char="●"/>
            </a:pPr>
            <a:endParaRPr sz="23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Output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494665" indent="-404495">
              <a:lnSpc>
                <a:spcPct val="100000"/>
              </a:lnSpc>
              <a:spcBef>
                <a:spcPts val="434"/>
              </a:spcBef>
              <a:buChar char="●"/>
              <a:tabLst>
                <a:tab pos="4946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predicted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class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b="1" dirty="0">
                <a:latin typeface="Arial"/>
                <a:cs typeface="Arial"/>
              </a:rPr>
              <a:t>c</a:t>
            </a:r>
            <a:r>
              <a:rPr sz="2300" b="1" spc="-15" dirty="0">
                <a:latin typeface="Arial"/>
                <a:cs typeface="Arial"/>
              </a:rPr>
              <a:t> </a:t>
            </a:r>
            <a:r>
              <a:rPr sz="2300" dirty="0">
                <a:latin typeface="MS PGothic"/>
                <a:cs typeface="MS PGothic"/>
              </a:rPr>
              <a:t>∊</a:t>
            </a:r>
            <a:r>
              <a:rPr sz="2300" spc="-70" dirty="0">
                <a:latin typeface="MS PGothic"/>
                <a:cs typeface="MS PGothic"/>
              </a:rPr>
              <a:t> </a:t>
            </a:r>
            <a:r>
              <a:rPr sz="2300" b="1" spc="-50" dirty="0">
                <a:latin typeface="Arial"/>
                <a:cs typeface="Arial"/>
              </a:rPr>
              <a:t>C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128905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Classification</a:t>
            </a:r>
            <a:r>
              <a:rPr sz="2500" spc="-35" dirty="0"/>
              <a:t> </a:t>
            </a:r>
            <a:r>
              <a:rPr sz="2500" dirty="0"/>
              <a:t>Methods:</a:t>
            </a:r>
            <a:r>
              <a:rPr sz="2500" spc="-30" dirty="0"/>
              <a:t> </a:t>
            </a:r>
            <a:r>
              <a:rPr sz="2500" spc="-10" dirty="0"/>
              <a:t>Hand-</a:t>
            </a:r>
            <a:r>
              <a:rPr sz="2500" dirty="0"/>
              <a:t>coded</a:t>
            </a:r>
            <a:r>
              <a:rPr sz="2500" spc="-30" dirty="0"/>
              <a:t> </a:t>
            </a:r>
            <a:r>
              <a:rPr sz="2500" spc="-10" dirty="0"/>
              <a:t>Rules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20456"/>
            <a:ext cx="8345170" cy="38779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 marR="5080">
              <a:lnSpc>
                <a:spcPts val="2220"/>
              </a:lnSpc>
              <a:spcBef>
                <a:spcPts val="275"/>
              </a:spcBef>
            </a:pPr>
            <a:r>
              <a:rPr sz="1950" dirty="0">
                <a:latin typeface="Arial MT"/>
                <a:cs typeface="Arial MT"/>
              </a:rPr>
              <a:t>The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goal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of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classification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is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to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take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single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observation,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extract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some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useful </a:t>
            </a:r>
            <a:r>
              <a:rPr sz="1950" dirty="0">
                <a:latin typeface="Arial MT"/>
                <a:cs typeface="Arial MT"/>
              </a:rPr>
              <a:t>features,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thereby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classify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observation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into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one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of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set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of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discrete classes</a:t>
            </a:r>
            <a:endParaRPr sz="1950">
              <a:latin typeface="Arial MT"/>
              <a:cs typeface="Arial MT"/>
            </a:endParaRPr>
          </a:p>
          <a:p>
            <a:pPr marL="12700" marR="1900555">
              <a:lnSpc>
                <a:spcPts val="4450"/>
              </a:lnSpc>
              <a:spcBef>
                <a:spcPts val="445"/>
              </a:spcBef>
            </a:pPr>
            <a:r>
              <a:rPr sz="1950" dirty="0">
                <a:latin typeface="Arial MT"/>
                <a:cs typeface="Arial MT"/>
              </a:rPr>
              <a:t>One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method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for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classifying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text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is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to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use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spc="-15" dirty="0">
                <a:latin typeface="Arial MT"/>
                <a:cs typeface="Arial MT"/>
              </a:rPr>
              <a:t>hand-</a:t>
            </a:r>
            <a:r>
              <a:rPr sz="1950" dirty="0">
                <a:latin typeface="Arial MT"/>
                <a:cs typeface="Arial MT"/>
              </a:rPr>
              <a:t>written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rules </a:t>
            </a:r>
            <a:r>
              <a:rPr sz="1950" dirty="0">
                <a:latin typeface="Arial MT"/>
                <a:cs typeface="Arial MT"/>
              </a:rPr>
              <a:t>Rules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based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on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combinations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of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words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or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other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features</a:t>
            </a:r>
            <a:endParaRPr sz="1950">
              <a:latin typeface="Arial MT"/>
              <a:cs typeface="Arial MT"/>
            </a:endParaRPr>
          </a:p>
          <a:p>
            <a:pPr marL="469265" indent="-347345">
              <a:lnSpc>
                <a:spcPts val="1495"/>
              </a:lnSpc>
              <a:buSzPct val="88571"/>
              <a:buChar char="●"/>
              <a:tabLst>
                <a:tab pos="469265" algn="l"/>
              </a:tabLst>
            </a:pPr>
            <a:r>
              <a:rPr sz="1750" dirty="0">
                <a:latin typeface="Arial MT"/>
                <a:cs typeface="Arial MT"/>
              </a:rPr>
              <a:t>spam: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black-list-</a:t>
            </a:r>
            <a:r>
              <a:rPr sz="1750" dirty="0">
                <a:latin typeface="Arial MT"/>
                <a:cs typeface="Arial MT"/>
              </a:rPr>
              <a:t>address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OR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(“dollars”</a:t>
            </a:r>
            <a:r>
              <a:rPr sz="1750" spc="-11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AND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“have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been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selected”)</a:t>
            </a:r>
            <a:endParaRPr sz="17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75"/>
              </a:spcBef>
            </a:pPr>
            <a:r>
              <a:rPr sz="1950" dirty="0">
                <a:latin typeface="Arial MT"/>
                <a:cs typeface="Arial MT"/>
              </a:rPr>
              <a:t>Accuracy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can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be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high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if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rules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carefully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are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refined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by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experts</a:t>
            </a:r>
            <a:endParaRPr sz="1950">
              <a:latin typeface="Arial MT"/>
              <a:cs typeface="Arial MT"/>
            </a:endParaRPr>
          </a:p>
          <a:p>
            <a:pPr marL="12700">
              <a:lnSpc>
                <a:spcPts val="2290"/>
              </a:lnSpc>
              <a:spcBef>
                <a:spcPts val="2105"/>
              </a:spcBef>
            </a:pPr>
            <a:r>
              <a:rPr sz="1950" dirty="0">
                <a:latin typeface="Arial MT"/>
                <a:cs typeface="Arial MT"/>
              </a:rPr>
              <a:t>But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building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and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maintaining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these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spc="-15" dirty="0">
                <a:latin typeface="Arial MT"/>
                <a:cs typeface="Arial MT"/>
              </a:rPr>
              <a:t>hand-</a:t>
            </a:r>
            <a:r>
              <a:rPr sz="1950" dirty="0">
                <a:latin typeface="Arial MT"/>
                <a:cs typeface="Arial MT"/>
              </a:rPr>
              <a:t>written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rules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can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be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expensive</a:t>
            </a:r>
            <a:endParaRPr sz="1950">
              <a:latin typeface="Arial MT"/>
              <a:cs typeface="Arial MT"/>
            </a:endParaRPr>
          </a:p>
          <a:p>
            <a:pPr marL="469265" indent="-347345">
              <a:lnSpc>
                <a:spcPts val="2000"/>
              </a:lnSpc>
              <a:buSzPct val="88571"/>
              <a:buChar char="●"/>
              <a:tabLst>
                <a:tab pos="469265" algn="l"/>
              </a:tabLst>
            </a:pPr>
            <a:r>
              <a:rPr sz="1750" dirty="0">
                <a:latin typeface="Arial MT"/>
                <a:cs typeface="Arial MT"/>
              </a:rPr>
              <a:t>Rules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can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be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fragile</a:t>
            </a:r>
            <a:endParaRPr sz="1750">
              <a:latin typeface="Arial MT"/>
              <a:cs typeface="Arial MT"/>
            </a:endParaRPr>
          </a:p>
          <a:p>
            <a:pPr marL="469265" indent="-347345">
              <a:lnSpc>
                <a:spcPts val="2050"/>
              </a:lnSpc>
              <a:buSzPct val="88571"/>
              <a:buChar char="●"/>
              <a:tabLst>
                <a:tab pos="469265" algn="l"/>
              </a:tabLst>
            </a:pPr>
            <a:r>
              <a:rPr sz="1750" dirty="0">
                <a:latin typeface="Arial MT"/>
                <a:cs typeface="Arial MT"/>
              </a:rPr>
              <a:t>It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may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require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domain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knowledge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Classification</a:t>
            </a:r>
            <a:r>
              <a:rPr sz="2500" spc="-45" dirty="0"/>
              <a:t> </a:t>
            </a:r>
            <a:r>
              <a:rPr sz="2500" dirty="0"/>
              <a:t>Methods:</a:t>
            </a:r>
            <a:r>
              <a:rPr sz="2500" spc="-45" dirty="0"/>
              <a:t> </a:t>
            </a:r>
            <a:r>
              <a:rPr sz="2500" dirty="0"/>
              <a:t>Supervised</a:t>
            </a:r>
            <a:r>
              <a:rPr sz="2500" spc="-45" dirty="0"/>
              <a:t> </a:t>
            </a:r>
            <a:r>
              <a:rPr sz="2500" dirty="0"/>
              <a:t>Machine</a:t>
            </a:r>
            <a:r>
              <a:rPr sz="2500" spc="-40" dirty="0"/>
              <a:t> </a:t>
            </a:r>
            <a:r>
              <a:rPr sz="2500" spc="-10" dirty="0"/>
              <a:t>Learning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5549" y="717484"/>
            <a:ext cx="8837930" cy="4021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281430">
              <a:lnSpc>
                <a:spcPct val="105000"/>
              </a:lnSpc>
              <a:spcBef>
                <a:spcPts val="100"/>
              </a:spcBef>
            </a:pPr>
            <a:r>
              <a:rPr sz="1950" dirty="0">
                <a:latin typeface="Arial MT"/>
                <a:cs typeface="Arial MT"/>
              </a:rPr>
              <a:t>Most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cases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of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text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classification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in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language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processing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are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done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spc="-25" dirty="0">
                <a:latin typeface="Arial MT"/>
                <a:cs typeface="Arial MT"/>
              </a:rPr>
              <a:t>via </a:t>
            </a:r>
            <a:r>
              <a:rPr sz="1950" spc="-10" dirty="0">
                <a:latin typeface="Arial MT"/>
                <a:cs typeface="Arial MT"/>
              </a:rPr>
              <a:t>supervised</a:t>
            </a:r>
            <a:r>
              <a:rPr sz="1950" spc="-9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machine</a:t>
            </a:r>
            <a:r>
              <a:rPr sz="1950" spc="-9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learning</a:t>
            </a:r>
            <a:r>
              <a:rPr sz="1950" spc="-8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methods</a:t>
            </a:r>
            <a:endParaRPr sz="1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195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Input:</a:t>
            </a:r>
            <a:endParaRPr sz="2400">
              <a:latin typeface="Arial"/>
              <a:cs typeface="Arial"/>
            </a:endParaRPr>
          </a:p>
          <a:p>
            <a:pPr marL="494665" indent="-404495">
              <a:lnSpc>
                <a:spcPct val="100000"/>
              </a:lnSpc>
              <a:spcBef>
                <a:spcPts val="145"/>
              </a:spcBef>
              <a:buChar char="●"/>
              <a:tabLst>
                <a:tab pos="4946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document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d</a:t>
            </a:r>
            <a:endParaRPr sz="2300">
              <a:latin typeface="Arial MT"/>
              <a:cs typeface="Arial MT"/>
            </a:endParaRPr>
          </a:p>
          <a:p>
            <a:pPr marL="494665" indent="-404495">
              <a:lnSpc>
                <a:spcPct val="100000"/>
              </a:lnSpc>
              <a:spcBef>
                <a:spcPts val="140"/>
              </a:spcBef>
              <a:buChar char="●"/>
              <a:tabLst>
                <a:tab pos="4946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fixed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set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classes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=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{c</a:t>
            </a:r>
            <a:r>
              <a:rPr sz="2250" baseline="-31481" dirty="0">
                <a:latin typeface="Arial MT"/>
                <a:cs typeface="Arial MT"/>
              </a:rPr>
              <a:t>1</a:t>
            </a:r>
            <a:r>
              <a:rPr sz="2300" dirty="0">
                <a:latin typeface="Arial MT"/>
                <a:cs typeface="Arial MT"/>
              </a:rPr>
              <a:t>,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</a:t>
            </a:r>
            <a:r>
              <a:rPr sz="2250" baseline="-31481" dirty="0">
                <a:latin typeface="Arial MT"/>
                <a:cs typeface="Arial MT"/>
              </a:rPr>
              <a:t>2</a:t>
            </a:r>
            <a:r>
              <a:rPr sz="2300" dirty="0">
                <a:latin typeface="Arial MT"/>
                <a:cs typeface="Arial MT"/>
              </a:rPr>
              <a:t>,...,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c</a:t>
            </a:r>
            <a:r>
              <a:rPr sz="2250" spc="-37" baseline="-31481" dirty="0">
                <a:latin typeface="Arial MT"/>
                <a:cs typeface="Arial MT"/>
              </a:rPr>
              <a:t>n</a:t>
            </a:r>
            <a:r>
              <a:rPr sz="2300" spc="-25" dirty="0">
                <a:latin typeface="Arial MT"/>
                <a:cs typeface="Arial MT"/>
              </a:rPr>
              <a:t>}</a:t>
            </a:r>
            <a:endParaRPr sz="2300">
              <a:latin typeface="Arial MT"/>
              <a:cs typeface="Arial MT"/>
            </a:endParaRPr>
          </a:p>
          <a:p>
            <a:pPr marL="494665" indent="-404495">
              <a:lnSpc>
                <a:spcPct val="100000"/>
              </a:lnSpc>
              <a:spcBef>
                <a:spcPts val="140"/>
              </a:spcBef>
              <a:buChar char="●"/>
              <a:tabLst>
                <a:tab pos="4946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training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set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</a:t>
            </a:r>
            <a:r>
              <a:rPr sz="2300" spc="-10" dirty="0">
                <a:latin typeface="Arial MT"/>
                <a:cs typeface="Arial MT"/>
              </a:rPr>
              <a:t> hand-</a:t>
            </a:r>
            <a:r>
              <a:rPr sz="2300" dirty="0">
                <a:latin typeface="Arial MT"/>
                <a:cs typeface="Arial MT"/>
              </a:rPr>
              <a:t>labeled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documents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(d</a:t>
            </a:r>
            <a:r>
              <a:rPr sz="2250" baseline="-31481" dirty="0">
                <a:latin typeface="Arial MT"/>
                <a:cs typeface="Arial MT"/>
              </a:rPr>
              <a:t>1</a:t>
            </a:r>
            <a:r>
              <a:rPr sz="2300" dirty="0">
                <a:latin typeface="Arial MT"/>
                <a:cs typeface="Arial MT"/>
              </a:rPr>
              <a:t>,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</a:t>
            </a:r>
            <a:r>
              <a:rPr sz="2250" baseline="-31481" dirty="0">
                <a:latin typeface="Arial MT"/>
                <a:cs typeface="Arial MT"/>
              </a:rPr>
              <a:t>1</a:t>
            </a:r>
            <a:r>
              <a:rPr sz="2300" dirty="0">
                <a:latin typeface="Arial MT"/>
                <a:cs typeface="Arial MT"/>
              </a:rPr>
              <a:t>),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…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,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(d</a:t>
            </a:r>
            <a:r>
              <a:rPr sz="2250" baseline="-31481" dirty="0">
                <a:latin typeface="Arial MT"/>
                <a:cs typeface="Arial MT"/>
              </a:rPr>
              <a:t>m</a:t>
            </a:r>
            <a:r>
              <a:rPr sz="2300" dirty="0">
                <a:latin typeface="Arial MT"/>
                <a:cs typeface="Arial MT"/>
              </a:rPr>
              <a:t>,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c</a:t>
            </a:r>
            <a:r>
              <a:rPr sz="2250" spc="-37" baseline="-31481" dirty="0">
                <a:latin typeface="Arial MT"/>
                <a:cs typeface="Arial MT"/>
              </a:rPr>
              <a:t>m</a:t>
            </a:r>
            <a:r>
              <a:rPr sz="2300" spc="-25" dirty="0">
                <a:latin typeface="Arial MT"/>
                <a:cs typeface="Arial MT"/>
              </a:rPr>
              <a:t>)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Font typeface="Arial MT"/>
              <a:buChar char="●"/>
            </a:pPr>
            <a:endParaRPr sz="23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</a:pPr>
            <a:r>
              <a:rPr sz="2400" b="1" spc="-10" dirty="0">
                <a:latin typeface="Arial"/>
                <a:cs typeface="Arial"/>
              </a:rPr>
              <a:t>Output</a:t>
            </a:r>
            <a:r>
              <a:rPr sz="2400" spc="-1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494665" indent="-404495">
              <a:lnSpc>
                <a:spcPct val="100000"/>
              </a:lnSpc>
              <a:spcBef>
                <a:spcPts val="150"/>
              </a:spcBef>
              <a:buChar char="●"/>
              <a:tabLst>
                <a:tab pos="4946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predicted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class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MS PGothic"/>
                <a:cs typeface="MS PGothic"/>
              </a:rPr>
              <a:t>∊</a:t>
            </a:r>
            <a:r>
              <a:rPr sz="2300" spc="-70" dirty="0">
                <a:latin typeface="MS PGothic"/>
                <a:cs typeface="MS PGothic"/>
              </a:rPr>
              <a:t> </a:t>
            </a:r>
            <a:r>
              <a:rPr sz="2300" spc="-50" dirty="0">
                <a:latin typeface="Arial MT"/>
                <a:cs typeface="Arial MT"/>
              </a:rPr>
              <a:t>C</a:t>
            </a:r>
            <a:endParaRPr sz="2300">
              <a:latin typeface="Arial MT"/>
              <a:cs typeface="Arial MT"/>
            </a:endParaRPr>
          </a:p>
          <a:p>
            <a:pPr marL="951865" lvl="1" indent="-404495">
              <a:lnSpc>
                <a:spcPct val="100000"/>
              </a:lnSpc>
              <a:spcBef>
                <a:spcPts val="135"/>
              </a:spcBef>
              <a:buChar char="○"/>
              <a:tabLst>
                <a:tab pos="951865" algn="l"/>
              </a:tabLst>
            </a:pPr>
            <a:r>
              <a:rPr sz="2300" dirty="0">
                <a:latin typeface="Arial MT"/>
                <a:cs typeface="Arial MT"/>
              </a:rPr>
              <a:t>A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learned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classifier: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35" dirty="0">
                <a:latin typeface="Arial MT"/>
                <a:cs typeface="Arial MT"/>
              </a:rPr>
              <a:t>γ:d→c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49784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Classification</a:t>
            </a:r>
            <a:r>
              <a:rPr sz="2500" spc="-45" dirty="0"/>
              <a:t> </a:t>
            </a:r>
            <a:r>
              <a:rPr sz="2500" dirty="0"/>
              <a:t>Methods:</a:t>
            </a:r>
            <a:r>
              <a:rPr sz="2500" spc="-45" dirty="0"/>
              <a:t> </a:t>
            </a:r>
            <a:r>
              <a:rPr sz="2500" dirty="0"/>
              <a:t>Supervised</a:t>
            </a:r>
            <a:r>
              <a:rPr sz="2500" spc="-45" dirty="0"/>
              <a:t> </a:t>
            </a:r>
            <a:r>
              <a:rPr sz="2500" dirty="0"/>
              <a:t>Machine</a:t>
            </a:r>
            <a:r>
              <a:rPr sz="2500" spc="-40" dirty="0"/>
              <a:t> </a:t>
            </a:r>
            <a:r>
              <a:rPr sz="2500" spc="-10" dirty="0"/>
              <a:t>Learning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700339"/>
            <a:ext cx="8481695" cy="423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>
              <a:lnSpc>
                <a:spcPct val="114999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Our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goal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learn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classifier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capable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mapping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from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new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document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correct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class </a:t>
            </a:r>
            <a:r>
              <a:rPr sz="1500" spc="-25" dirty="0">
                <a:latin typeface="Arial MT"/>
                <a:cs typeface="Arial MT"/>
              </a:rPr>
              <a:t>c</a:t>
            </a:r>
            <a:r>
              <a:rPr sz="1500" spc="-25" dirty="0">
                <a:latin typeface="MS PGothic"/>
                <a:cs typeface="MS PGothic"/>
              </a:rPr>
              <a:t>∊</a:t>
            </a:r>
            <a:r>
              <a:rPr sz="1500" spc="-25" dirty="0">
                <a:latin typeface="Arial MT"/>
                <a:cs typeface="Arial MT"/>
              </a:rPr>
              <a:t>C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229999"/>
              </a:lnSpc>
            </a:pPr>
            <a:r>
              <a:rPr sz="1500" dirty="0">
                <a:latin typeface="Arial MT"/>
                <a:cs typeface="Arial MT"/>
              </a:rPr>
              <a:t>A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00FF"/>
                </a:solidFill>
                <a:latin typeface="Arial MT"/>
                <a:cs typeface="Arial MT"/>
              </a:rPr>
              <a:t>probabilistic</a:t>
            </a:r>
            <a:r>
              <a:rPr sz="1500" spc="-5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00FF"/>
                </a:solidFill>
                <a:latin typeface="Arial MT"/>
                <a:cs typeface="Arial MT"/>
              </a:rPr>
              <a:t>classifier</a:t>
            </a:r>
            <a:r>
              <a:rPr sz="15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additionally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will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tell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probability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observation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being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class </a:t>
            </a: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Generative</a:t>
            </a:r>
            <a:r>
              <a:rPr sz="15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00FF"/>
                </a:solidFill>
                <a:latin typeface="Arial MT"/>
                <a:cs typeface="Arial MT"/>
              </a:rPr>
              <a:t>classifiers</a:t>
            </a:r>
            <a:r>
              <a:rPr sz="15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like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Naïve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Bayes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build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model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how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class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could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generate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some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input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data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Given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observation,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they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return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class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most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likely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have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generated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observation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  <a:buFont typeface="Arial MT"/>
              <a:buChar char="●"/>
            </a:pPr>
            <a:endParaRPr sz="1500">
              <a:latin typeface="Arial MT"/>
              <a:cs typeface="Arial MT"/>
            </a:endParaRPr>
          </a:p>
          <a:p>
            <a:pPr marL="12700" marR="122555">
              <a:lnSpc>
                <a:spcPct val="114999"/>
              </a:lnSpc>
            </a:pPr>
            <a:r>
              <a:rPr sz="1500" spc="-10" dirty="0">
                <a:solidFill>
                  <a:srgbClr val="0000FF"/>
                </a:solidFill>
                <a:latin typeface="Arial MT"/>
                <a:cs typeface="Arial MT"/>
              </a:rPr>
              <a:t>Discriminative</a:t>
            </a:r>
            <a:r>
              <a:rPr sz="1500" spc="-5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000FF"/>
                </a:solidFill>
                <a:latin typeface="Arial MT"/>
                <a:cs typeface="Arial MT"/>
              </a:rPr>
              <a:t>classifiers</a:t>
            </a:r>
            <a:r>
              <a:rPr sz="15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like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logistic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regression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instead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learn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what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features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from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input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most </a:t>
            </a:r>
            <a:r>
              <a:rPr sz="1500" dirty="0">
                <a:latin typeface="Arial MT"/>
                <a:cs typeface="Arial MT"/>
              </a:rPr>
              <a:t>useful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discriminate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between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different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possible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classes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MT"/>
                <a:cs typeface="Arial MT"/>
              </a:rPr>
              <a:t>Some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classifiers: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Naïve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Bayes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</a:tabLst>
            </a:pPr>
            <a:r>
              <a:rPr sz="1500" dirty="0">
                <a:latin typeface="Arial MT"/>
                <a:cs typeface="Arial MT"/>
              </a:rPr>
              <a:t>Logistic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regression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</a:tabLst>
            </a:pPr>
            <a:r>
              <a:rPr sz="1500" spc="-10" dirty="0">
                <a:latin typeface="Arial MT"/>
                <a:cs typeface="Arial MT"/>
              </a:rPr>
              <a:t>Support-</a:t>
            </a:r>
            <a:r>
              <a:rPr sz="1500" dirty="0">
                <a:latin typeface="Arial MT"/>
                <a:cs typeface="Arial MT"/>
              </a:rPr>
              <a:t>vector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machines</a:t>
            </a:r>
            <a:endParaRPr sz="1500">
              <a:latin typeface="Arial MT"/>
              <a:cs typeface="Arial MT"/>
            </a:endParaRPr>
          </a:p>
          <a:p>
            <a:pPr marL="469265" indent="-343535">
              <a:lnSpc>
                <a:spcPct val="100000"/>
              </a:lnSpc>
              <a:spcBef>
                <a:spcPts val="270"/>
              </a:spcBef>
              <a:buChar char="●"/>
              <a:tabLst>
                <a:tab pos="469265" algn="l"/>
              </a:tabLst>
            </a:pPr>
            <a:r>
              <a:rPr sz="1500" spc="-20" dirty="0">
                <a:latin typeface="Arial MT"/>
                <a:cs typeface="Arial MT"/>
              </a:rPr>
              <a:t>k-</a:t>
            </a:r>
            <a:r>
              <a:rPr sz="1500" dirty="0">
                <a:latin typeface="Arial MT"/>
                <a:cs typeface="Arial MT"/>
              </a:rPr>
              <a:t>Nearest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Neighbors,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...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6422" y="1947760"/>
            <a:ext cx="705040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dirty="0"/>
              <a:t>Naïve</a:t>
            </a:r>
            <a:r>
              <a:rPr sz="5500" spc="-95" dirty="0"/>
              <a:t> </a:t>
            </a:r>
            <a:r>
              <a:rPr sz="5500" dirty="0"/>
              <a:t>Bayes</a:t>
            </a:r>
            <a:r>
              <a:rPr sz="5500" spc="-85" dirty="0"/>
              <a:t> </a:t>
            </a:r>
            <a:r>
              <a:rPr sz="5500" spc="-10" dirty="0"/>
              <a:t>Classifier</a:t>
            </a:r>
            <a:endParaRPr sz="5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22220">
              <a:lnSpc>
                <a:spcPct val="100000"/>
              </a:lnSpc>
              <a:spcBef>
                <a:spcPts val="140"/>
              </a:spcBef>
            </a:pPr>
            <a:r>
              <a:rPr sz="2750" dirty="0"/>
              <a:t>Naïve</a:t>
            </a:r>
            <a:r>
              <a:rPr sz="2750" spc="60" dirty="0"/>
              <a:t> </a:t>
            </a:r>
            <a:r>
              <a:rPr sz="2750" dirty="0"/>
              <a:t>Bayes</a:t>
            </a:r>
            <a:r>
              <a:rPr sz="2750" spc="70" dirty="0"/>
              <a:t> </a:t>
            </a:r>
            <a:r>
              <a:rPr sz="2750" spc="-10" dirty="0"/>
              <a:t>Classifier</a:t>
            </a:r>
            <a:endParaRPr sz="275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87767"/>
            <a:ext cx="8280400" cy="70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950" dirty="0">
                <a:latin typeface="Arial MT"/>
                <a:cs typeface="Arial MT"/>
              </a:rPr>
              <a:t>A</a:t>
            </a:r>
            <a:r>
              <a:rPr sz="1950" spc="-1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Naïve</a:t>
            </a:r>
            <a:r>
              <a:rPr sz="1950" spc="-8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Bayes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Classifier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Bayesian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classifier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(based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on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Bayes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rule)</a:t>
            </a:r>
            <a:r>
              <a:rPr sz="1950" spc="-60" dirty="0">
                <a:latin typeface="Arial MT"/>
                <a:cs typeface="Arial MT"/>
              </a:rPr>
              <a:t> </a:t>
            </a:r>
            <a:r>
              <a:rPr sz="1950" spc="-20" dirty="0">
                <a:latin typeface="Arial MT"/>
                <a:cs typeface="Arial MT"/>
              </a:rPr>
              <a:t>that </a:t>
            </a:r>
            <a:r>
              <a:rPr sz="1950" dirty="0">
                <a:latin typeface="Arial MT"/>
                <a:cs typeface="Arial MT"/>
              </a:rPr>
              <a:t>makes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simplifying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(naïve)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assumption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about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how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features</a:t>
            </a:r>
            <a:r>
              <a:rPr sz="1950" spc="-5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interact</a:t>
            </a:r>
            <a:endParaRPr sz="19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2062414"/>
            <a:ext cx="8604250" cy="1094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Arial MT"/>
                <a:cs typeface="Arial MT"/>
              </a:rPr>
              <a:t>A</a:t>
            </a:r>
            <a:r>
              <a:rPr sz="1950" spc="-1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text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document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is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represented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as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bag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of</a:t>
            </a:r>
            <a:r>
              <a:rPr sz="1950" spc="-35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words</a:t>
            </a:r>
            <a:endParaRPr sz="1950">
              <a:latin typeface="Arial MT"/>
              <a:cs typeface="Arial MT"/>
            </a:endParaRPr>
          </a:p>
          <a:p>
            <a:pPr marL="469900" marR="5080" indent="-363220">
              <a:lnSpc>
                <a:spcPct val="114999"/>
              </a:lnSpc>
              <a:spcBef>
                <a:spcPts val="1240"/>
              </a:spcBef>
              <a:buChar char="●"/>
              <a:tabLst>
                <a:tab pos="469900" algn="l"/>
              </a:tabLst>
            </a:pPr>
            <a:r>
              <a:rPr sz="1750" dirty="0">
                <a:latin typeface="Arial MT"/>
                <a:cs typeface="Arial MT"/>
              </a:rPr>
              <a:t>i.e.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text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document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is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represented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as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an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unordered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set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of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words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with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their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position </a:t>
            </a:r>
            <a:r>
              <a:rPr sz="1750" dirty="0">
                <a:latin typeface="Arial MT"/>
                <a:cs typeface="Arial MT"/>
              </a:rPr>
              <a:t>ignored,</a:t>
            </a:r>
            <a:r>
              <a:rPr sz="1750" spc="-6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keeping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only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their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frequency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in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document</a:t>
            </a:r>
            <a:endParaRPr sz="1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000">
              <a:lnSpc>
                <a:spcPct val="100000"/>
              </a:lnSpc>
              <a:spcBef>
                <a:spcPts val="135"/>
              </a:spcBef>
            </a:pPr>
            <a:r>
              <a:rPr dirty="0"/>
              <a:t>Bag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Words</a:t>
            </a:r>
            <a:r>
              <a:rPr spc="30" dirty="0"/>
              <a:t> </a:t>
            </a:r>
            <a:r>
              <a:rPr spc="-10" dirty="0"/>
              <a:t>Representation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125" y="1000377"/>
            <a:ext cx="8101518" cy="38174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Bag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Words</a:t>
            </a:r>
            <a:r>
              <a:rPr spc="3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732344"/>
            <a:ext cx="716534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Arial MT"/>
                <a:cs typeface="Arial MT"/>
              </a:rPr>
              <a:t>A</a:t>
            </a:r>
            <a:r>
              <a:rPr sz="1950" spc="-13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Naïve</a:t>
            </a:r>
            <a:r>
              <a:rPr sz="1950" spc="-5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Bayes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classifier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may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use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all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words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in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the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text</a:t>
            </a:r>
            <a:r>
              <a:rPr sz="1950" spc="-45" dirty="0">
                <a:latin typeface="Arial MT"/>
                <a:cs typeface="Arial MT"/>
              </a:rPr>
              <a:t> </a:t>
            </a:r>
            <a:r>
              <a:rPr sz="1950" dirty="0">
                <a:latin typeface="Arial MT"/>
                <a:cs typeface="Arial MT"/>
              </a:rPr>
              <a:t>as</a:t>
            </a:r>
            <a:r>
              <a:rPr sz="1950" spc="-40" dirty="0">
                <a:latin typeface="Arial MT"/>
                <a:cs typeface="Arial MT"/>
              </a:rPr>
              <a:t> </a:t>
            </a:r>
            <a:r>
              <a:rPr sz="1950" spc="-10" dirty="0">
                <a:latin typeface="Arial MT"/>
                <a:cs typeface="Arial MT"/>
              </a:rPr>
              <a:t>features</a:t>
            </a:r>
            <a:endParaRPr sz="1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700" y="1547638"/>
            <a:ext cx="7912600" cy="307769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Bag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dirty="0"/>
              <a:t>Words</a:t>
            </a:r>
            <a:r>
              <a:rPr spc="30" dirty="0"/>
              <a:t> </a:t>
            </a:r>
            <a:r>
              <a:rPr spc="-10"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732090"/>
            <a:ext cx="87280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Or,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Na</a:t>
            </a:r>
            <a:r>
              <a:rPr sz="1950" dirty="0">
                <a:latin typeface="Arial MT"/>
                <a:cs typeface="Arial MT"/>
              </a:rPr>
              <a:t>ï</a:t>
            </a:r>
            <a:r>
              <a:rPr sz="2000" dirty="0">
                <a:latin typeface="Arial MT"/>
                <a:cs typeface="Arial MT"/>
              </a:rPr>
              <a:t>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Bayes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classifier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subset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text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features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9273" y="1491582"/>
            <a:ext cx="7556177" cy="29891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>
              <a:lnSpc>
                <a:spcPct val="100000"/>
              </a:lnSpc>
              <a:spcBef>
                <a:spcPts val="100"/>
              </a:spcBef>
            </a:pPr>
            <a:r>
              <a:rPr sz="2650" dirty="0"/>
              <a:t>Bayes’</a:t>
            </a:r>
            <a:r>
              <a:rPr sz="2650" spc="-155" dirty="0"/>
              <a:t> </a:t>
            </a:r>
            <a:r>
              <a:rPr sz="2650" dirty="0"/>
              <a:t>Rule</a:t>
            </a:r>
            <a:r>
              <a:rPr sz="2650" spc="-185" dirty="0"/>
              <a:t> </a:t>
            </a:r>
            <a:r>
              <a:rPr sz="2650" dirty="0"/>
              <a:t>Applied</a:t>
            </a:r>
            <a:r>
              <a:rPr sz="2650" spc="-55" dirty="0"/>
              <a:t> </a:t>
            </a:r>
            <a:r>
              <a:rPr sz="2650" dirty="0"/>
              <a:t>to</a:t>
            </a:r>
            <a:r>
              <a:rPr sz="2650" spc="-55" dirty="0"/>
              <a:t> </a:t>
            </a:r>
            <a:r>
              <a:rPr sz="2650" dirty="0"/>
              <a:t>Documents</a:t>
            </a:r>
            <a:r>
              <a:rPr sz="2650" spc="-60" dirty="0"/>
              <a:t> </a:t>
            </a:r>
            <a:r>
              <a:rPr sz="2650" dirty="0"/>
              <a:t>and</a:t>
            </a:r>
            <a:r>
              <a:rPr sz="2650" spc="-55" dirty="0"/>
              <a:t> </a:t>
            </a:r>
            <a:r>
              <a:rPr sz="2650" spc="-10" dirty="0"/>
              <a:t>Classes</a:t>
            </a:r>
            <a:endParaRPr sz="2650"/>
          </a:p>
        </p:txBody>
      </p:sp>
      <p:sp>
        <p:nvSpPr>
          <p:cNvPr id="3" name="object 3"/>
          <p:cNvSpPr txBox="1"/>
          <p:nvPr/>
        </p:nvSpPr>
        <p:spPr>
          <a:xfrm>
            <a:off x="122849" y="693659"/>
            <a:ext cx="8549640" cy="212852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50800" marR="43180">
              <a:lnSpc>
                <a:spcPct val="114999"/>
              </a:lnSpc>
              <a:spcBef>
                <a:spcPts val="40"/>
              </a:spcBef>
            </a:pP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Na</a:t>
            </a:r>
            <a:r>
              <a:rPr sz="1950" dirty="0">
                <a:solidFill>
                  <a:srgbClr val="0000FF"/>
                </a:solidFill>
                <a:latin typeface="Arial MT"/>
                <a:cs typeface="Arial MT"/>
              </a:rPr>
              <a:t>ï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ve</a:t>
            </a:r>
            <a:r>
              <a:rPr sz="2000" spc="-6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Bayes</a:t>
            </a:r>
            <a:r>
              <a:rPr sz="20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probabilistic</a:t>
            </a:r>
            <a:r>
              <a:rPr sz="20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classifier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document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out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300" dirty="0">
                <a:latin typeface="MS PGothic"/>
                <a:cs typeface="MS PGothic"/>
              </a:rPr>
              <a:t>∊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classifier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returns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</a:t>
            </a:r>
            <a:r>
              <a:rPr sz="1950" baseline="-32051" dirty="0">
                <a:latin typeface="Arial MT"/>
                <a:cs typeface="Arial MT"/>
              </a:rPr>
              <a:t>MAP</a:t>
            </a:r>
            <a:r>
              <a:rPr sz="1950" spc="240" baseline="-32051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maximum</a:t>
            </a:r>
            <a:r>
              <a:rPr sz="20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posterior</a:t>
            </a:r>
            <a:r>
              <a:rPr sz="2000" spc="-4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00FF"/>
                </a:solidFill>
                <a:latin typeface="Arial MT"/>
                <a:cs typeface="Arial MT"/>
              </a:rPr>
              <a:t>probability</a:t>
            </a:r>
            <a:r>
              <a:rPr sz="2000" spc="-4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document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document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c: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4000307"/>
            <a:ext cx="52844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likely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class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(MAP: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maximum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posteriori):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3439" y="2388306"/>
            <a:ext cx="2426953" cy="70009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9387" y="4002225"/>
            <a:ext cx="3243224" cy="5726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522220">
              <a:lnSpc>
                <a:spcPct val="100000"/>
              </a:lnSpc>
              <a:spcBef>
                <a:spcPts val="140"/>
              </a:spcBef>
            </a:pPr>
            <a:r>
              <a:rPr sz="2750" dirty="0"/>
              <a:t>Naïve</a:t>
            </a:r>
            <a:r>
              <a:rPr sz="2750" spc="60" dirty="0"/>
              <a:t> </a:t>
            </a:r>
            <a:r>
              <a:rPr sz="2750" dirty="0"/>
              <a:t>Bayes</a:t>
            </a:r>
            <a:r>
              <a:rPr sz="2750" spc="70" dirty="0"/>
              <a:t> </a:t>
            </a:r>
            <a:r>
              <a:rPr sz="2750" spc="-10" dirty="0"/>
              <a:t>Classifier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5613" y="641737"/>
            <a:ext cx="2856093" cy="5499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6101" y="1416660"/>
            <a:ext cx="2670250" cy="14238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49825" y="789733"/>
            <a:ext cx="407670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latin typeface="Arial MT"/>
                <a:cs typeface="Arial MT"/>
              </a:rPr>
              <a:t>MAP</a:t>
            </a:r>
            <a:r>
              <a:rPr sz="1450" spc="-6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is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“maximum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posteriori”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=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most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likely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class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9825" y="1635833"/>
            <a:ext cx="2154555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latin typeface="Arial MT"/>
                <a:cs typeface="Arial MT"/>
              </a:rPr>
              <a:t>Bayes</a:t>
            </a:r>
            <a:r>
              <a:rPr sz="1450" spc="-50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Rule</a:t>
            </a: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latin typeface="Arial MT"/>
                <a:cs typeface="Arial MT"/>
              </a:rPr>
              <a:t>Dropping</a:t>
            </a:r>
            <a:r>
              <a:rPr sz="1450" spc="-7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-6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denominator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3925" y="2773528"/>
            <a:ext cx="137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3450" algn="l"/>
              </a:tabLst>
            </a:pPr>
            <a:r>
              <a:rPr sz="1200" spc="-10" dirty="0">
                <a:solidFill>
                  <a:srgbClr val="0000FF"/>
                </a:solidFill>
                <a:latin typeface="Arial MT"/>
                <a:cs typeface="Arial MT"/>
              </a:rPr>
              <a:t>"Likelihood"</a:t>
            </a:r>
            <a:r>
              <a:rPr sz="1200" dirty="0">
                <a:solidFill>
                  <a:srgbClr val="0000FF"/>
                </a:solidFill>
                <a:latin typeface="Arial MT"/>
                <a:cs typeface="Arial MT"/>
              </a:rPr>
              <a:t>	</a:t>
            </a:r>
            <a:r>
              <a:rPr sz="1200" spc="-10" dirty="0">
                <a:solidFill>
                  <a:srgbClr val="0000FF"/>
                </a:solidFill>
                <a:latin typeface="Arial MT"/>
                <a:cs typeface="Arial MT"/>
              </a:rPr>
              <a:t>"Prior"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66100" y="3322865"/>
            <a:ext cx="3836600" cy="4930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24425" y="3311383"/>
            <a:ext cx="3705860" cy="2463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50" spc="-10" dirty="0">
                <a:latin typeface="Arial MT"/>
                <a:cs typeface="Arial MT"/>
              </a:rPr>
              <a:t>Document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d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represented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as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features</a:t>
            </a:r>
            <a:r>
              <a:rPr sz="1450" spc="-2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x</a:t>
            </a:r>
            <a:r>
              <a:rPr sz="1425" baseline="-32163" dirty="0">
                <a:latin typeface="Arial MT"/>
                <a:cs typeface="Arial MT"/>
              </a:rPr>
              <a:t>1</a:t>
            </a:r>
            <a:r>
              <a:rPr sz="1425" spc="-15" baseline="-32163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…</a:t>
            </a:r>
            <a:r>
              <a:rPr sz="1450" spc="-15" dirty="0">
                <a:latin typeface="Arial MT"/>
                <a:cs typeface="Arial MT"/>
              </a:rPr>
              <a:t> </a:t>
            </a:r>
            <a:r>
              <a:rPr sz="1450" spc="-25" dirty="0">
                <a:latin typeface="Arial MT"/>
                <a:cs typeface="Arial MT"/>
              </a:rPr>
              <a:t>x</a:t>
            </a:r>
            <a:r>
              <a:rPr sz="1425" spc="-37" baseline="-32163" dirty="0">
                <a:latin typeface="Arial MT"/>
                <a:cs typeface="Arial MT"/>
              </a:rPr>
              <a:t>n</a:t>
            </a:r>
            <a:endParaRPr sz="1425" baseline="-3216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65125" y="4031596"/>
            <a:ext cx="4389755" cy="4673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latin typeface="Arial MT"/>
                <a:cs typeface="Arial MT"/>
              </a:rPr>
              <a:t>How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often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does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this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class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occur?</a:t>
            </a:r>
            <a:endParaRPr sz="14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50" dirty="0">
                <a:latin typeface="Arial MT"/>
                <a:cs typeface="Arial MT"/>
              </a:rPr>
              <a:t>We</a:t>
            </a:r>
            <a:r>
              <a:rPr sz="1450" spc="-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can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just</a:t>
            </a:r>
            <a:r>
              <a:rPr sz="1450" spc="-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count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the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relative</a:t>
            </a:r>
            <a:r>
              <a:rPr sz="1450" spc="-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frequencies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in</a:t>
            </a:r>
            <a:r>
              <a:rPr sz="1450" spc="-5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</a:t>
            </a:r>
            <a:r>
              <a:rPr sz="1450" spc="-4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corpus</a:t>
            </a:r>
            <a:endParaRPr sz="145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92887" y="3648962"/>
            <a:ext cx="2557780" cy="424815"/>
            <a:chOff x="2192887" y="3648962"/>
            <a:chExt cx="2557780" cy="424815"/>
          </a:xfrm>
        </p:grpSpPr>
        <p:sp>
          <p:nvSpPr>
            <p:cNvPr id="12" name="object 12"/>
            <p:cNvSpPr/>
            <p:nvPr/>
          </p:nvSpPr>
          <p:spPr>
            <a:xfrm>
              <a:off x="4257075" y="3653725"/>
              <a:ext cx="488950" cy="295275"/>
            </a:xfrm>
            <a:custGeom>
              <a:avLst/>
              <a:gdLst/>
              <a:ahLst/>
              <a:cxnLst/>
              <a:rect l="l" t="t" r="r" b="b"/>
              <a:pathLst>
                <a:path w="488950" h="295275">
                  <a:moveTo>
                    <a:pt x="488699" y="0"/>
                  </a:moveTo>
                  <a:lnTo>
                    <a:pt x="482947" y="28492"/>
                  </a:lnTo>
                  <a:lnTo>
                    <a:pt x="467260" y="51760"/>
                  </a:lnTo>
                  <a:lnTo>
                    <a:pt x="443992" y="67447"/>
                  </a:lnTo>
                  <a:lnTo>
                    <a:pt x="415499" y="73199"/>
                  </a:lnTo>
                  <a:lnTo>
                    <a:pt x="324264" y="73199"/>
                  </a:lnTo>
                  <a:lnTo>
                    <a:pt x="295772" y="78952"/>
                  </a:lnTo>
                  <a:lnTo>
                    <a:pt x="272504" y="94639"/>
                  </a:lnTo>
                  <a:lnTo>
                    <a:pt x="256817" y="117907"/>
                  </a:lnTo>
                  <a:lnTo>
                    <a:pt x="251064" y="146399"/>
                  </a:lnTo>
                  <a:lnTo>
                    <a:pt x="245312" y="117907"/>
                  </a:lnTo>
                  <a:lnTo>
                    <a:pt x="229625" y="94639"/>
                  </a:lnTo>
                  <a:lnTo>
                    <a:pt x="206357" y="78952"/>
                  </a:lnTo>
                  <a:lnTo>
                    <a:pt x="177864" y="73199"/>
                  </a:lnTo>
                  <a:lnTo>
                    <a:pt x="73199" y="73199"/>
                  </a:lnTo>
                  <a:lnTo>
                    <a:pt x="44707" y="67447"/>
                  </a:lnTo>
                  <a:lnTo>
                    <a:pt x="21439" y="51760"/>
                  </a:lnTo>
                  <a:lnTo>
                    <a:pt x="5752" y="28492"/>
                  </a:lnTo>
                  <a:lnTo>
                    <a:pt x="0" y="0"/>
                  </a:lnTo>
                </a:path>
                <a:path w="488950" h="295275">
                  <a:moveTo>
                    <a:pt x="251064" y="146399"/>
                  </a:moveTo>
                  <a:lnTo>
                    <a:pt x="246296" y="295079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87647" y="3948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4339" y="43707"/>
                  </a:moveTo>
                  <a:lnTo>
                    <a:pt x="0" y="0"/>
                  </a:lnTo>
                  <a:lnTo>
                    <a:pt x="31449" y="1008"/>
                  </a:lnTo>
                  <a:lnTo>
                    <a:pt x="14339" y="4370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7647" y="3948300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0"/>
                  </a:moveTo>
                  <a:lnTo>
                    <a:pt x="14339" y="43707"/>
                  </a:lnTo>
                  <a:lnTo>
                    <a:pt x="31449" y="100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97649" y="3653725"/>
              <a:ext cx="2004695" cy="372110"/>
            </a:xfrm>
            <a:custGeom>
              <a:avLst/>
              <a:gdLst/>
              <a:ahLst/>
              <a:cxnLst/>
              <a:rect l="l" t="t" r="r" b="b"/>
              <a:pathLst>
                <a:path w="2004695" h="372110">
                  <a:moveTo>
                    <a:pt x="2004599" y="0"/>
                  </a:moveTo>
                  <a:lnTo>
                    <a:pt x="1998847" y="28492"/>
                  </a:lnTo>
                  <a:lnTo>
                    <a:pt x="1983160" y="51760"/>
                  </a:lnTo>
                  <a:lnTo>
                    <a:pt x="1959892" y="67447"/>
                  </a:lnTo>
                  <a:lnTo>
                    <a:pt x="1931399" y="73199"/>
                  </a:lnTo>
                  <a:lnTo>
                    <a:pt x="1103043" y="73199"/>
                  </a:lnTo>
                  <a:lnTo>
                    <a:pt x="1074550" y="78952"/>
                  </a:lnTo>
                  <a:lnTo>
                    <a:pt x="1051283" y="94639"/>
                  </a:lnTo>
                  <a:lnTo>
                    <a:pt x="1035595" y="117907"/>
                  </a:lnTo>
                  <a:lnTo>
                    <a:pt x="1029843" y="146399"/>
                  </a:lnTo>
                  <a:lnTo>
                    <a:pt x="1024090" y="117907"/>
                  </a:lnTo>
                  <a:lnTo>
                    <a:pt x="1008403" y="94639"/>
                  </a:lnTo>
                  <a:lnTo>
                    <a:pt x="985135" y="78952"/>
                  </a:lnTo>
                  <a:lnTo>
                    <a:pt x="956643" y="73199"/>
                  </a:lnTo>
                  <a:lnTo>
                    <a:pt x="73199" y="73199"/>
                  </a:lnTo>
                  <a:lnTo>
                    <a:pt x="44707" y="67447"/>
                  </a:lnTo>
                  <a:lnTo>
                    <a:pt x="21439" y="51760"/>
                  </a:lnTo>
                  <a:lnTo>
                    <a:pt x="5752" y="28492"/>
                  </a:lnTo>
                  <a:lnTo>
                    <a:pt x="0" y="0"/>
                  </a:lnTo>
                </a:path>
                <a:path w="2004695" h="372110">
                  <a:moveTo>
                    <a:pt x="1029843" y="146399"/>
                  </a:moveTo>
                  <a:lnTo>
                    <a:pt x="1032475" y="371853"/>
                  </a:lnTo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14394" y="402539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16236" y="43405"/>
                  </a:moveTo>
                  <a:lnTo>
                    <a:pt x="0" y="367"/>
                  </a:lnTo>
                  <a:lnTo>
                    <a:pt x="31463" y="0"/>
                  </a:lnTo>
                  <a:lnTo>
                    <a:pt x="16236" y="4340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14394" y="402539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367"/>
                  </a:moveTo>
                  <a:lnTo>
                    <a:pt x="16236" y="43405"/>
                  </a:lnTo>
                  <a:lnTo>
                    <a:pt x="31463" y="0"/>
                  </a:lnTo>
                  <a:lnTo>
                    <a:pt x="0" y="367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77900" y="4106984"/>
            <a:ext cx="3187065" cy="688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50" dirty="0">
                <a:latin typeface="Arial MT"/>
                <a:cs typeface="Arial MT"/>
              </a:rPr>
              <a:t>Could</a:t>
            </a:r>
            <a:r>
              <a:rPr sz="1450" spc="-4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only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be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estimated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if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a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spc="-10" dirty="0">
                <a:latin typeface="Arial MT"/>
                <a:cs typeface="Arial MT"/>
              </a:rPr>
              <a:t>very,</a:t>
            </a:r>
            <a:r>
              <a:rPr sz="1450" spc="-35" dirty="0">
                <a:latin typeface="Arial MT"/>
                <a:cs typeface="Arial MT"/>
              </a:rPr>
              <a:t> </a:t>
            </a:r>
            <a:r>
              <a:rPr sz="1450" spc="-20" dirty="0">
                <a:latin typeface="Arial MT"/>
                <a:cs typeface="Arial MT"/>
              </a:rPr>
              <a:t>very </a:t>
            </a:r>
            <a:r>
              <a:rPr sz="1450" dirty="0">
                <a:latin typeface="Arial MT"/>
                <a:cs typeface="Arial MT"/>
              </a:rPr>
              <a:t>large</a:t>
            </a:r>
            <a:r>
              <a:rPr sz="1450" spc="-6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number</a:t>
            </a:r>
            <a:r>
              <a:rPr sz="1450" spc="-6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of</a:t>
            </a:r>
            <a:r>
              <a:rPr sz="1450" spc="-55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training</a:t>
            </a:r>
            <a:r>
              <a:rPr sz="1450" spc="-60" dirty="0">
                <a:latin typeface="Arial MT"/>
                <a:cs typeface="Arial MT"/>
              </a:rPr>
              <a:t> </a:t>
            </a:r>
            <a:r>
              <a:rPr sz="1450" dirty="0">
                <a:latin typeface="Arial MT"/>
                <a:cs typeface="Arial MT"/>
              </a:rPr>
              <a:t>examples</a:t>
            </a:r>
            <a:r>
              <a:rPr sz="1450" spc="-55" dirty="0">
                <a:latin typeface="Arial MT"/>
                <a:cs typeface="Arial MT"/>
              </a:rPr>
              <a:t> </a:t>
            </a:r>
            <a:r>
              <a:rPr sz="1450" spc="-25" dirty="0">
                <a:latin typeface="Arial MT"/>
                <a:cs typeface="Arial MT"/>
              </a:rPr>
              <a:t>was </a:t>
            </a:r>
            <a:r>
              <a:rPr sz="1450" spc="-10" dirty="0">
                <a:latin typeface="Arial MT"/>
                <a:cs typeface="Arial MT"/>
              </a:rPr>
              <a:t>available</a:t>
            </a:r>
            <a:endParaRPr sz="145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8155">
              <a:lnSpc>
                <a:spcPct val="100000"/>
              </a:lnSpc>
              <a:spcBef>
                <a:spcPts val="100"/>
              </a:spcBef>
            </a:pPr>
            <a:r>
              <a:rPr sz="2550" dirty="0"/>
              <a:t>Multinomial</a:t>
            </a:r>
            <a:r>
              <a:rPr sz="2550" spc="-10" dirty="0"/>
              <a:t> </a:t>
            </a:r>
            <a:r>
              <a:rPr sz="2550" dirty="0"/>
              <a:t>Na</a:t>
            </a:r>
            <a:r>
              <a:rPr sz="3100" dirty="0"/>
              <a:t>ï</a:t>
            </a:r>
            <a:r>
              <a:rPr sz="2550" dirty="0"/>
              <a:t>ve</a:t>
            </a:r>
            <a:r>
              <a:rPr sz="2550" spc="-5" dirty="0"/>
              <a:t> </a:t>
            </a:r>
            <a:r>
              <a:rPr sz="2550" dirty="0"/>
              <a:t>Bayes</a:t>
            </a:r>
            <a:r>
              <a:rPr sz="2550" spc="-5" dirty="0"/>
              <a:t> </a:t>
            </a:r>
            <a:r>
              <a:rPr sz="2550" spc="-10" dirty="0"/>
              <a:t>Independence</a:t>
            </a:r>
            <a:r>
              <a:rPr sz="2550" spc="-145" dirty="0"/>
              <a:t> </a:t>
            </a:r>
            <a:r>
              <a:rPr sz="2550" spc="-10" dirty="0"/>
              <a:t>Assumptions</a:t>
            </a:r>
            <a:endParaRPr sz="2550"/>
          </a:p>
        </p:txBody>
      </p:sp>
      <p:sp>
        <p:nvSpPr>
          <p:cNvPr id="3" name="object 3"/>
          <p:cNvSpPr txBox="1"/>
          <p:nvPr/>
        </p:nvSpPr>
        <p:spPr>
          <a:xfrm>
            <a:off x="122849" y="733104"/>
            <a:ext cx="8858885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assumption: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assume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position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does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matter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800">
              <a:latin typeface="Arial MT"/>
              <a:cs typeface="Arial MT"/>
            </a:endParaRPr>
          </a:p>
          <a:p>
            <a:pPr marL="50800" marR="43180">
              <a:lnSpc>
                <a:spcPct val="114999"/>
              </a:lnSpc>
              <a:spcBef>
                <a:spcPts val="5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second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commonly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called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naïve</a:t>
            </a:r>
            <a:r>
              <a:rPr sz="1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Bayes</a:t>
            </a:r>
            <a:r>
              <a:rPr sz="1800" spc="-1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00FF"/>
                </a:solidFill>
                <a:latin typeface="Arial MT"/>
                <a:cs typeface="Arial MT"/>
              </a:rPr>
              <a:t>assumption</a:t>
            </a:r>
            <a:r>
              <a:rPr sz="1800" dirty="0">
                <a:latin typeface="Arial MT"/>
                <a:cs typeface="Arial MT"/>
              </a:rPr>
              <a:t>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conditional </a:t>
            </a:r>
            <a:r>
              <a:rPr sz="1800" dirty="0">
                <a:latin typeface="Arial MT"/>
                <a:cs typeface="Arial MT"/>
              </a:rPr>
              <a:t>independence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assumption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probabilities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P(x</a:t>
            </a:r>
            <a:r>
              <a:rPr sz="1800" baseline="-32407" dirty="0">
                <a:latin typeface="Arial MT"/>
                <a:cs typeface="Arial MT"/>
              </a:rPr>
              <a:t>i</a:t>
            </a:r>
            <a:r>
              <a:rPr sz="1800" dirty="0">
                <a:latin typeface="Arial MT"/>
                <a:cs typeface="Arial MT"/>
              </a:rPr>
              <a:t>|c)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independent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given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 </a:t>
            </a:r>
            <a:r>
              <a:rPr sz="1800" dirty="0">
                <a:latin typeface="Arial MT"/>
                <a:cs typeface="Arial MT"/>
              </a:rPr>
              <a:t>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hence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‘naïvely’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multiplied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follows: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3256848"/>
            <a:ext cx="3543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Multinomial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Naïve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Bayes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Classifier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940" y="2638840"/>
            <a:ext cx="5801172" cy="2951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8575" y="3707650"/>
            <a:ext cx="4506849" cy="52607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02525" y="4354975"/>
            <a:ext cx="3338950" cy="6581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33654" y="1528659"/>
            <a:ext cx="6674484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1825" marR="5080" indent="-1889760">
              <a:lnSpc>
                <a:spcPct val="100000"/>
              </a:lnSpc>
              <a:spcBef>
                <a:spcPts val="100"/>
              </a:spcBef>
            </a:pPr>
            <a:r>
              <a:rPr sz="5500" spc="-10" dirty="0"/>
              <a:t>Training</a:t>
            </a:r>
            <a:r>
              <a:rPr sz="5500" spc="-275" dirty="0"/>
              <a:t> </a:t>
            </a:r>
            <a:r>
              <a:rPr sz="5500" dirty="0"/>
              <a:t>Naïve</a:t>
            </a:r>
            <a:r>
              <a:rPr sz="5500" spc="-270" dirty="0"/>
              <a:t> </a:t>
            </a:r>
            <a:r>
              <a:rPr sz="5500" spc="-20" dirty="0"/>
              <a:t>Bayes </a:t>
            </a:r>
            <a:r>
              <a:rPr sz="5500" spc="-10" dirty="0"/>
              <a:t>Classifier</a:t>
            </a:r>
            <a:endParaRPr sz="5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2098675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Maximum</a:t>
            </a:r>
            <a:r>
              <a:rPr sz="2500" spc="30" dirty="0"/>
              <a:t> </a:t>
            </a:r>
            <a:r>
              <a:rPr sz="2500" dirty="0"/>
              <a:t>Likelihood</a:t>
            </a:r>
            <a:r>
              <a:rPr sz="2500" spc="35" dirty="0"/>
              <a:t> </a:t>
            </a:r>
            <a:r>
              <a:rPr sz="2500" spc="-10" dirty="0"/>
              <a:t>Estimates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22849" y="732597"/>
            <a:ext cx="5617210" cy="1771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How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learn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probabilities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P(c)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P(x</a:t>
            </a:r>
            <a:r>
              <a:rPr sz="1875" spc="-15" baseline="-31111" dirty="0">
                <a:latin typeface="Arial MT"/>
                <a:cs typeface="Arial MT"/>
              </a:rPr>
              <a:t>i</a:t>
            </a:r>
            <a:r>
              <a:rPr sz="1900" spc="-10" dirty="0">
                <a:latin typeface="Arial MT"/>
                <a:cs typeface="Arial MT"/>
              </a:rPr>
              <a:t>|c)?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90"/>
              </a:spcBef>
            </a:pPr>
            <a:endParaRPr sz="1900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Arial MT"/>
                <a:cs typeface="Arial MT"/>
              </a:rPr>
              <a:t>First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attempt: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maximum</a:t>
            </a:r>
            <a:r>
              <a:rPr sz="1900" spc="-10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likelihood</a:t>
            </a:r>
            <a:r>
              <a:rPr sz="1900" spc="-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estimates</a:t>
            </a:r>
            <a:endParaRPr sz="1900">
              <a:latin typeface="Arial MT"/>
              <a:cs typeface="Arial MT"/>
            </a:endParaRPr>
          </a:p>
          <a:p>
            <a:pPr marL="507365" indent="-374015">
              <a:lnSpc>
                <a:spcPct val="100000"/>
              </a:lnSpc>
              <a:spcBef>
                <a:spcPts val="1540"/>
              </a:spcBef>
              <a:buChar char="●"/>
              <a:tabLst>
                <a:tab pos="507365" algn="l"/>
              </a:tabLst>
            </a:pPr>
            <a:r>
              <a:rPr sz="1900" dirty="0">
                <a:latin typeface="Arial MT"/>
                <a:cs typeface="Arial MT"/>
              </a:rPr>
              <a:t>Simply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frequencies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data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3116132"/>
            <a:ext cx="3924935" cy="691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900" dirty="0">
                <a:latin typeface="Arial MT"/>
                <a:cs typeface="Arial MT"/>
              </a:rPr>
              <a:t>Create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mega-</a:t>
            </a:r>
            <a:r>
              <a:rPr sz="1900" dirty="0">
                <a:latin typeface="Arial MT"/>
                <a:cs typeface="Arial MT"/>
              </a:rPr>
              <a:t>document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topic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j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by </a:t>
            </a:r>
            <a:r>
              <a:rPr sz="1900" spc="-10" dirty="0">
                <a:latin typeface="Arial MT"/>
                <a:cs typeface="Arial MT"/>
              </a:rPr>
              <a:t>concatenating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all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docs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in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this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topic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2041" y="1413349"/>
            <a:ext cx="2844476" cy="17236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158675" y="3290696"/>
            <a:ext cx="25082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Arial MT"/>
                <a:cs typeface="Arial MT"/>
              </a:rPr>
              <a:t>#times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word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w</a:t>
            </a:r>
            <a:r>
              <a:rPr sz="1300" spc="1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appears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among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spc="-25" dirty="0">
                <a:latin typeface="Arial MT"/>
                <a:cs typeface="Arial MT"/>
              </a:rPr>
              <a:t>all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158675" y="3407642"/>
            <a:ext cx="2199640" cy="304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31750" algn="ctr">
              <a:lnSpc>
                <a:spcPts val="819"/>
              </a:lnSpc>
              <a:spcBef>
                <a:spcPts val="114"/>
              </a:spcBef>
            </a:pPr>
            <a:r>
              <a:rPr sz="850" spc="-50" dirty="0">
                <a:latin typeface="Arial MT"/>
                <a:cs typeface="Arial MT"/>
              </a:rPr>
              <a:t>i</a:t>
            </a:r>
            <a:endParaRPr sz="850">
              <a:latin typeface="Arial MT"/>
              <a:cs typeface="Arial MT"/>
            </a:endParaRPr>
          </a:p>
          <a:p>
            <a:pPr algn="ctr">
              <a:lnSpc>
                <a:spcPts val="1360"/>
              </a:lnSpc>
            </a:pPr>
            <a:r>
              <a:rPr sz="1300" dirty="0">
                <a:latin typeface="Arial MT"/>
                <a:cs typeface="Arial MT"/>
              </a:rPr>
              <a:t>words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documents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of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topic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50" dirty="0">
                <a:latin typeface="Arial MT"/>
                <a:cs typeface="Arial MT"/>
              </a:rPr>
              <a:t>c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80970">
              <a:lnSpc>
                <a:spcPct val="100000"/>
              </a:lnSpc>
              <a:spcBef>
                <a:spcPts val="100"/>
              </a:spcBef>
            </a:pPr>
            <a:r>
              <a:rPr sz="3150" dirty="0"/>
              <a:t>Problem</a:t>
            </a:r>
            <a:r>
              <a:rPr sz="3150" spc="-15" dirty="0"/>
              <a:t> </a:t>
            </a:r>
            <a:r>
              <a:rPr sz="3150" dirty="0"/>
              <a:t>with</a:t>
            </a:r>
            <a:r>
              <a:rPr sz="3150" spc="-10" dirty="0"/>
              <a:t> </a:t>
            </a:r>
            <a:r>
              <a:rPr sz="3150" spc="-25" dirty="0"/>
              <a:t>MLE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160949" y="686368"/>
            <a:ext cx="8096884" cy="726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documents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fantastic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classified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topic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positive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(thumbs-</a:t>
            </a:r>
            <a:r>
              <a:rPr sz="2000" spc="-20" dirty="0">
                <a:latin typeface="Arial MT"/>
                <a:cs typeface="Arial MT"/>
              </a:rPr>
              <a:t>up)?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2800156"/>
            <a:ext cx="86137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Zero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probabilities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cannot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conditioned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away,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matter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other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evidence!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1800" y="1728250"/>
            <a:ext cx="5665351" cy="843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7625" y="3320575"/>
            <a:ext cx="4348749" cy="5378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00"/>
              </a:spcBef>
            </a:pPr>
            <a:r>
              <a:rPr sz="3300" dirty="0"/>
              <a:t>Laplace</a:t>
            </a:r>
            <a:r>
              <a:rPr sz="3300" spc="-95" dirty="0"/>
              <a:t> </a:t>
            </a:r>
            <a:r>
              <a:rPr sz="3300" spc="-25" dirty="0"/>
              <a:t>(add-</a:t>
            </a:r>
            <a:r>
              <a:rPr sz="3300" dirty="0"/>
              <a:t>1)</a:t>
            </a:r>
            <a:r>
              <a:rPr sz="3300" spc="-90" dirty="0"/>
              <a:t> </a:t>
            </a:r>
            <a:r>
              <a:rPr sz="3300" dirty="0"/>
              <a:t>smoothing</a:t>
            </a:r>
            <a:r>
              <a:rPr sz="3300" spc="-90" dirty="0"/>
              <a:t> </a:t>
            </a:r>
            <a:r>
              <a:rPr sz="3300" dirty="0"/>
              <a:t>for</a:t>
            </a:r>
            <a:r>
              <a:rPr sz="3300" spc="-90" dirty="0"/>
              <a:t> </a:t>
            </a:r>
            <a:r>
              <a:rPr sz="3300" dirty="0"/>
              <a:t>Naïve</a:t>
            </a:r>
            <a:r>
              <a:rPr sz="3300" spc="-90" dirty="0"/>
              <a:t> </a:t>
            </a:r>
            <a:r>
              <a:rPr sz="3300" spc="-10" dirty="0"/>
              <a:t>Bayes</a:t>
            </a:r>
            <a:endParaRPr sz="3300"/>
          </a:p>
        </p:txBody>
      </p:sp>
      <p:sp>
        <p:nvSpPr>
          <p:cNvPr id="3" name="object 3"/>
          <p:cNvSpPr txBox="1"/>
          <p:nvPr/>
        </p:nvSpPr>
        <p:spPr>
          <a:xfrm>
            <a:off x="160949" y="732090"/>
            <a:ext cx="6459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simplest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solution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add-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(Laplace)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smoothing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0949" y="2789489"/>
            <a:ext cx="878205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about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occur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our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3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but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our </a:t>
            </a:r>
            <a:r>
              <a:rPr sz="2000" dirty="0">
                <a:latin typeface="Arial MT"/>
                <a:cs typeface="Arial MT"/>
              </a:rPr>
              <a:t>vocabulary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did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occur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any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</a:t>
            </a:r>
            <a:r>
              <a:rPr sz="2000" spc="10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document</a:t>
            </a:r>
            <a:r>
              <a:rPr sz="2000" spc="9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any </a:t>
            </a:r>
            <a:r>
              <a:rPr sz="2000" spc="-10" dirty="0">
                <a:latin typeface="Arial MT"/>
                <a:cs typeface="Arial MT"/>
              </a:rPr>
              <a:t>class?</a:t>
            </a:r>
            <a:endParaRPr sz="2000">
              <a:latin typeface="Arial MT"/>
              <a:cs typeface="Arial MT"/>
            </a:endParaRPr>
          </a:p>
          <a:p>
            <a:pPr marL="466725" indent="-379095" algn="just">
              <a:lnSpc>
                <a:spcPct val="100000"/>
              </a:lnSpc>
              <a:spcBef>
                <a:spcPts val="360"/>
              </a:spcBef>
              <a:buChar char="●"/>
              <a:tabLst>
                <a:tab pos="466725" algn="l"/>
              </a:tabLst>
            </a:pPr>
            <a:r>
              <a:rPr sz="2000" dirty="0">
                <a:latin typeface="Arial MT"/>
                <a:cs typeface="Arial MT"/>
              </a:rPr>
              <a:t>Remove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document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324" y="1423550"/>
            <a:ext cx="7772999" cy="79559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781" rIns="0" bIns="0" rtlCol="0">
            <a:spAutoFit/>
          </a:bodyPr>
          <a:lstStyle/>
          <a:p>
            <a:pPr marL="3470910">
              <a:lnSpc>
                <a:spcPct val="100000"/>
              </a:lnSpc>
              <a:spcBef>
                <a:spcPts val="120"/>
              </a:spcBef>
            </a:pPr>
            <a:r>
              <a:rPr sz="2500" dirty="0"/>
              <a:t>Stop</a:t>
            </a:r>
            <a:r>
              <a:rPr sz="2500" spc="-15" dirty="0"/>
              <a:t> </a:t>
            </a:r>
            <a:r>
              <a:rPr sz="2500" spc="-10" dirty="0"/>
              <a:t>Words</a:t>
            </a:r>
            <a:endParaRPr sz="25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60949" y="686370"/>
            <a:ext cx="8707755" cy="38811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000" dirty="0">
                <a:latin typeface="Arial MT"/>
                <a:cs typeface="Arial MT"/>
              </a:rPr>
              <a:t>Some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ignore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words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frequent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like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“the”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“a”</a:t>
            </a:r>
            <a:endParaRPr sz="2000">
              <a:latin typeface="Arial MT"/>
              <a:cs typeface="Arial M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Sort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vocabulary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frequency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set</a:t>
            </a:r>
            <a:endParaRPr sz="2000">
              <a:latin typeface="Arial MT"/>
              <a:cs typeface="Arial M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Call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50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stopword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list</a:t>
            </a:r>
            <a:endParaRPr sz="2000">
              <a:latin typeface="Arial MT"/>
              <a:cs typeface="Arial M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Remove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both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training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test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sets</a:t>
            </a:r>
            <a:endParaRPr sz="2000">
              <a:latin typeface="Arial MT"/>
              <a:cs typeface="Arial MT"/>
            </a:endParaRPr>
          </a:p>
          <a:p>
            <a:pPr marL="469265" indent="-381635">
              <a:lnSpc>
                <a:spcPct val="100000"/>
              </a:lnSpc>
              <a:spcBef>
                <a:spcPts val="359"/>
              </a:spcBef>
              <a:buChar char="●"/>
              <a:tabLst>
                <a:tab pos="469265" algn="l"/>
              </a:tabLst>
            </a:pP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never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there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●"/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 MT"/>
              <a:buChar char="●"/>
            </a:pP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But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removing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stop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does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usually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help</a:t>
            </a:r>
            <a:endParaRPr sz="2000">
              <a:latin typeface="Arial MT"/>
              <a:cs typeface="Arial MT"/>
            </a:endParaRPr>
          </a:p>
          <a:p>
            <a:pPr marL="469900" marR="5080" indent="-38227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So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practice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most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NB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algorithms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all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words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stopword lists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54502" y="1553043"/>
            <a:ext cx="5835015" cy="165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775335">
              <a:lnSpc>
                <a:spcPts val="6530"/>
              </a:lnSpc>
            </a:pPr>
            <a:r>
              <a:rPr sz="5200" dirty="0"/>
              <a:t>Sentiment</a:t>
            </a:r>
            <a:r>
              <a:rPr sz="5200" spc="-60" dirty="0"/>
              <a:t> </a:t>
            </a:r>
            <a:r>
              <a:rPr sz="5200" spc="-25" dirty="0"/>
              <a:t>and </a:t>
            </a:r>
            <a:r>
              <a:rPr sz="5200" dirty="0"/>
              <a:t>Binary</a:t>
            </a:r>
            <a:r>
              <a:rPr sz="5200" spc="-25" dirty="0"/>
              <a:t> </a:t>
            </a:r>
            <a:r>
              <a:rPr sz="5200" dirty="0"/>
              <a:t>Na</a:t>
            </a:r>
            <a:r>
              <a:rPr sz="5500" dirty="0"/>
              <a:t>ï</a:t>
            </a:r>
            <a:r>
              <a:rPr sz="5200" dirty="0"/>
              <a:t>ve</a:t>
            </a:r>
            <a:r>
              <a:rPr sz="5200" spc="-15" dirty="0"/>
              <a:t> </a:t>
            </a:r>
            <a:r>
              <a:rPr sz="5200" spc="-10" dirty="0"/>
              <a:t>Bayes</a:t>
            </a:r>
            <a:endParaRPr sz="5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08" rIns="0" bIns="0" rtlCol="0">
            <a:spAutoFit/>
          </a:bodyPr>
          <a:lstStyle/>
          <a:p>
            <a:pPr marL="3472179">
              <a:lnSpc>
                <a:spcPct val="100000"/>
              </a:lnSpc>
              <a:spcBef>
                <a:spcPts val="130"/>
              </a:spcBef>
            </a:pPr>
            <a:r>
              <a:rPr sz="2400" dirty="0"/>
              <a:t>An</a:t>
            </a:r>
            <a:r>
              <a:rPr sz="2400" spc="25" dirty="0"/>
              <a:t> </a:t>
            </a:r>
            <a:r>
              <a:rPr sz="2400" spc="-10" dirty="0"/>
              <a:t>Example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78475" y="2779772"/>
            <a:ext cx="8390255" cy="1391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Let’s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walk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example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training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testing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naïve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Bayes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add-</a:t>
            </a:r>
            <a:r>
              <a:rPr sz="1600" dirty="0">
                <a:latin typeface="Arial MT"/>
                <a:cs typeface="Arial MT"/>
              </a:rPr>
              <a:t>one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smoothing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ct val="229999"/>
              </a:lnSpc>
            </a:pPr>
            <a:r>
              <a:rPr sz="1600" dirty="0">
                <a:latin typeface="Arial MT"/>
                <a:cs typeface="Arial MT"/>
              </a:rPr>
              <a:t>We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will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sentiment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analysis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domain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two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classes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positive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(+)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negative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(-</a:t>
            </a:r>
            <a:r>
              <a:rPr sz="1600" spc="-50" dirty="0">
                <a:latin typeface="Arial MT"/>
                <a:cs typeface="Arial MT"/>
              </a:rPr>
              <a:t>) </a:t>
            </a:r>
            <a:r>
              <a:rPr sz="1600" spc="-30" dirty="0">
                <a:latin typeface="Arial MT"/>
                <a:cs typeface="Arial MT"/>
              </a:rPr>
              <a:t>Take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following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miniature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training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test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documents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simplified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actual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movie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reviews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450" y="826999"/>
            <a:ext cx="3767124" cy="153070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08" rIns="0" bIns="0" rtlCol="0">
            <a:spAutoFit/>
          </a:bodyPr>
          <a:lstStyle/>
          <a:p>
            <a:pPr marL="3472179">
              <a:lnSpc>
                <a:spcPct val="100000"/>
              </a:lnSpc>
              <a:spcBef>
                <a:spcPts val="130"/>
              </a:spcBef>
            </a:pPr>
            <a:r>
              <a:rPr sz="2400" dirty="0"/>
              <a:t>An</a:t>
            </a:r>
            <a:r>
              <a:rPr sz="2400" spc="25" dirty="0"/>
              <a:t> </a:t>
            </a:r>
            <a:r>
              <a:rPr sz="2400" spc="-10" dirty="0"/>
              <a:t>Example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2688450" y="826999"/>
            <a:ext cx="3767454" cy="1558925"/>
            <a:chOff x="2688450" y="826999"/>
            <a:chExt cx="3767454" cy="1558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8450" y="826999"/>
              <a:ext cx="3767124" cy="153070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648212" y="2168674"/>
              <a:ext cx="313690" cy="202565"/>
            </a:xfrm>
            <a:custGeom>
              <a:avLst/>
              <a:gdLst/>
              <a:ahLst/>
              <a:cxnLst/>
              <a:rect l="l" t="t" r="r" b="b"/>
              <a:pathLst>
                <a:path w="313689" h="202564">
                  <a:moveTo>
                    <a:pt x="20737" y="0"/>
                  </a:moveTo>
                  <a:lnTo>
                    <a:pt x="264937" y="202499"/>
                  </a:lnTo>
                </a:path>
                <a:path w="313689" h="202564">
                  <a:moveTo>
                    <a:pt x="313199" y="8699"/>
                  </a:moveTo>
                  <a:lnTo>
                    <a:pt x="0" y="193799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100" y="2616774"/>
            <a:ext cx="2980098" cy="95505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33838" y="2571746"/>
            <a:ext cx="4426162" cy="215910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825" y="4082787"/>
            <a:ext cx="2263674" cy="415261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5508" rIns="0" bIns="0" rtlCol="0">
            <a:spAutoFit/>
          </a:bodyPr>
          <a:lstStyle/>
          <a:p>
            <a:pPr marL="3472179">
              <a:lnSpc>
                <a:spcPct val="100000"/>
              </a:lnSpc>
              <a:spcBef>
                <a:spcPts val="130"/>
              </a:spcBef>
            </a:pPr>
            <a:r>
              <a:rPr sz="2400" dirty="0"/>
              <a:t>An</a:t>
            </a:r>
            <a:r>
              <a:rPr sz="2400" spc="25" dirty="0"/>
              <a:t> </a:t>
            </a:r>
            <a:r>
              <a:rPr sz="2400" spc="-10" dirty="0"/>
              <a:t>Example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2688450" y="826999"/>
            <a:ext cx="3767454" cy="1558925"/>
            <a:chOff x="2688450" y="826999"/>
            <a:chExt cx="3767454" cy="15589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88450" y="826999"/>
              <a:ext cx="3767124" cy="153070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48212" y="2168674"/>
              <a:ext cx="313690" cy="202565"/>
            </a:xfrm>
            <a:custGeom>
              <a:avLst/>
              <a:gdLst/>
              <a:ahLst/>
              <a:cxnLst/>
              <a:rect l="l" t="t" r="r" b="b"/>
              <a:pathLst>
                <a:path w="313689" h="202564">
                  <a:moveTo>
                    <a:pt x="20737" y="0"/>
                  </a:moveTo>
                  <a:lnTo>
                    <a:pt x="264937" y="202499"/>
                  </a:lnTo>
                </a:path>
                <a:path w="313689" h="202564">
                  <a:moveTo>
                    <a:pt x="313199" y="8699"/>
                  </a:moveTo>
                  <a:lnTo>
                    <a:pt x="0" y="193799"/>
                  </a:lnTo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149" y="3529050"/>
            <a:ext cx="4897351" cy="1460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9325" y="2756675"/>
            <a:ext cx="1846345" cy="4337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12899" y="2803552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82575" y="2434027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900" y="4178777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4950" y="2926627"/>
            <a:ext cx="167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0000FF"/>
                </a:solidFill>
                <a:latin typeface="Arial MT"/>
                <a:cs typeface="Arial MT"/>
              </a:rPr>
              <a:t>4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0926" y="3371462"/>
            <a:ext cx="3512896" cy="91888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34" rIns="0" bIns="0" rtlCol="0">
            <a:spAutoFit/>
          </a:bodyPr>
          <a:lstStyle/>
          <a:p>
            <a:pPr marL="1551305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Naïve</a:t>
            </a:r>
            <a:r>
              <a:rPr sz="2600" spc="-100" dirty="0"/>
              <a:t> </a:t>
            </a:r>
            <a:r>
              <a:rPr sz="2600" dirty="0"/>
              <a:t>Bayes</a:t>
            </a:r>
            <a:r>
              <a:rPr sz="2600" spc="-95" dirty="0"/>
              <a:t> </a:t>
            </a:r>
            <a:r>
              <a:rPr sz="2600" dirty="0"/>
              <a:t>and</a:t>
            </a:r>
            <a:r>
              <a:rPr sz="2600" spc="-95" dirty="0"/>
              <a:t> </a:t>
            </a:r>
            <a:r>
              <a:rPr sz="2600" dirty="0"/>
              <a:t>Language</a:t>
            </a:r>
            <a:r>
              <a:rPr sz="2600" spc="-95" dirty="0"/>
              <a:t> </a:t>
            </a:r>
            <a:r>
              <a:rPr sz="2600" spc="-10" dirty="0"/>
              <a:t>Modeling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160949" y="691958"/>
            <a:ext cx="8707755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text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(not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subset),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Naïve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Bayes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important </a:t>
            </a:r>
            <a:r>
              <a:rPr sz="1800" dirty="0">
                <a:latin typeface="Arial MT"/>
                <a:cs typeface="Arial MT"/>
              </a:rPr>
              <a:t>similarity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modeling</a:t>
            </a:r>
            <a:endParaRPr sz="1800">
              <a:latin typeface="Arial MT"/>
              <a:cs typeface="Arial MT"/>
            </a:endParaRPr>
          </a:p>
          <a:p>
            <a:pPr marL="12700" marR="3965575">
              <a:lnSpc>
                <a:spcPct val="114999"/>
              </a:lnSpc>
            </a:pP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class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unigram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language</a:t>
            </a:r>
            <a:r>
              <a:rPr sz="1800" spc="-10" dirty="0">
                <a:latin typeface="Arial MT"/>
                <a:cs typeface="Arial MT"/>
              </a:rPr>
              <a:t> model </a:t>
            </a:r>
            <a:r>
              <a:rPr sz="1800" dirty="0">
                <a:latin typeface="Arial MT"/>
                <a:cs typeface="Arial MT"/>
              </a:rPr>
              <a:t>Assigning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sentence: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P(s|c)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=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05" dirty="0">
                <a:latin typeface="Arial MT"/>
                <a:cs typeface="Arial MT"/>
              </a:rPr>
              <a:t>Π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P(word|c)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575" y="2314649"/>
            <a:ext cx="2073511" cy="2238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3820" y="2571756"/>
            <a:ext cx="3522729" cy="72825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6950" y="3637475"/>
            <a:ext cx="1954712" cy="22968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34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Naïve</a:t>
            </a:r>
            <a:r>
              <a:rPr sz="2600" spc="-80" dirty="0"/>
              <a:t> </a:t>
            </a:r>
            <a:r>
              <a:rPr sz="2600" dirty="0"/>
              <a:t>Bayes</a:t>
            </a:r>
            <a:r>
              <a:rPr sz="2600" spc="-75" dirty="0"/>
              <a:t> </a:t>
            </a:r>
            <a:r>
              <a:rPr sz="2600" dirty="0"/>
              <a:t>as</a:t>
            </a:r>
            <a:r>
              <a:rPr sz="2600" spc="-75" dirty="0"/>
              <a:t> </a:t>
            </a:r>
            <a:r>
              <a:rPr sz="2600" dirty="0"/>
              <a:t>a</a:t>
            </a:r>
            <a:r>
              <a:rPr sz="2600" spc="-75" dirty="0"/>
              <a:t> </a:t>
            </a:r>
            <a:r>
              <a:rPr sz="2600" dirty="0"/>
              <a:t>Language</a:t>
            </a:r>
            <a:r>
              <a:rPr sz="2600" spc="-75" dirty="0"/>
              <a:t> </a:t>
            </a:r>
            <a:r>
              <a:rPr sz="2600" spc="-10" dirty="0"/>
              <a:t>Model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160949" y="729041"/>
            <a:ext cx="69608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assigns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higher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probability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s?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575" y="1779125"/>
            <a:ext cx="4046251" cy="286934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864412" y="1868099"/>
            <a:ext cx="3968750" cy="875030"/>
            <a:chOff x="4864412" y="1868099"/>
            <a:chExt cx="3968750" cy="87503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4770" y="1868099"/>
              <a:ext cx="3948230" cy="8187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69174" y="2165149"/>
              <a:ext cx="3900804" cy="572770"/>
            </a:xfrm>
            <a:custGeom>
              <a:avLst/>
              <a:gdLst/>
              <a:ahLst/>
              <a:cxnLst/>
              <a:rect l="l" t="t" r="r" b="b"/>
              <a:pathLst>
                <a:path w="3900804" h="572769">
                  <a:moveTo>
                    <a:pt x="3900599" y="572699"/>
                  </a:moveTo>
                  <a:lnTo>
                    <a:pt x="0" y="572699"/>
                  </a:lnTo>
                  <a:lnTo>
                    <a:pt x="0" y="0"/>
                  </a:lnTo>
                  <a:lnTo>
                    <a:pt x="3900599" y="0"/>
                  </a:lnTo>
                  <a:lnTo>
                    <a:pt x="3900599" y="572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869174" y="2165149"/>
              <a:ext cx="3900804" cy="572770"/>
            </a:xfrm>
            <a:custGeom>
              <a:avLst/>
              <a:gdLst/>
              <a:ahLst/>
              <a:cxnLst/>
              <a:rect l="l" t="t" r="r" b="b"/>
              <a:pathLst>
                <a:path w="3900804" h="572769">
                  <a:moveTo>
                    <a:pt x="0" y="0"/>
                  </a:moveTo>
                  <a:lnTo>
                    <a:pt x="3900599" y="0"/>
                  </a:lnTo>
                  <a:lnTo>
                    <a:pt x="3900599" y="572699"/>
                  </a:lnTo>
                  <a:lnTo>
                    <a:pt x="0" y="572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834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0"/>
              </a:spcBef>
            </a:pPr>
            <a:r>
              <a:rPr sz="2600" dirty="0"/>
              <a:t>Naïve</a:t>
            </a:r>
            <a:r>
              <a:rPr sz="2600" spc="-80" dirty="0"/>
              <a:t> </a:t>
            </a:r>
            <a:r>
              <a:rPr sz="2600" dirty="0"/>
              <a:t>Bayes</a:t>
            </a:r>
            <a:r>
              <a:rPr sz="2600" spc="-75" dirty="0"/>
              <a:t> </a:t>
            </a:r>
            <a:r>
              <a:rPr sz="2600" dirty="0"/>
              <a:t>as</a:t>
            </a:r>
            <a:r>
              <a:rPr sz="2600" spc="-75" dirty="0"/>
              <a:t> </a:t>
            </a:r>
            <a:r>
              <a:rPr sz="2600" dirty="0"/>
              <a:t>a</a:t>
            </a:r>
            <a:r>
              <a:rPr sz="2600" spc="-75" dirty="0"/>
              <a:t> </a:t>
            </a:r>
            <a:r>
              <a:rPr sz="2600" dirty="0"/>
              <a:t>Language</a:t>
            </a:r>
            <a:r>
              <a:rPr sz="2600" spc="-75" dirty="0"/>
              <a:t> </a:t>
            </a:r>
            <a:r>
              <a:rPr sz="2600" spc="-10" dirty="0"/>
              <a:t>Model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160949" y="729041"/>
            <a:ext cx="69608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 MT"/>
                <a:cs typeface="Arial MT"/>
              </a:rPr>
              <a:t>Which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assigns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higher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probability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s?</a:t>
            </a:r>
            <a:endParaRPr sz="2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575" y="1779125"/>
            <a:ext cx="4046251" cy="2869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4770" y="1868099"/>
            <a:ext cx="3948230" cy="818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60400" y="3032849"/>
            <a:ext cx="2562116" cy="7900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56975" y="4108625"/>
            <a:ext cx="2358487" cy="3530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EA04D33E482A4BA12D40215DDD827E" ma:contentTypeVersion="3" ma:contentTypeDescription="Create a new document." ma:contentTypeScope="" ma:versionID="dbcfff18694569661796f1ccd994738f">
  <xsd:schema xmlns:xsd="http://www.w3.org/2001/XMLSchema" xmlns:xs="http://www.w3.org/2001/XMLSchema" xmlns:p="http://schemas.microsoft.com/office/2006/metadata/properties" xmlns:ns2="6ccbcca3-9c48-4d51-affd-7f500234a31c" targetNamespace="http://schemas.microsoft.com/office/2006/metadata/properties" ma:root="true" ma:fieldsID="7c1a1658f5b2498d87a9b8295f17185d" ns2:_="">
    <xsd:import namespace="6ccbcca3-9c48-4d51-affd-7f500234a3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cbcca3-9c48-4d51-affd-7f500234a3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8CAC31E-4735-4851-930E-C4B2F734C763}"/>
</file>

<file path=customXml/itemProps2.xml><?xml version="1.0" encoding="utf-8"?>
<ds:datastoreItem xmlns:ds="http://schemas.openxmlformats.org/officeDocument/2006/customXml" ds:itemID="{4346AFFE-CC56-4461-8F16-972307335083}"/>
</file>

<file path=customXml/itemProps3.xml><?xml version="1.0" encoding="utf-8"?>
<ds:datastoreItem xmlns:ds="http://schemas.openxmlformats.org/officeDocument/2006/customXml" ds:itemID="{3F8CB467-D84F-46D6-BDFE-3937623D3A87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1295</Words>
  <Application>Microsoft Office PowerPoint</Application>
  <PresentationFormat>On-screen Show (16:9)</PresentationFormat>
  <Paragraphs>190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MS PGothic</vt:lpstr>
      <vt:lpstr>Arial</vt:lpstr>
      <vt:lpstr>Arial MT</vt:lpstr>
      <vt:lpstr>Office Theme</vt:lpstr>
      <vt:lpstr>Natural Language Processing</vt:lpstr>
      <vt:lpstr>Text Classification</vt:lpstr>
      <vt:lpstr>Text Classification</vt:lpstr>
      <vt:lpstr>Positive or Negative Movie Review?</vt:lpstr>
      <vt:lpstr>Simple Sentiment Analysis: Binary Classification, Positive or Negative</vt:lpstr>
      <vt:lpstr>Why Sentiment Analysis?</vt:lpstr>
      <vt:lpstr>Text Classification: Definition</vt:lpstr>
      <vt:lpstr>Classification Methods: Hand-coded Rules</vt:lpstr>
      <vt:lpstr>Classification Methods: Supervised Machine Learning</vt:lpstr>
      <vt:lpstr>Classification Methods: Supervised Machine Learning</vt:lpstr>
      <vt:lpstr>Naïve Bayes Classifier</vt:lpstr>
      <vt:lpstr>Naïve Bayes Classifier</vt:lpstr>
      <vt:lpstr>Bag of Words Representation</vt:lpstr>
      <vt:lpstr>Bag of Words Representation</vt:lpstr>
      <vt:lpstr>Bag of Words Representation</vt:lpstr>
      <vt:lpstr>Bayes’ Rule Applied to Documents and Classes</vt:lpstr>
      <vt:lpstr>Naïve Bayes Classifier</vt:lpstr>
      <vt:lpstr>Multinomial Naïve Bayes Independence Assumptions</vt:lpstr>
      <vt:lpstr>Training Naïve Bayes Classifier</vt:lpstr>
      <vt:lpstr>Maximum Likelihood Estimates</vt:lpstr>
      <vt:lpstr>Problem with MLE</vt:lpstr>
      <vt:lpstr>Laplace (add-1) smoothing for Naïve Bayes</vt:lpstr>
      <vt:lpstr>Stop Words</vt:lpstr>
      <vt:lpstr>Sentiment and Binary Naïve Bayes</vt:lpstr>
      <vt:lpstr>An Example</vt:lpstr>
      <vt:lpstr>An Example</vt:lpstr>
      <vt:lpstr>An Example</vt:lpstr>
      <vt:lpstr>Naïve Bayes and Language Modeling</vt:lpstr>
      <vt:lpstr>Naïve Bayes as a Language Model</vt:lpstr>
      <vt:lpstr>Naïve Bayes as a Language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-- Session 6 - Naïve Bayes and Sentiment Classification.pptx</dc:title>
  <dc:creator>Pc</dc:creator>
  <cp:lastModifiedBy>Dr</cp:lastModifiedBy>
  <cp:revision>3</cp:revision>
  <dcterms:created xsi:type="dcterms:W3CDTF">2026-04-06T14:53:19Z</dcterms:created>
  <dcterms:modified xsi:type="dcterms:W3CDTF">2026-04-07T11:46:10Z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Google</vt:lpwstr>
  </property>
  <property fmtid="{D5CDD505-2E9C-101B-9397-08002B2CF9AE}" pid="4" name="LastSaved">
    <vt:filetime>2026-04-06T00:00:00Z</vt:filetime>
  </property>
  <property fmtid="{D5CDD505-2E9C-101B-9397-08002B2CF9AE}" pid="5" name="ContentTypeId">
    <vt:lpwstr>0x010100E0EA04D33E482A4BA12D40215DDD827E</vt:lpwstr>
  </property>
</Properties>
</file>