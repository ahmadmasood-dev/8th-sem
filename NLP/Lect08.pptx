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66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80" r:id="rId16"/>
    <p:sldId id="281" r:id="rId17"/>
    <p:sldId id="282" r:id="rId18"/>
    <p:sldId id="283" r:id="rId19"/>
    <p:sldId id="285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89" d="100"/>
          <a:sy n="89" d="100"/>
        </p:scale>
        <p:origin x="102" y="123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29179" y="60223"/>
            <a:ext cx="6285641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9984" y="58547"/>
            <a:ext cx="6944030" cy="459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4825" y="2106230"/>
            <a:ext cx="6524625" cy="1287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P16-1162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nks.nl/stopword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141" y="1359903"/>
            <a:ext cx="822134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Natural</a:t>
            </a:r>
            <a:r>
              <a:rPr sz="4900" spc="-120" dirty="0"/>
              <a:t> </a:t>
            </a:r>
            <a:r>
              <a:rPr sz="4900" dirty="0"/>
              <a:t>Language</a:t>
            </a:r>
            <a:r>
              <a:rPr sz="4900" spc="-114" dirty="0"/>
              <a:t> </a:t>
            </a:r>
            <a:r>
              <a:rPr sz="4900" spc="-10" dirty="0"/>
              <a:t>Processing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2221680" y="2849400"/>
            <a:ext cx="4699000" cy="17761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Session</a:t>
            </a:r>
            <a:r>
              <a:rPr sz="1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4: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Tokenization</a:t>
            </a:r>
            <a:r>
              <a:rPr sz="19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9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Stemming</a:t>
            </a:r>
            <a:endParaRPr sz="1950" dirty="0">
              <a:latin typeface="Arial"/>
              <a:cs typeface="Arial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Instructor: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950" spc="-30" dirty="0" err="1" smtClean="0">
                <a:solidFill>
                  <a:srgbClr val="FFFFFF"/>
                </a:solidFill>
                <a:latin typeface="Arial MT"/>
                <a:cs typeface="Arial MT"/>
              </a:rPr>
              <a:t>Dr.Nadia</a:t>
            </a:r>
            <a:r>
              <a:rPr lang="en-US" sz="1950" spc="-30" dirty="0" smtClean="0">
                <a:solidFill>
                  <a:srgbClr val="FFFFFF"/>
                </a:solidFill>
                <a:latin typeface="Arial MT"/>
                <a:cs typeface="Arial MT"/>
              </a:rPr>
              <a:t> Saeed</a:t>
            </a: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Spring</a:t>
            </a:r>
            <a:r>
              <a:rPr sz="1950" spc="-3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en-US" sz="1950" spc="-20" dirty="0" smtClean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lang="en-US"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Quaid-I-</a:t>
            </a:r>
            <a:r>
              <a:rPr lang="en-US" sz="1950" spc="-20" dirty="0" err="1" smtClean="0">
                <a:solidFill>
                  <a:srgbClr val="FFFFFF"/>
                </a:solidFill>
                <a:latin typeface="Arial MT"/>
                <a:cs typeface="Arial MT"/>
              </a:rPr>
              <a:t>Azam</a:t>
            </a:r>
            <a:r>
              <a:rPr lang="en-US"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235835">
              <a:lnSpc>
                <a:spcPct val="100000"/>
              </a:lnSpc>
              <a:spcBef>
                <a:spcPts val="120"/>
              </a:spcBef>
            </a:pPr>
            <a:r>
              <a:rPr dirty="0"/>
              <a:t>Previous </a:t>
            </a:r>
            <a:r>
              <a:rPr spc="-10" dirty="0"/>
              <a:t>Session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733104"/>
            <a:ext cx="4304030" cy="217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previous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session,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about:</a:t>
            </a:r>
            <a:endParaRPr sz="1800" dirty="0">
              <a:latin typeface="Arial MT"/>
              <a:cs typeface="Arial MT"/>
            </a:endParaRPr>
          </a:p>
          <a:p>
            <a:pPr marL="469900" marR="1717039">
              <a:lnSpc>
                <a:spcPct val="170600"/>
              </a:lnSpc>
            </a:pPr>
            <a:r>
              <a:rPr sz="1800" dirty="0">
                <a:latin typeface="Arial MT"/>
                <a:cs typeface="Arial MT"/>
              </a:rPr>
              <a:t>Regular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Expressions </a:t>
            </a: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Corpora </a:t>
            </a:r>
            <a:r>
              <a:rPr sz="1800" spc="-35" dirty="0">
                <a:latin typeface="Arial MT"/>
                <a:cs typeface="Arial MT"/>
              </a:rPr>
              <a:t>Text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Normalization </a:t>
            </a:r>
            <a:r>
              <a:rPr sz="1800" dirty="0">
                <a:latin typeface="Arial MT"/>
                <a:cs typeface="Arial MT"/>
              </a:rPr>
              <a:t>String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Edit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Distance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1191000"/>
            <a:ext cx="331800" cy="331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1646750"/>
            <a:ext cx="331800" cy="331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2141100"/>
            <a:ext cx="331800" cy="331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749" y="2635450"/>
            <a:ext cx="331800" cy="3318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943004" y="4854767"/>
            <a:ext cx="9652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3839" y="1972144"/>
            <a:ext cx="369570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75" dirty="0"/>
              <a:t>T</a:t>
            </a:r>
            <a:r>
              <a:rPr sz="5200" dirty="0"/>
              <a:t>okenization</a:t>
            </a:r>
            <a:endParaRPr sz="5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71955">
              <a:lnSpc>
                <a:spcPct val="100000"/>
              </a:lnSpc>
              <a:spcBef>
                <a:spcPts val="120"/>
              </a:spcBef>
            </a:pPr>
            <a:r>
              <a:rPr spc="-20" dirty="0"/>
              <a:t>Word-</a:t>
            </a:r>
            <a:r>
              <a:rPr dirty="0"/>
              <a:t>based</a:t>
            </a:r>
            <a:r>
              <a:rPr spc="-3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89163"/>
            <a:ext cx="7805420" cy="368871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900" spc="-10" dirty="0">
                <a:solidFill>
                  <a:srgbClr val="0000FF"/>
                </a:solidFill>
                <a:latin typeface="Times New Roman"/>
                <a:cs typeface="Times New Roman"/>
              </a:rPr>
              <a:t>Approach</a:t>
            </a:r>
            <a:endParaRPr sz="1900">
              <a:latin typeface="Times New Roman"/>
              <a:cs typeface="Times New Roman"/>
            </a:endParaRPr>
          </a:p>
          <a:p>
            <a:pPr marL="469265" indent="-37401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Splitting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text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spaces</a:t>
            </a:r>
            <a:endParaRPr sz="1900">
              <a:latin typeface="Times New Roman"/>
              <a:cs typeface="Times New Roman"/>
            </a:endParaRPr>
          </a:p>
          <a:p>
            <a:pPr marL="12700" marR="2604135" indent="456565">
              <a:lnSpc>
                <a:spcPct val="114999"/>
              </a:lnSpc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Other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delimiters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such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punctuation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used </a:t>
            </a:r>
            <a:r>
              <a:rPr sz="1900" spc="-10" dirty="0">
                <a:solidFill>
                  <a:srgbClr val="0000FF"/>
                </a:solidFill>
                <a:latin typeface="Times New Roman"/>
                <a:cs typeface="Times New Roman"/>
              </a:rPr>
              <a:t>Advantages</a:t>
            </a:r>
            <a:endParaRPr sz="1900">
              <a:latin typeface="Times New Roman"/>
              <a:cs typeface="Times New Roman"/>
            </a:endParaRPr>
          </a:p>
          <a:p>
            <a:pPr marL="12700" marR="5519420" indent="456565">
              <a:lnSpc>
                <a:spcPct val="114999"/>
              </a:lnSpc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Easy to </a:t>
            </a:r>
            <a:r>
              <a:rPr sz="1900" spc="-10" dirty="0">
                <a:latin typeface="Times New Roman"/>
                <a:cs typeface="Times New Roman"/>
              </a:rPr>
              <a:t>implement </a:t>
            </a:r>
            <a:r>
              <a:rPr sz="1900" spc="-10" dirty="0">
                <a:solidFill>
                  <a:srgbClr val="0000FF"/>
                </a:solidFill>
                <a:latin typeface="Times New Roman"/>
                <a:cs typeface="Times New Roman"/>
              </a:rPr>
              <a:t>Disadvantages</a:t>
            </a:r>
            <a:endParaRPr sz="1900">
              <a:latin typeface="Times New Roman"/>
              <a:cs typeface="Times New Roman"/>
            </a:endParaRPr>
          </a:p>
          <a:p>
            <a:pPr marL="469265" indent="-374015">
              <a:lnSpc>
                <a:spcPct val="100000"/>
              </a:lnSpc>
              <a:spcBef>
                <a:spcPts val="340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High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risk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missing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words;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e.g.,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and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Let’s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will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have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two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different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types</a:t>
            </a:r>
            <a:endParaRPr sz="1900">
              <a:latin typeface="Times New Roman"/>
              <a:cs typeface="Times New Roman"/>
            </a:endParaRPr>
          </a:p>
          <a:p>
            <a:pPr marL="469265" indent="-374015">
              <a:lnSpc>
                <a:spcPct val="100000"/>
              </a:lnSpc>
              <a:spcBef>
                <a:spcPts val="340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Languages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like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Chinese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have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space</a:t>
            </a:r>
            <a:endParaRPr sz="1900">
              <a:latin typeface="Times New Roman"/>
              <a:cs typeface="Times New Roman"/>
            </a:endParaRPr>
          </a:p>
          <a:p>
            <a:pPr marL="469265" indent="-37401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Huge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vocabulary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size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(token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type)</a:t>
            </a:r>
            <a:endParaRPr sz="1900">
              <a:latin typeface="Times New Roman"/>
              <a:cs typeface="Times New Roman"/>
            </a:endParaRPr>
          </a:p>
          <a:p>
            <a:pPr marL="926465" lvl="1" indent="-374015">
              <a:lnSpc>
                <a:spcPct val="100000"/>
              </a:lnSpc>
              <a:spcBef>
                <a:spcPts val="340"/>
              </a:spcBef>
              <a:buFont typeface="Arial MT"/>
              <a:buChar char="○"/>
              <a:tabLst>
                <a:tab pos="926465" algn="l"/>
              </a:tabLst>
            </a:pPr>
            <a:r>
              <a:rPr sz="1900" dirty="0">
                <a:latin typeface="Times New Roman"/>
                <a:cs typeface="Times New Roman"/>
              </a:rPr>
              <a:t>Limit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number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words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can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added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vocabulary</a:t>
            </a:r>
            <a:endParaRPr sz="1900">
              <a:latin typeface="Times New Roman"/>
              <a:cs typeface="Times New Roman"/>
            </a:endParaRPr>
          </a:p>
          <a:p>
            <a:pPr marL="469265" indent="-374015">
              <a:lnSpc>
                <a:spcPct val="100000"/>
              </a:lnSpc>
              <a:spcBef>
                <a:spcPts val="345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Misspelled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words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will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considered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token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349375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Character-</a:t>
            </a:r>
            <a:r>
              <a:rPr dirty="0"/>
              <a:t>based</a:t>
            </a:r>
            <a:r>
              <a:rPr spc="-1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721015"/>
            <a:ext cx="4789170" cy="3891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225"/>
              </a:lnSpc>
              <a:spcBef>
                <a:spcPts val="100"/>
              </a:spcBef>
            </a:pPr>
            <a:r>
              <a:rPr sz="1900" spc="-10" dirty="0">
                <a:solidFill>
                  <a:srgbClr val="0000FF"/>
                </a:solidFill>
                <a:latin typeface="Times New Roman"/>
                <a:cs typeface="Times New Roman"/>
              </a:rPr>
              <a:t>Approach</a:t>
            </a:r>
            <a:endParaRPr sz="1900" dirty="0">
              <a:latin typeface="Times New Roman"/>
              <a:cs typeface="Times New Roman"/>
            </a:endParaRPr>
          </a:p>
          <a:p>
            <a:pPr marL="12700" marR="193675" indent="456565">
              <a:lnSpc>
                <a:spcPts val="2170"/>
              </a:lnSpc>
              <a:spcBef>
                <a:spcPts val="105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Splitting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text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into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individual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characters </a:t>
            </a:r>
            <a:r>
              <a:rPr sz="1900" spc="-10" dirty="0">
                <a:solidFill>
                  <a:srgbClr val="0000FF"/>
                </a:solidFill>
                <a:latin typeface="Times New Roman"/>
                <a:cs typeface="Times New Roman"/>
              </a:rPr>
              <a:t>Advantages</a:t>
            </a:r>
            <a:endParaRPr sz="1900" dirty="0">
              <a:latin typeface="Times New Roman"/>
              <a:cs typeface="Times New Roman"/>
            </a:endParaRPr>
          </a:p>
          <a:p>
            <a:pPr marL="469265" indent="-374015">
              <a:lnSpc>
                <a:spcPts val="2050"/>
              </a:lnSpc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There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will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very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few</a:t>
            </a:r>
            <a:endParaRPr sz="1900" dirty="0">
              <a:latin typeface="Times New Roman"/>
              <a:cs typeface="Times New Roman"/>
            </a:endParaRPr>
          </a:p>
          <a:p>
            <a:pPr marL="469900">
              <a:lnSpc>
                <a:spcPts val="2165"/>
              </a:lnSpc>
            </a:pPr>
            <a:r>
              <a:rPr sz="1900" dirty="0">
                <a:latin typeface="Times New Roman"/>
                <a:cs typeface="Times New Roman"/>
              </a:rPr>
              <a:t>unknown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words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(Out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Vocabulary)</a:t>
            </a:r>
            <a:endParaRPr sz="1900" dirty="0">
              <a:latin typeface="Times New Roman"/>
              <a:cs typeface="Times New Roman"/>
            </a:endParaRPr>
          </a:p>
          <a:p>
            <a:pPr marL="469900" marR="843280" indent="-374650">
              <a:lnSpc>
                <a:spcPts val="2170"/>
              </a:lnSpc>
              <a:spcBef>
                <a:spcPts val="110"/>
              </a:spcBef>
              <a:buFont typeface="Arial MT"/>
              <a:buChar char="●"/>
              <a:tabLst>
                <a:tab pos="469900" algn="l"/>
              </a:tabLst>
            </a:pPr>
            <a:r>
              <a:rPr sz="1900" dirty="0">
                <a:latin typeface="Times New Roman"/>
                <a:cs typeface="Times New Roman"/>
              </a:rPr>
              <a:t>Useful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languages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characters </a:t>
            </a:r>
            <a:r>
              <a:rPr sz="1900" dirty="0">
                <a:latin typeface="Times New Roman"/>
                <a:cs typeface="Times New Roman"/>
              </a:rPr>
              <a:t>carry </a:t>
            </a:r>
            <a:r>
              <a:rPr sz="1900" spc="-10" dirty="0">
                <a:latin typeface="Times New Roman"/>
                <a:cs typeface="Times New Roman"/>
              </a:rPr>
              <a:t>information</a:t>
            </a:r>
            <a:endParaRPr sz="1900" dirty="0">
              <a:latin typeface="Times New Roman"/>
              <a:cs typeface="Times New Roman"/>
            </a:endParaRPr>
          </a:p>
          <a:p>
            <a:pPr marL="469265" indent="-374015">
              <a:lnSpc>
                <a:spcPts val="2050"/>
              </a:lnSpc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Fewer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number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tokens</a:t>
            </a:r>
            <a:endParaRPr sz="1900" dirty="0">
              <a:latin typeface="Times New Roman"/>
              <a:cs typeface="Times New Roman"/>
            </a:endParaRPr>
          </a:p>
          <a:p>
            <a:pPr marL="12700" marR="2503805" indent="456565">
              <a:lnSpc>
                <a:spcPts val="2170"/>
              </a:lnSpc>
              <a:spcBef>
                <a:spcPts val="105"/>
              </a:spcBef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Easy to </a:t>
            </a:r>
            <a:r>
              <a:rPr sz="1900" spc="-10" dirty="0">
                <a:latin typeface="Times New Roman"/>
                <a:cs typeface="Times New Roman"/>
              </a:rPr>
              <a:t>implement </a:t>
            </a:r>
            <a:r>
              <a:rPr sz="1900" spc="-10" dirty="0">
                <a:solidFill>
                  <a:srgbClr val="0000FF"/>
                </a:solidFill>
                <a:latin typeface="Times New Roman"/>
                <a:cs typeface="Times New Roman"/>
              </a:rPr>
              <a:t>Disadvantages</a:t>
            </a:r>
            <a:endParaRPr sz="1900" dirty="0">
              <a:latin typeface="Times New Roman"/>
              <a:cs typeface="Times New Roman"/>
            </a:endParaRPr>
          </a:p>
          <a:p>
            <a:pPr marL="469265" indent="-374015">
              <a:lnSpc>
                <a:spcPts val="2050"/>
              </a:lnSpc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character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usually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does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not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have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0" dirty="0">
                <a:latin typeface="Times New Roman"/>
                <a:cs typeface="Times New Roman"/>
              </a:rPr>
              <a:t> meaning</a:t>
            </a:r>
            <a:endParaRPr sz="1900" dirty="0">
              <a:latin typeface="Times New Roman"/>
              <a:cs typeface="Times New Roman"/>
            </a:endParaRPr>
          </a:p>
          <a:p>
            <a:pPr marL="926465" lvl="1" indent="-374015">
              <a:lnSpc>
                <a:spcPts val="2165"/>
              </a:lnSpc>
              <a:buFont typeface="Arial MT"/>
              <a:buChar char="○"/>
              <a:tabLst>
                <a:tab pos="926465" algn="l"/>
              </a:tabLst>
            </a:pPr>
            <a:r>
              <a:rPr sz="1900" dirty="0">
                <a:latin typeface="Times New Roman"/>
                <a:cs typeface="Times New Roman"/>
              </a:rPr>
              <a:t>Cannot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learn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semantic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words</a:t>
            </a:r>
            <a:endParaRPr sz="1900" dirty="0">
              <a:latin typeface="Times New Roman"/>
              <a:cs typeface="Times New Roman"/>
            </a:endParaRPr>
          </a:p>
          <a:p>
            <a:pPr marL="469265" indent="-374015">
              <a:lnSpc>
                <a:spcPts val="2165"/>
              </a:lnSpc>
              <a:buFont typeface="Arial MT"/>
              <a:buChar char="●"/>
              <a:tabLst>
                <a:tab pos="469265" algn="l"/>
              </a:tabLst>
            </a:pPr>
            <a:r>
              <a:rPr sz="1900" dirty="0">
                <a:latin typeface="Times New Roman"/>
                <a:cs typeface="Times New Roman"/>
              </a:rPr>
              <a:t>Larger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sequence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processed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by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models</a:t>
            </a:r>
            <a:endParaRPr sz="1900" dirty="0">
              <a:latin typeface="Times New Roman"/>
              <a:cs typeface="Times New Roman"/>
            </a:endParaRPr>
          </a:p>
          <a:p>
            <a:pPr marL="926465" lvl="1" indent="-374015">
              <a:lnSpc>
                <a:spcPts val="2225"/>
              </a:lnSpc>
              <a:buFont typeface="Arial MT"/>
              <a:buChar char="○"/>
              <a:tabLst>
                <a:tab pos="926465" algn="l"/>
              </a:tabLst>
            </a:pPr>
            <a:r>
              <a:rPr sz="1900" dirty="0">
                <a:latin typeface="Times New Roman"/>
                <a:cs typeface="Times New Roman"/>
              </a:rPr>
              <a:t>More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input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10" dirty="0">
                <a:latin typeface="Times New Roman"/>
                <a:cs typeface="Times New Roman"/>
              </a:rPr>
              <a:t> process</a:t>
            </a:r>
            <a:endParaRPr sz="19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8775" y="1540475"/>
            <a:ext cx="4596349" cy="1320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09445">
              <a:lnSpc>
                <a:spcPct val="100000"/>
              </a:lnSpc>
              <a:spcBef>
                <a:spcPts val="120"/>
              </a:spcBef>
            </a:pPr>
            <a:r>
              <a:rPr dirty="0"/>
              <a:t>Subword</a:t>
            </a:r>
            <a:r>
              <a:rPr spc="-7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725150"/>
            <a:ext cx="8317865" cy="3733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770"/>
              </a:lnSpc>
              <a:spcBef>
                <a:spcPts val="130"/>
              </a:spcBef>
            </a:pP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Approach</a:t>
            </a:r>
            <a:endParaRPr sz="1500">
              <a:latin typeface="Arial MT"/>
              <a:cs typeface="Arial MT"/>
            </a:endParaRPr>
          </a:p>
          <a:p>
            <a:pPr marL="469265" indent="-345440">
              <a:lnSpc>
                <a:spcPts val="1745"/>
              </a:lnSpc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Frequently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used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words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should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not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split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into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smaller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subwords</a:t>
            </a:r>
            <a:endParaRPr sz="1500">
              <a:latin typeface="Arial MT"/>
              <a:cs typeface="Arial MT"/>
            </a:endParaRPr>
          </a:p>
          <a:p>
            <a:pPr marL="469265" indent="-345440">
              <a:lnSpc>
                <a:spcPts val="1745"/>
              </a:lnSpc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Rare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words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should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decomposed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into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meaningful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subwords</a:t>
            </a:r>
            <a:endParaRPr sz="1500">
              <a:latin typeface="Arial MT"/>
              <a:cs typeface="Arial MT"/>
            </a:endParaRPr>
          </a:p>
          <a:p>
            <a:pPr marL="469900" marR="5080" indent="-346075">
              <a:lnSpc>
                <a:spcPts val="1739"/>
              </a:lnSpc>
              <a:spcBef>
                <a:spcPts val="80"/>
              </a:spcBef>
              <a:buChar char="●"/>
              <a:tabLst>
                <a:tab pos="469900" algn="l"/>
              </a:tabLst>
            </a:pPr>
            <a:r>
              <a:rPr sz="1500" dirty="0">
                <a:latin typeface="Arial MT"/>
                <a:cs typeface="Arial MT"/>
              </a:rPr>
              <a:t>Uses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special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symbol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indicate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which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word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start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token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which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word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2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the </a:t>
            </a:r>
            <a:r>
              <a:rPr sz="1500" dirty="0">
                <a:latin typeface="Arial MT"/>
                <a:cs typeface="Arial MT"/>
              </a:rPr>
              <a:t>completion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start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token</a:t>
            </a:r>
            <a:endParaRPr sz="1500">
              <a:latin typeface="Arial MT"/>
              <a:cs typeface="Arial MT"/>
            </a:endParaRPr>
          </a:p>
          <a:p>
            <a:pPr marL="926465" lvl="1" indent="-345440">
              <a:lnSpc>
                <a:spcPts val="1670"/>
              </a:lnSpc>
              <a:buChar char="○"/>
              <a:tabLst>
                <a:tab pos="926465" algn="l"/>
              </a:tabLst>
            </a:pPr>
            <a:r>
              <a:rPr sz="1500" spc="-10" dirty="0">
                <a:latin typeface="Arial MT"/>
                <a:cs typeface="Arial MT"/>
              </a:rPr>
              <a:t>Tokenization </a:t>
            </a:r>
            <a:r>
              <a:rPr sz="1500" dirty="0">
                <a:latin typeface="Arial MT"/>
                <a:cs typeface="Arial MT"/>
              </a:rPr>
              <a:t>→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“Token”,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“##ization”</a:t>
            </a:r>
            <a:endParaRPr sz="1500">
              <a:latin typeface="Arial MT"/>
              <a:cs typeface="Arial MT"/>
            </a:endParaRPr>
          </a:p>
          <a:p>
            <a:pPr marL="469265" indent="-345440">
              <a:lnSpc>
                <a:spcPts val="1770"/>
              </a:lnSpc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State-of-the-art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approaches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NLP</a:t>
            </a:r>
            <a:r>
              <a:rPr sz="1500" spc="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IR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rely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this</a:t>
            </a:r>
            <a:r>
              <a:rPr sz="1500" spc="4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type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ts val="1770"/>
              </a:lnSpc>
              <a:spcBef>
                <a:spcPts val="1685"/>
              </a:spcBef>
            </a:pP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Advantages</a:t>
            </a:r>
            <a:endParaRPr sz="1500">
              <a:latin typeface="Arial MT"/>
              <a:cs typeface="Arial MT"/>
            </a:endParaRPr>
          </a:p>
          <a:p>
            <a:pPr marL="469265" indent="-345440">
              <a:lnSpc>
                <a:spcPts val="1745"/>
              </a:lnSpc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Out-of-vocabulary</a:t>
            </a:r>
            <a:r>
              <a:rPr sz="1500" spc="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word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problem</a:t>
            </a:r>
            <a:r>
              <a:rPr sz="1500" spc="7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solved</a:t>
            </a:r>
            <a:endParaRPr sz="1500">
              <a:latin typeface="Arial MT"/>
              <a:cs typeface="Arial MT"/>
            </a:endParaRPr>
          </a:p>
          <a:p>
            <a:pPr marL="469265" indent="-345440">
              <a:lnSpc>
                <a:spcPts val="1770"/>
              </a:lnSpc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Manageable</a:t>
            </a:r>
            <a:r>
              <a:rPr sz="1500" spc="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vocabulary</a:t>
            </a:r>
            <a:r>
              <a:rPr sz="1500" spc="6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sizes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ts val="1770"/>
              </a:lnSpc>
              <a:spcBef>
                <a:spcPts val="1689"/>
              </a:spcBef>
            </a:pP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Disadvantages</a:t>
            </a:r>
            <a:endParaRPr sz="1500">
              <a:latin typeface="Arial MT"/>
              <a:cs typeface="Arial MT"/>
            </a:endParaRPr>
          </a:p>
          <a:p>
            <a:pPr marL="469265" indent="-345440">
              <a:lnSpc>
                <a:spcPts val="1770"/>
              </a:lnSpc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New</a:t>
            </a:r>
            <a:r>
              <a:rPr sz="1500" spc="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scheme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needs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more</a:t>
            </a:r>
            <a:r>
              <a:rPr sz="1500" spc="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exploration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5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Byte</a:t>
            </a:r>
            <a:r>
              <a:rPr sz="1500" u="heavy" spc="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5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Per</a:t>
            </a:r>
            <a:r>
              <a:rPr sz="1500" u="heavy" spc="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5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Encoding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(BPE)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WordPiece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are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two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examples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this</a:t>
            </a:r>
            <a:r>
              <a:rPr sz="1500" spc="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scheme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20"/>
              </a:spcBef>
            </a:pPr>
            <a:r>
              <a:rPr dirty="0"/>
              <a:t>Byte-Pair</a:t>
            </a:r>
            <a:r>
              <a:rPr spc="20" dirty="0"/>
              <a:t> </a:t>
            </a:r>
            <a:r>
              <a:rPr dirty="0"/>
              <a:t>Encoding</a:t>
            </a:r>
            <a:r>
              <a:rPr spc="25" dirty="0"/>
              <a:t> </a:t>
            </a:r>
            <a:r>
              <a:rPr dirty="0"/>
              <a:t>(BPE)</a:t>
            </a:r>
            <a:r>
              <a:rPr spc="-2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733106"/>
            <a:ext cx="8267065" cy="3128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Uses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Huffman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encoding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tokenization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(greedy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algorithm)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dirty="0">
                <a:latin typeface="Arial MT"/>
                <a:cs typeface="Arial MT"/>
              </a:rPr>
              <a:t>Training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Steps:</a:t>
            </a:r>
            <a:endParaRPr sz="1800">
              <a:latin typeface="Arial MT"/>
              <a:cs typeface="Arial MT"/>
            </a:endParaRPr>
          </a:p>
          <a:p>
            <a:pPr marL="469900" marR="1489710" indent="-419734">
              <a:lnSpc>
                <a:spcPct val="114999"/>
              </a:lnSpc>
              <a:spcBef>
                <a:spcPts val="1205"/>
              </a:spcBef>
              <a:buAutoNum type="arabicPeriod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Starts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splitting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characters </a:t>
            </a:r>
            <a:r>
              <a:rPr sz="1800" dirty="0">
                <a:latin typeface="Arial MT"/>
                <a:cs typeface="Arial MT"/>
              </a:rPr>
              <a:t>(each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corresponds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final</a:t>
            </a:r>
            <a:r>
              <a:rPr sz="1800" spc="-10" dirty="0">
                <a:latin typeface="Arial MT"/>
                <a:cs typeface="Arial MT"/>
              </a:rPr>
              <a:t> vocabulary)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  <a:tabLst>
                <a:tab pos="6793230" algn="l"/>
              </a:tabLst>
            </a:pPr>
            <a:r>
              <a:rPr sz="1800" dirty="0">
                <a:latin typeface="Arial MT"/>
                <a:cs typeface="Arial MT"/>
              </a:rPr>
              <a:t>*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practice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commonly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special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“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Arial MT"/>
                <a:cs typeface="Arial MT"/>
              </a:rPr>
              <a:t>”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before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space</a:t>
            </a:r>
            <a:endParaRPr sz="1800">
              <a:latin typeface="Arial MT"/>
              <a:cs typeface="Arial MT"/>
            </a:endParaRPr>
          </a:p>
          <a:p>
            <a:pPr marL="469265" indent="-419100">
              <a:lnSpc>
                <a:spcPct val="100000"/>
              </a:lnSpc>
              <a:spcBef>
                <a:spcPts val="325"/>
              </a:spcBef>
              <a:buAutoNum type="arabicPeriod" startAt="2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Find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frequent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occurring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pair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current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vocabulary</a:t>
            </a:r>
            <a:endParaRPr sz="1800">
              <a:latin typeface="Arial MT"/>
              <a:cs typeface="Arial MT"/>
            </a:endParaRPr>
          </a:p>
          <a:p>
            <a:pPr marL="469265" indent="-419100">
              <a:lnSpc>
                <a:spcPct val="100000"/>
              </a:lnSpc>
              <a:spcBef>
                <a:spcPts val="325"/>
              </a:spcBef>
              <a:buAutoNum type="arabicPeriod" startAt="2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Add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vocabulary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size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vocabulary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increases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one</a:t>
            </a:r>
            <a:endParaRPr sz="1800">
              <a:latin typeface="Arial MT"/>
              <a:cs typeface="Arial MT"/>
            </a:endParaRPr>
          </a:p>
          <a:p>
            <a:pPr marL="469265" indent="-399415">
              <a:lnSpc>
                <a:spcPct val="100000"/>
              </a:lnSpc>
              <a:spcBef>
                <a:spcPts val="325"/>
              </a:spcBef>
              <a:buFont typeface="Times New Roman"/>
              <a:buAutoNum type="arabicPeriod" startAt="2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Repeat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steps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(2)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(3)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tokens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built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Arial"/>
                <a:cs typeface="Arial"/>
              </a:rPr>
              <a:t>or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combination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symbols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frequency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72401" y="4842737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latin typeface="Arial MT"/>
                <a:cs typeface="Arial MT"/>
              </a:rPr>
              <a:t>15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25" y="4677762"/>
            <a:ext cx="810069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Sennrich,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R.,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Haddow,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B.,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Birch,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(2016).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Neural</a:t>
            </a:r>
            <a:r>
              <a:rPr sz="1100" u="sng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Machine</a:t>
            </a:r>
            <a:r>
              <a:rPr sz="1100" u="sng" spc="-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Translation</a:t>
            </a:r>
            <a:r>
              <a:rPr sz="1100" u="sng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of</a:t>
            </a:r>
            <a:r>
              <a:rPr sz="1100" u="sng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Rare</a:t>
            </a:r>
            <a:r>
              <a:rPr sz="1100" u="sng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Words</a:t>
            </a:r>
            <a:r>
              <a:rPr sz="1100" u="sng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with</a:t>
            </a:r>
            <a:r>
              <a:rPr sz="1100" u="sng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Subword</a:t>
            </a:r>
            <a:r>
              <a:rPr sz="1100" u="sng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100" u="sng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Units</a:t>
            </a:r>
            <a:r>
              <a:rPr sz="1100" dirty="0">
                <a:latin typeface="Arial MT"/>
                <a:cs typeface="Arial MT"/>
              </a:rPr>
              <a:t>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i="1" dirty="0">
                <a:latin typeface="Arial"/>
                <a:cs typeface="Arial"/>
              </a:rPr>
              <a:t>Proceedings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-25" dirty="0">
                <a:latin typeface="Arial"/>
                <a:cs typeface="Arial"/>
              </a:rPr>
              <a:t> the </a:t>
            </a:r>
            <a:r>
              <a:rPr sz="1100" i="1" dirty="0">
                <a:latin typeface="Arial"/>
                <a:cs typeface="Arial"/>
              </a:rPr>
              <a:t>54th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Annual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Meeting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of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the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Association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for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Computational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Linguistics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(Volume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1: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Long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Papers)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(pp.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1715-</a:t>
            </a:r>
            <a:r>
              <a:rPr sz="1100" spc="-10" dirty="0">
                <a:latin typeface="Arial MT"/>
                <a:cs typeface="Arial MT"/>
              </a:rPr>
              <a:t>1725)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20"/>
              </a:spcBef>
            </a:pPr>
            <a:r>
              <a:rPr dirty="0"/>
              <a:t>Byte-Pair</a:t>
            </a:r>
            <a:r>
              <a:rPr spc="20" dirty="0"/>
              <a:t> </a:t>
            </a:r>
            <a:r>
              <a:rPr dirty="0"/>
              <a:t>Encoding</a:t>
            </a:r>
            <a:r>
              <a:rPr spc="25" dirty="0"/>
              <a:t> </a:t>
            </a:r>
            <a:r>
              <a:rPr dirty="0"/>
              <a:t>(BPE)</a:t>
            </a:r>
            <a:r>
              <a:rPr spc="-2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801179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Arial"/>
                <a:cs typeface="Arial"/>
              </a:rPr>
              <a:t>Training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corpus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newer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new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574" y="1552930"/>
            <a:ext cx="74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Corpus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5574" y="1971421"/>
            <a:ext cx="170561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  <a:tabLst>
                <a:tab pos="469265" algn="l"/>
                <a:tab pos="1266825" algn="l"/>
              </a:tabLst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r>
              <a:rPr sz="1800" dirty="0">
                <a:latin typeface="Times New Roman"/>
                <a:cs typeface="Times New Roman"/>
              </a:rPr>
              <a:t>	l o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69227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l o w e s t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596390" algn="l"/>
              </a:tabLst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r>
              <a:rPr sz="1800" dirty="0">
                <a:latin typeface="Times New Roman"/>
                <a:cs typeface="Times New Roman"/>
              </a:rPr>
              <a:t>	n e w e 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558925" algn="l"/>
              </a:tabLst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w i d e 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50"/>
              </a:lnSpc>
              <a:tabLst>
                <a:tab pos="469265" algn="l"/>
                <a:tab pos="130492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n e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7850" y="1552930"/>
            <a:ext cx="2353310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2406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20"/>
              </a:spcBef>
            </a:pPr>
            <a:r>
              <a:rPr dirty="0"/>
              <a:t>Byte-Pair</a:t>
            </a:r>
            <a:r>
              <a:rPr spc="20" dirty="0"/>
              <a:t> </a:t>
            </a:r>
            <a:r>
              <a:rPr dirty="0"/>
              <a:t>Encoding</a:t>
            </a:r>
            <a:r>
              <a:rPr spc="25" dirty="0"/>
              <a:t> </a:t>
            </a:r>
            <a:r>
              <a:rPr dirty="0"/>
              <a:t>(BPE)</a:t>
            </a:r>
            <a:r>
              <a:rPr spc="-2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801179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Arial"/>
                <a:cs typeface="Arial"/>
              </a:rPr>
              <a:t>Training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corpus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newer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new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574" y="1552930"/>
            <a:ext cx="74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Corpus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81290" y="2751302"/>
            <a:ext cx="266700" cy="247015"/>
          </a:xfrm>
          <a:custGeom>
            <a:avLst/>
            <a:gdLst/>
            <a:ahLst/>
            <a:cxnLst/>
            <a:rect l="l" t="t" r="r" b="b"/>
            <a:pathLst>
              <a:path w="266700" h="247014">
                <a:moveTo>
                  <a:pt x="37947" y="0"/>
                </a:moveTo>
                <a:lnTo>
                  <a:pt x="266547" y="0"/>
                </a:lnTo>
              </a:path>
              <a:path w="266700" h="247014">
                <a:moveTo>
                  <a:pt x="0" y="246888"/>
                </a:moveTo>
                <a:lnTo>
                  <a:pt x="228600" y="24688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05574" y="1971421"/>
            <a:ext cx="170561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  <a:tabLst>
                <a:tab pos="469265" algn="l"/>
                <a:tab pos="1266825" algn="l"/>
              </a:tabLst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r>
              <a:rPr sz="1800" dirty="0">
                <a:latin typeface="Times New Roman"/>
                <a:cs typeface="Times New Roman"/>
              </a:rPr>
              <a:t>	l o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69227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l o w e s t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</a:tabLst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r>
              <a:rPr sz="1800" dirty="0">
                <a:latin typeface="Times New Roman"/>
                <a:cs typeface="Times New Roman"/>
              </a:rPr>
              <a:t>	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</a:tabLst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w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50"/>
              </a:lnSpc>
              <a:tabLst>
                <a:tab pos="469265" algn="l"/>
                <a:tab pos="130492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n e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7850" y="1552930"/>
            <a:ext cx="2353310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2406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80374" y="2510450"/>
            <a:ext cx="363855" cy="530225"/>
          </a:xfrm>
          <a:custGeom>
            <a:avLst/>
            <a:gdLst/>
            <a:ahLst/>
            <a:cxnLst/>
            <a:rect l="l" t="t" r="r" b="b"/>
            <a:pathLst>
              <a:path w="363855" h="530225">
                <a:moveTo>
                  <a:pt x="0" y="145499"/>
                </a:moveTo>
                <a:lnTo>
                  <a:pt x="6494" y="106820"/>
                </a:lnTo>
                <a:lnTo>
                  <a:pt x="24821" y="72063"/>
                </a:lnTo>
                <a:lnTo>
                  <a:pt x="53248" y="42615"/>
                </a:lnTo>
                <a:lnTo>
                  <a:pt x="90042" y="19864"/>
                </a:lnTo>
                <a:lnTo>
                  <a:pt x="133470" y="5197"/>
                </a:lnTo>
                <a:lnTo>
                  <a:pt x="181799" y="0"/>
                </a:lnTo>
                <a:lnTo>
                  <a:pt x="230129" y="5197"/>
                </a:lnTo>
                <a:lnTo>
                  <a:pt x="273557" y="19864"/>
                </a:lnTo>
                <a:lnTo>
                  <a:pt x="310351" y="42615"/>
                </a:lnTo>
                <a:lnTo>
                  <a:pt x="338778" y="72063"/>
                </a:lnTo>
                <a:lnTo>
                  <a:pt x="357105" y="106820"/>
                </a:lnTo>
                <a:lnTo>
                  <a:pt x="363599" y="145499"/>
                </a:lnTo>
                <a:lnTo>
                  <a:pt x="357105" y="184179"/>
                </a:lnTo>
                <a:lnTo>
                  <a:pt x="338778" y="218936"/>
                </a:lnTo>
                <a:lnTo>
                  <a:pt x="310351" y="248384"/>
                </a:lnTo>
                <a:lnTo>
                  <a:pt x="273557" y="271134"/>
                </a:lnTo>
                <a:lnTo>
                  <a:pt x="230129" y="285802"/>
                </a:lnTo>
                <a:lnTo>
                  <a:pt x="181799" y="290999"/>
                </a:lnTo>
                <a:lnTo>
                  <a:pt x="133470" y="285802"/>
                </a:lnTo>
                <a:lnTo>
                  <a:pt x="90042" y="271134"/>
                </a:lnTo>
                <a:lnTo>
                  <a:pt x="53248" y="248384"/>
                </a:lnTo>
                <a:lnTo>
                  <a:pt x="24821" y="218936"/>
                </a:lnTo>
                <a:lnTo>
                  <a:pt x="6494" y="184179"/>
                </a:lnTo>
                <a:lnTo>
                  <a:pt x="0" y="145499"/>
                </a:lnTo>
                <a:close/>
              </a:path>
              <a:path w="363855" h="530225">
                <a:moveTo>
                  <a:pt x="0" y="384499"/>
                </a:moveTo>
                <a:lnTo>
                  <a:pt x="6494" y="345820"/>
                </a:lnTo>
                <a:lnTo>
                  <a:pt x="24821" y="311063"/>
                </a:lnTo>
                <a:lnTo>
                  <a:pt x="53248" y="281615"/>
                </a:lnTo>
                <a:lnTo>
                  <a:pt x="90042" y="258864"/>
                </a:lnTo>
                <a:lnTo>
                  <a:pt x="133470" y="244197"/>
                </a:lnTo>
                <a:lnTo>
                  <a:pt x="181799" y="238999"/>
                </a:lnTo>
                <a:lnTo>
                  <a:pt x="230129" y="244197"/>
                </a:lnTo>
                <a:lnTo>
                  <a:pt x="273557" y="258864"/>
                </a:lnTo>
                <a:lnTo>
                  <a:pt x="310351" y="281615"/>
                </a:lnTo>
                <a:lnTo>
                  <a:pt x="338778" y="311063"/>
                </a:lnTo>
                <a:lnTo>
                  <a:pt x="357105" y="345820"/>
                </a:lnTo>
                <a:lnTo>
                  <a:pt x="363599" y="384499"/>
                </a:lnTo>
                <a:lnTo>
                  <a:pt x="357105" y="423179"/>
                </a:lnTo>
                <a:lnTo>
                  <a:pt x="338778" y="457936"/>
                </a:lnTo>
                <a:lnTo>
                  <a:pt x="310351" y="487384"/>
                </a:lnTo>
                <a:lnTo>
                  <a:pt x="273557" y="510134"/>
                </a:lnTo>
                <a:lnTo>
                  <a:pt x="230129" y="524802"/>
                </a:lnTo>
                <a:lnTo>
                  <a:pt x="181799" y="529999"/>
                </a:lnTo>
                <a:lnTo>
                  <a:pt x="133470" y="524802"/>
                </a:lnTo>
                <a:lnTo>
                  <a:pt x="90042" y="510134"/>
                </a:lnTo>
                <a:lnTo>
                  <a:pt x="53248" y="487384"/>
                </a:lnTo>
                <a:lnTo>
                  <a:pt x="24821" y="457936"/>
                </a:lnTo>
                <a:lnTo>
                  <a:pt x="6494" y="423179"/>
                </a:lnTo>
                <a:lnTo>
                  <a:pt x="0" y="384499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57850" y="2574331"/>
            <a:ext cx="1148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4357850" y="3042198"/>
            <a:ext cx="2630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w, </a:t>
            </a:r>
            <a:r>
              <a:rPr sz="1800" spc="-25" dirty="0">
                <a:solidFill>
                  <a:srgbClr val="0000FF"/>
                </a:solidFill>
                <a:latin typeface="Times New Roman"/>
                <a:cs typeface="Times New Roman"/>
              </a:rPr>
              <a:t>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9024" y="2531631"/>
            <a:ext cx="717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9 </a:t>
            </a: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times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20"/>
              </a:spcBef>
            </a:pPr>
            <a:r>
              <a:rPr dirty="0"/>
              <a:t>Byte-Pair</a:t>
            </a:r>
            <a:r>
              <a:rPr spc="20" dirty="0"/>
              <a:t> </a:t>
            </a:r>
            <a:r>
              <a:rPr dirty="0"/>
              <a:t>Encoding</a:t>
            </a:r>
            <a:r>
              <a:rPr spc="25" dirty="0"/>
              <a:t> </a:t>
            </a:r>
            <a:r>
              <a:rPr dirty="0"/>
              <a:t>(BPE)</a:t>
            </a:r>
            <a:r>
              <a:rPr spc="-2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801179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Arial"/>
                <a:cs typeface="Arial"/>
              </a:rPr>
              <a:t>Training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corpus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newer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new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574" y="1552930"/>
            <a:ext cx="74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Corpus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5574" y="1971421"/>
            <a:ext cx="170561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  <a:tabLst>
                <a:tab pos="469265" algn="l"/>
                <a:tab pos="1266825" algn="l"/>
              </a:tabLst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r>
              <a:rPr sz="1800" dirty="0">
                <a:latin typeface="Times New Roman"/>
                <a:cs typeface="Times New Roman"/>
              </a:rPr>
              <a:t>	l o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69227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l o w e s t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596390" algn="l"/>
              </a:tabLst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r>
              <a:rPr sz="1800" dirty="0">
                <a:latin typeface="Times New Roman"/>
                <a:cs typeface="Times New Roman"/>
              </a:rPr>
              <a:t>	n e w e 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558925" algn="l"/>
              </a:tabLst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w i d e 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50"/>
              </a:lnSpc>
              <a:tabLst>
                <a:tab pos="469265" algn="l"/>
                <a:tab pos="130492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n e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7850" y="1552930"/>
            <a:ext cx="2630170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2406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38799" y="2510450"/>
            <a:ext cx="768985" cy="582295"/>
          </a:xfrm>
          <a:custGeom>
            <a:avLst/>
            <a:gdLst/>
            <a:ahLst/>
            <a:cxnLst/>
            <a:rect l="l" t="t" r="r" b="b"/>
            <a:pathLst>
              <a:path w="768985" h="582294">
                <a:moveTo>
                  <a:pt x="41574" y="145499"/>
                </a:moveTo>
                <a:lnTo>
                  <a:pt x="47433" y="119346"/>
                </a:lnTo>
                <a:lnTo>
                  <a:pt x="64322" y="94730"/>
                </a:lnTo>
                <a:lnTo>
                  <a:pt x="127089" y="51756"/>
                </a:lnTo>
                <a:lnTo>
                  <a:pt x="170912" y="34219"/>
                </a:lnTo>
                <a:lnTo>
                  <a:pt x="221659" y="19864"/>
                </a:lnTo>
                <a:lnTo>
                  <a:pt x="278303" y="9102"/>
                </a:lnTo>
                <a:lnTo>
                  <a:pt x="339817" y="2344"/>
                </a:lnTo>
                <a:lnTo>
                  <a:pt x="405174" y="0"/>
                </a:lnTo>
                <a:lnTo>
                  <a:pt x="470532" y="2344"/>
                </a:lnTo>
                <a:lnTo>
                  <a:pt x="532046" y="9102"/>
                </a:lnTo>
                <a:lnTo>
                  <a:pt x="588690" y="19864"/>
                </a:lnTo>
                <a:lnTo>
                  <a:pt x="639437" y="34219"/>
                </a:lnTo>
                <a:lnTo>
                  <a:pt x="683260" y="51756"/>
                </a:lnTo>
                <a:lnTo>
                  <a:pt x="719132" y="72063"/>
                </a:lnTo>
                <a:lnTo>
                  <a:pt x="762916" y="119346"/>
                </a:lnTo>
                <a:lnTo>
                  <a:pt x="768774" y="145499"/>
                </a:lnTo>
                <a:lnTo>
                  <a:pt x="746027" y="196269"/>
                </a:lnTo>
                <a:lnTo>
                  <a:pt x="683260" y="239243"/>
                </a:lnTo>
                <a:lnTo>
                  <a:pt x="639437" y="256780"/>
                </a:lnTo>
                <a:lnTo>
                  <a:pt x="588690" y="271134"/>
                </a:lnTo>
                <a:lnTo>
                  <a:pt x="532046" y="281897"/>
                </a:lnTo>
                <a:lnTo>
                  <a:pt x="470532" y="288655"/>
                </a:lnTo>
                <a:lnTo>
                  <a:pt x="405174" y="290999"/>
                </a:lnTo>
                <a:lnTo>
                  <a:pt x="339817" y="288655"/>
                </a:lnTo>
                <a:lnTo>
                  <a:pt x="278303" y="281897"/>
                </a:lnTo>
                <a:lnTo>
                  <a:pt x="221659" y="271134"/>
                </a:lnTo>
                <a:lnTo>
                  <a:pt x="170912" y="256780"/>
                </a:lnTo>
                <a:lnTo>
                  <a:pt x="127089" y="239243"/>
                </a:lnTo>
                <a:lnTo>
                  <a:pt x="91217" y="218936"/>
                </a:lnTo>
                <a:lnTo>
                  <a:pt x="47433" y="171653"/>
                </a:lnTo>
                <a:lnTo>
                  <a:pt x="41574" y="145499"/>
                </a:lnTo>
                <a:close/>
              </a:path>
              <a:path w="768985" h="582294">
                <a:moveTo>
                  <a:pt x="0" y="436499"/>
                </a:moveTo>
                <a:lnTo>
                  <a:pt x="5858" y="410346"/>
                </a:lnTo>
                <a:lnTo>
                  <a:pt x="22747" y="385730"/>
                </a:lnTo>
                <a:lnTo>
                  <a:pt x="85514" y="342756"/>
                </a:lnTo>
                <a:lnTo>
                  <a:pt x="129337" y="325219"/>
                </a:lnTo>
                <a:lnTo>
                  <a:pt x="180084" y="310864"/>
                </a:lnTo>
                <a:lnTo>
                  <a:pt x="236728" y="300102"/>
                </a:lnTo>
                <a:lnTo>
                  <a:pt x="298242" y="293344"/>
                </a:lnTo>
                <a:lnTo>
                  <a:pt x="363599" y="290999"/>
                </a:lnTo>
                <a:lnTo>
                  <a:pt x="428957" y="293344"/>
                </a:lnTo>
                <a:lnTo>
                  <a:pt x="490471" y="300102"/>
                </a:lnTo>
                <a:lnTo>
                  <a:pt x="547115" y="310864"/>
                </a:lnTo>
                <a:lnTo>
                  <a:pt x="597862" y="325219"/>
                </a:lnTo>
                <a:lnTo>
                  <a:pt x="641685" y="342756"/>
                </a:lnTo>
                <a:lnTo>
                  <a:pt x="677557" y="363063"/>
                </a:lnTo>
                <a:lnTo>
                  <a:pt x="721341" y="410346"/>
                </a:lnTo>
                <a:lnTo>
                  <a:pt x="727199" y="436499"/>
                </a:lnTo>
                <a:lnTo>
                  <a:pt x="704452" y="487269"/>
                </a:lnTo>
                <a:lnTo>
                  <a:pt x="641685" y="530243"/>
                </a:lnTo>
                <a:lnTo>
                  <a:pt x="597862" y="547780"/>
                </a:lnTo>
                <a:lnTo>
                  <a:pt x="547115" y="562134"/>
                </a:lnTo>
                <a:lnTo>
                  <a:pt x="490471" y="572897"/>
                </a:lnTo>
                <a:lnTo>
                  <a:pt x="428957" y="579655"/>
                </a:lnTo>
                <a:lnTo>
                  <a:pt x="363599" y="581999"/>
                </a:lnTo>
                <a:lnTo>
                  <a:pt x="298242" y="579655"/>
                </a:lnTo>
                <a:lnTo>
                  <a:pt x="236728" y="572897"/>
                </a:lnTo>
                <a:lnTo>
                  <a:pt x="180084" y="562134"/>
                </a:lnTo>
                <a:lnTo>
                  <a:pt x="129337" y="547780"/>
                </a:lnTo>
                <a:lnTo>
                  <a:pt x="85514" y="530243"/>
                </a:lnTo>
                <a:lnTo>
                  <a:pt x="49642" y="509936"/>
                </a:lnTo>
                <a:lnTo>
                  <a:pt x="5858" y="462653"/>
                </a:lnTo>
                <a:lnTo>
                  <a:pt x="0" y="436499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57850" y="2574331"/>
            <a:ext cx="1148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4357850" y="3042198"/>
            <a:ext cx="3196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  <a:tab pos="318325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er,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Times New Roman"/>
                <a:cs typeface="Times New Roman"/>
              </a:rPr>
              <a:t>er</a:t>
            </a:r>
            <a:r>
              <a:rPr sz="1800" u="sng" dirty="0">
                <a:solidFill>
                  <a:srgbClr val="0000FF"/>
                </a:solidFill>
                <a:uFill>
                  <a:solidFill>
                    <a:srgbClr val="0000FE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9024" y="2531631"/>
            <a:ext cx="717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9 </a:t>
            </a: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times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20"/>
              </a:spcBef>
            </a:pPr>
            <a:r>
              <a:rPr dirty="0"/>
              <a:t>Byte-Pair</a:t>
            </a:r>
            <a:r>
              <a:rPr spc="20" dirty="0"/>
              <a:t> </a:t>
            </a:r>
            <a:r>
              <a:rPr dirty="0"/>
              <a:t>Encoding</a:t>
            </a:r>
            <a:r>
              <a:rPr spc="25" dirty="0"/>
              <a:t> </a:t>
            </a:r>
            <a:r>
              <a:rPr dirty="0"/>
              <a:t>(BPE)</a:t>
            </a:r>
            <a:r>
              <a:rPr spc="-2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801179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Arial"/>
                <a:cs typeface="Arial"/>
              </a:rPr>
              <a:t>Training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corpus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newer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new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574" y="1552930"/>
            <a:ext cx="74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Corpus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5574" y="1971421"/>
            <a:ext cx="170561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  <a:tabLst>
                <a:tab pos="469265" algn="l"/>
                <a:tab pos="1266825" algn="l"/>
              </a:tabLst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r>
              <a:rPr sz="1800" dirty="0">
                <a:latin typeface="Times New Roman"/>
                <a:cs typeface="Times New Roman"/>
              </a:rPr>
              <a:t>	l o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69227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l o w e s t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596390" algn="l"/>
              </a:tabLst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r>
              <a:rPr sz="1800" dirty="0">
                <a:latin typeface="Times New Roman"/>
                <a:cs typeface="Times New Roman"/>
              </a:rPr>
              <a:t>	n e w e 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558925" algn="l"/>
              </a:tabLst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w i d e 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50"/>
              </a:lnSpc>
              <a:tabLst>
                <a:tab pos="469265" algn="l"/>
                <a:tab pos="130492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n e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7850" y="1552930"/>
            <a:ext cx="3196590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240665" algn="l"/>
                <a:tab pos="318325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er,</a:t>
            </a:r>
            <a:r>
              <a:rPr sz="1800" spc="-25" dirty="0">
                <a:latin typeface="Times New Roman"/>
                <a:cs typeface="Times New Roman"/>
              </a:rPr>
              <a:t> er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19274" y="2510450"/>
            <a:ext cx="457200" cy="291465"/>
          </a:xfrm>
          <a:custGeom>
            <a:avLst/>
            <a:gdLst/>
            <a:ahLst/>
            <a:cxnLst/>
            <a:rect l="l" t="t" r="r" b="b"/>
            <a:pathLst>
              <a:path w="457200" h="291464">
                <a:moveTo>
                  <a:pt x="0" y="145499"/>
                </a:moveTo>
                <a:lnTo>
                  <a:pt x="8165" y="106820"/>
                </a:lnTo>
                <a:lnTo>
                  <a:pt x="31210" y="72063"/>
                </a:lnTo>
                <a:lnTo>
                  <a:pt x="66955" y="42615"/>
                </a:lnTo>
                <a:lnTo>
                  <a:pt x="113221" y="19864"/>
                </a:lnTo>
                <a:lnTo>
                  <a:pt x="167829" y="5197"/>
                </a:lnTo>
                <a:lnTo>
                  <a:pt x="228599" y="0"/>
                </a:lnTo>
                <a:lnTo>
                  <a:pt x="289370" y="5197"/>
                </a:lnTo>
                <a:lnTo>
                  <a:pt x="343978" y="19864"/>
                </a:lnTo>
                <a:lnTo>
                  <a:pt x="390244" y="42615"/>
                </a:lnTo>
                <a:lnTo>
                  <a:pt x="425989" y="72063"/>
                </a:lnTo>
                <a:lnTo>
                  <a:pt x="449034" y="106820"/>
                </a:lnTo>
                <a:lnTo>
                  <a:pt x="457199" y="145499"/>
                </a:lnTo>
                <a:lnTo>
                  <a:pt x="449034" y="184179"/>
                </a:lnTo>
                <a:lnTo>
                  <a:pt x="425989" y="218936"/>
                </a:lnTo>
                <a:lnTo>
                  <a:pt x="390244" y="248384"/>
                </a:lnTo>
                <a:lnTo>
                  <a:pt x="343978" y="271134"/>
                </a:lnTo>
                <a:lnTo>
                  <a:pt x="289370" y="285802"/>
                </a:lnTo>
                <a:lnTo>
                  <a:pt x="228599" y="290999"/>
                </a:lnTo>
                <a:lnTo>
                  <a:pt x="167829" y="285802"/>
                </a:lnTo>
                <a:lnTo>
                  <a:pt x="113221" y="271134"/>
                </a:lnTo>
                <a:lnTo>
                  <a:pt x="66955" y="248384"/>
                </a:lnTo>
                <a:lnTo>
                  <a:pt x="31210" y="218936"/>
                </a:lnTo>
                <a:lnTo>
                  <a:pt x="8165" y="184179"/>
                </a:lnTo>
                <a:lnTo>
                  <a:pt x="0" y="145499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19274" y="2998874"/>
            <a:ext cx="457200" cy="291465"/>
          </a:xfrm>
          <a:custGeom>
            <a:avLst/>
            <a:gdLst/>
            <a:ahLst/>
            <a:cxnLst/>
            <a:rect l="l" t="t" r="r" b="b"/>
            <a:pathLst>
              <a:path w="457200" h="291464">
                <a:moveTo>
                  <a:pt x="0" y="145499"/>
                </a:moveTo>
                <a:lnTo>
                  <a:pt x="8165" y="106820"/>
                </a:lnTo>
                <a:lnTo>
                  <a:pt x="31210" y="72063"/>
                </a:lnTo>
                <a:lnTo>
                  <a:pt x="66955" y="42615"/>
                </a:lnTo>
                <a:lnTo>
                  <a:pt x="113221" y="19864"/>
                </a:lnTo>
                <a:lnTo>
                  <a:pt x="167829" y="5197"/>
                </a:lnTo>
                <a:lnTo>
                  <a:pt x="228599" y="0"/>
                </a:lnTo>
                <a:lnTo>
                  <a:pt x="289370" y="5197"/>
                </a:lnTo>
                <a:lnTo>
                  <a:pt x="343978" y="19864"/>
                </a:lnTo>
                <a:lnTo>
                  <a:pt x="390244" y="42615"/>
                </a:lnTo>
                <a:lnTo>
                  <a:pt x="425989" y="72063"/>
                </a:lnTo>
                <a:lnTo>
                  <a:pt x="449034" y="106820"/>
                </a:lnTo>
                <a:lnTo>
                  <a:pt x="457199" y="145499"/>
                </a:lnTo>
                <a:lnTo>
                  <a:pt x="449034" y="184179"/>
                </a:lnTo>
                <a:lnTo>
                  <a:pt x="425989" y="218936"/>
                </a:lnTo>
                <a:lnTo>
                  <a:pt x="390244" y="248384"/>
                </a:lnTo>
                <a:lnTo>
                  <a:pt x="343978" y="271134"/>
                </a:lnTo>
                <a:lnTo>
                  <a:pt x="289370" y="285802"/>
                </a:lnTo>
                <a:lnTo>
                  <a:pt x="228599" y="290999"/>
                </a:lnTo>
                <a:lnTo>
                  <a:pt x="167829" y="285802"/>
                </a:lnTo>
                <a:lnTo>
                  <a:pt x="113221" y="271134"/>
                </a:lnTo>
                <a:lnTo>
                  <a:pt x="66955" y="248384"/>
                </a:lnTo>
                <a:lnTo>
                  <a:pt x="31210" y="218936"/>
                </a:lnTo>
                <a:lnTo>
                  <a:pt x="8165" y="184179"/>
                </a:lnTo>
                <a:lnTo>
                  <a:pt x="0" y="145499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57850" y="2574331"/>
            <a:ext cx="1148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4357850" y="3042198"/>
            <a:ext cx="3471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  <a:tab pos="312864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er,</a:t>
            </a:r>
            <a:r>
              <a:rPr sz="1800" spc="-25" dirty="0">
                <a:latin typeface="Times New Roman"/>
                <a:cs typeface="Times New Roman"/>
              </a:rPr>
              <a:t> er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5" dirty="0">
                <a:solidFill>
                  <a:srgbClr val="0000FF"/>
                </a:solidFill>
                <a:latin typeface="Times New Roman"/>
                <a:cs typeface="Times New Roman"/>
              </a:rPr>
              <a:t>ne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9024" y="2531631"/>
            <a:ext cx="717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8 </a:t>
            </a: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times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20"/>
              </a:spcBef>
            </a:pPr>
            <a:r>
              <a:rPr dirty="0"/>
              <a:t>Byte-Pair</a:t>
            </a:r>
            <a:r>
              <a:rPr spc="20" dirty="0"/>
              <a:t> </a:t>
            </a:r>
            <a:r>
              <a:rPr dirty="0"/>
              <a:t>Encoding</a:t>
            </a:r>
            <a:r>
              <a:rPr spc="25" dirty="0"/>
              <a:t> </a:t>
            </a:r>
            <a:r>
              <a:rPr dirty="0"/>
              <a:t>(BPE)</a:t>
            </a:r>
            <a:r>
              <a:rPr spc="-2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8011795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Arial"/>
                <a:cs typeface="Arial"/>
              </a:rPr>
              <a:t>Training</a:t>
            </a:r>
            <a:r>
              <a:rPr sz="1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corpus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lowest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newer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new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5574" y="1552930"/>
            <a:ext cx="74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Corpus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5574" y="1971421"/>
            <a:ext cx="1705610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  <a:tabLst>
                <a:tab pos="469265" algn="l"/>
                <a:tab pos="1266825" algn="l"/>
              </a:tabLst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r>
              <a:rPr sz="1800" dirty="0">
                <a:latin typeface="Times New Roman"/>
                <a:cs typeface="Times New Roman"/>
              </a:rPr>
              <a:t>	l o w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69227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l o w e s t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596390" algn="l"/>
              </a:tabLst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r>
              <a:rPr sz="1800" dirty="0">
                <a:latin typeface="Times New Roman"/>
                <a:cs typeface="Times New Roman"/>
              </a:rPr>
              <a:t>	n e w e 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945"/>
              </a:lnSpc>
              <a:tabLst>
                <a:tab pos="469265" algn="l"/>
                <a:tab pos="1558925" algn="l"/>
              </a:tabLst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	w i d e 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050"/>
              </a:lnSpc>
              <a:tabLst>
                <a:tab pos="469265" algn="l"/>
              </a:tabLst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	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57850" y="1552930"/>
            <a:ext cx="3471545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  <a:tabLst>
                <a:tab pos="240665" algn="l"/>
                <a:tab pos="312864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er,</a:t>
            </a:r>
            <a:r>
              <a:rPr sz="1800" spc="-25" dirty="0">
                <a:latin typeface="Times New Roman"/>
                <a:cs typeface="Times New Roman"/>
              </a:rPr>
              <a:t> er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spc="-25" dirty="0">
                <a:latin typeface="Times New Roman"/>
                <a:cs typeface="Times New Roman"/>
              </a:rPr>
              <a:t>ne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19274" y="2510450"/>
            <a:ext cx="613410" cy="291465"/>
          </a:xfrm>
          <a:custGeom>
            <a:avLst/>
            <a:gdLst/>
            <a:ahLst/>
            <a:cxnLst/>
            <a:rect l="l" t="t" r="r" b="b"/>
            <a:pathLst>
              <a:path w="613410" h="291464">
                <a:moveTo>
                  <a:pt x="0" y="145499"/>
                </a:moveTo>
                <a:lnTo>
                  <a:pt x="6229" y="116176"/>
                </a:lnTo>
                <a:lnTo>
                  <a:pt x="24094" y="88864"/>
                </a:lnTo>
                <a:lnTo>
                  <a:pt x="89801" y="42615"/>
                </a:lnTo>
                <a:lnTo>
                  <a:pt x="135177" y="24849"/>
                </a:lnTo>
                <a:lnTo>
                  <a:pt x="187257" y="11434"/>
                </a:lnTo>
                <a:lnTo>
                  <a:pt x="244809" y="2956"/>
                </a:lnTo>
                <a:lnTo>
                  <a:pt x="306599" y="0"/>
                </a:lnTo>
                <a:lnTo>
                  <a:pt x="368390" y="2956"/>
                </a:lnTo>
                <a:lnTo>
                  <a:pt x="425942" y="11434"/>
                </a:lnTo>
                <a:lnTo>
                  <a:pt x="478022" y="24849"/>
                </a:lnTo>
                <a:lnTo>
                  <a:pt x="523398" y="42615"/>
                </a:lnTo>
                <a:lnTo>
                  <a:pt x="560837" y="64149"/>
                </a:lnTo>
                <a:lnTo>
                  <a:pt x="606970" y="116176"/>
                </a:lnTo>
                <a:lnTo>
                  <a:pt x="613199" y="145499"/>
                </a:lnTo>
                <a:lnTo>
                  <a:pt x="589105" y="202135"/>
                </a:lnTo>
                <a:lnTo>
                  <a:pt x="523398" y="248384"/>
                </a:lnTo>
                <a:lnTo>
                  <a:pt x="478022" y="266150"/>
                </a:lnTo>
                <a:lnTo>
                  <a:pt x="425942" y="279565"/>
                </a:lnTo>
                <a:lnTo>
                  <a:pt x="368390" y="288043"/>
                </a:lnTo>
                <a:lnTo>
                  <a:pt x="306599" y="290999"/>
                </a:lnTo>
                <a:lnTo>
                  <a:pt x="244809" y="288043"/>
                </a:lnTo>
                <a:lnTo>
                  <a:pt x="187257" y="279565"/>
                </a:lnTo>
                <a:lnTo>
                  <a:pt x="135177" y="266150"/>
                </a:lnTo>
                <a:lnTo>
                  <a:pt x="89801" y="248384"/>
                </a:lnTo>
                <a:lnTo>
                  <a:pt x="52362" y="226850"/>
                </a:lnTo>
                <a:lnTo>
                  <a:pt x="6229" y="174823"/>
                </a:lnTo>
                <a:lnTo>
                  <a:pt x="0" y="145499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2314512" y="2994112"/>
            <a:ext cx="842010" cy="300990"/>
            <a:chOff x="2314512" y="2994112"/>
            <a:chExt cx="842010" cy="300990"/>
          </a:xfrm>
        </p:grpSpPr>
        <p:sp>
          <p:nvSpPr>
            <p:cNvPr id="9" name="object 9"/>
            <p:cNvSpPr/>
            <p:nvPr/>
          </p:nvSpPr>
          <p:spPr>
            <a:xfrm>
              <a:off x="2927544" y="3245078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19274" y="2998874"/>
              <a:ext cx="613410" cy="291465"/>
            </a:xfrm>
            <a:custGeom>
              <a:avLst/>
              <a:gdLst/>
              <a:ahLst/>
              <a:cxnLst/>
              <a:rect l="l" t="t" r="r" b="b"/>
              <a:pathLst>
                <a:path w="613410" h="291464">
                  <a:moveTo>
                    <a:pt x="0" y="145499"/>
                  </a:moveTo>
                  <a:lnTo>
                    <a:pt x="6229" y="116176"/>
                  </a:lnTo>
                  <a:lnTo>
                    <a:pt x="24094" y="88864"/>
                  </a:lnTo>
                  <a:lnTo>
                    <a:pt x="89801" y="42615"/>
                  </a:lnTo>
                  <a:lnTo>
                    <a:pt x="135177" y="24849"/>
                  </a:lnTo>
                  <a:lnTo>
                    <a:pt x="187257" y="11434"/>
                  </a:lnTo>
                  <a:lnTo>
                    <a:pt x="244809" y="2956"/>
                  </a:lnTo>
                  <a:lnTo>
                    <a:pt x="306599" y="0"/>
                  </a:lnTo>
                  <a:lnTo>
                    <a:pt x="368390" y="2956"/>
                  </a:lnTo>
                  <a:lnTo>
                    <a:pt x="425942" y="11434"/>
                  </a:lnTo>
                  <a:lnTo>
                    <a:pt x="478022" y="24849"/>
                  </a:lnTo>
                  <a:lnTo>
                    <a:pt x="523398" y="42615"/>
                  </a:lnTo>
                  <a:lnTo>
                    <a:pt x="560837" y="64149"/>
                  </a:lnTo>
                  <a:lnTo>
                    <a:pt x="606970" y="116176"/>
                  </a:lnTo>
                  <a:lnTo>
                    <a:pt x="613199" y="145499"/>
                  </a:lnTo>
                  <a:lnTo>
                    <a:pt x="589105" y="202135"/>
                  </a:lnTo>
                  <a:lnTo>
                    <a:pt x="523398" y="248384"/>
                  </a:lnTo>
                  <a:lnTo>
                    <a:pt x="478022" y="266150"/>
                  </a:lnTo>
                  <a:lnTo>
                    <a:pt x="425942" y="279565"/>
                  </a:lnTo>
                  <a:lnTo>
                    <a:pt x="368390" y="288043"/>
                  </a:lnTo>
                  <a:lnTo>
                    <a:pt x="306599" y="290999"/>
                  </a:lnTo>
                  <a:lnTo>
                    <a:pt x="244809" y="288043"/>
                  </a:lnTo>
                  <a:lnTo>
                    <a:pt x="187257" y="279565"/>
                  </a:lnTo>
                  <a:lnTo>
                    <a:pt x="135177" y="266150"/>
                  </a:lnTo>
                  <a:lnTo>
                    <a:pt x="89801" y="248384"/>
                  </a:lnTo>
                  <a:lnTo>
                    <a:pt x="52362" y="226850"/>
                  </a:lnTo>
                  <a:lnTo>
                    <a:pt x="6229" y="174823"/>
                  </a:lnTo>
                  <a:lnTo>
                    <a:pt x="0" y="145499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57850" y="2574331"/>
            <a:ext cx="1148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Vocabulary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4357850" y="3042198"/>
            <a:ext cx="3966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  <a:tab pos="312864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t,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er,</a:t>
            </a:r>
            <a:r>
              <a:rPr sz="1800" spc="-25" dirty="0">
                <a:latin typeface="Times New Roman"/>
                <a:cs typeface="Times New Roman"/>
              </a:rPr>
              <a:t> er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Times New Roman"/>
                <a:cs typeface="Times New Roman"/>
              </a:rPr>
              <a:t>new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9024" y="2531631"/>
            <a:ext cx="717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8 </a:t>
            </a: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times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9770">
              <a:lnSpc>
                <a:spcPct val="100000"/>
              </a:lnSpc>
              <a:spcBef>
                <a:spcPts val="120"/>
              </a:spcBef>
            </a:pPr>
            <a:r>
              <a:rPr dirty="0"/>
              <a:t>Byte-Pair</a:t>
            </a:r>
            <a:r>
              <a:rPr spc="20" dirty="0"/>
              <a:t> </a:t>
            </a:r>
            <a:r>
              <a:rPr dirty="0"/>
              <a:t>Encoding</a:t>
            </a:r>
            <a:r>
              <a:rPr spc="25" dirty="0"/>
              <a:t> </a:t>
            </a:r>
            <a:r>
              <a:rPr dirty="0"/>
              <a:t>(BPE)</a:t>
            </a:r>
            <a:r>
              <a:rPr spc="-25" dirty="0"/>
              <a:t> </a:t>
            </a:r>
            <a:r>
              <a:rPr spc="-10" dirty="0"/>
              <a:t>Tokenization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53350" y="2998331"/>
            <a:ext cx="3890645" cy="123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Using</a:t>
            </a:r>
            <a:r>
              <a:rPr sz="180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BPE</a:t>
            </a:r>
            <a:r>
              <a:rPr sz="18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sz="1800" b="1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tokenization</a:t>
            </a:r>
            <a:r>
              <a:rPr sz="1800" b="1" spc="-1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70600"/>
              </a:lnSpc>
              <a:tabLst>
                <a:tab pos="1521460" algn="l"/>
                <a:tab pos="1572260" algn="l"/>
                <a:tab pos="1840864" algn="l"/>
                <a:tab pos="3826510" algn="l"/>
                <a:tab pos="3877310" algn="l"/>
              </a:tabLst>
            </a:pPr>
            <a:r>
              <a:rPr sz="1800" b="1" dirty="0">
                <a:latin typeface="Times New Roman"/>
                <a:cs typeface="Times New Roman"/>
              </a:rPr>
              <a:t>Input: </a:t>
            </a:r>
            <a:r>
              <a:rPr sz="1800" b="1" spc="-10" dirty="0">
                <a:latin typeface="Times New Roman"/>
                <a:cs typeface="Times New Roman"/>
              </a:rPr>
              <a:t>newer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b="1" dirty="0">
                <a:latin typeface="Times New Roman"/>
                <a:cs typeface="Times New Roman"/>
              </a:rPr>
              <a:t>→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Tokens: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newer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Input: </a:t>
            </a:r>
            <a:r>
              <a:rPr sz="1800" b="1" spc="-10" dirty="0">
                <a:latin typeface="Times New Roman"/>
                <a:cs typeface="Times New Roman"/>
              </a:rPr>
              <a:t>lower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		</a:t>
            </a:r>
            <a:r>
              <a:rPr sz="1800" b="1" dirty="0">
                <a:latin typeface="Times New Roman"/>
                <a:cs typeface="Times New Roman"/>
              </a:rPr>
              <a:t>→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Tokens: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low,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er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850" y="707806"/>
            <a:ext cx="74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Corpus</a:t>
            </a:r>
            <a:endParaRPr sz="180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485019"/>
              </p:ext>
            </p:extLst>
          </p:nvPr>
        </p:nvGraphicFramePr>
        <p:xfrm>
          <a:off x="192800" y="1163887"/>
          <a:ext cx="8615679" cy="12388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0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445">
                <a:tc>
                  <a:txBody>
                    <a:bodyPr/>
                    <a:lstStyle/>
                    <a:p>
                      <a:pPr marL="31750">
                        <a:lnSpc>
                          <a:spcPts val="1939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939"/>
                        </a:lnSpc>
                        <a:tabLst>
                          <a:tab pos="96837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l o w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ts val="1939"/>
                        </a:lnSpc>
                      </a:pPr>
                      <a:r>
                        <a:rPr sz="1800" b="1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800" b="1" spc="-65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Vocabulary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79">
                <a:tc>
                  <a:txBody>
                    <a:bodyPr/>
                    <a:lstStyle/>
                    <a:p>
                      <a:pPr marL="31750">
                        <a:lnSpc>
                          <a:spcPts val="1739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739"/>
                        </a:lnSpc>
                        <a:tabLst>
                          <a:tab pos="139382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l o w e s t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31750">
                        <a:lnSpc>
                          <a:spcPts val="1875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875"/>
                        </a:lnSpc>
                        <a:tabLst>
                          <a:tab pos="1297940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 e w e r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ts val="1875"/>
                        </a:lnSpc>
                        <a:tabLst>
                          <a:tab pos="484505" algn="l"/>
                          <a:tab pos="3371850" algn="l"/>
                          <a:tab pos="5875655" algn="l"/>
                          <a:tab pos="6616065" algn="l"/>
                        </a:tabLst>
                      </a:pP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i,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o,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w,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er,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er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 ne,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new,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lo,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low,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newer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31750">
                        <a:lnSpc>
                          <a:spcPts val="1845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845"/>
                        </a:lnSpc>
                        <a:tabLst>
                          <a:tab pos="126047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w i d e r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54">
                <a:tc>
                  <a:txBody>
                    <a:bodyPr/>
                    <a:lstStyle/>
                    <a:p>
                      <a:pPr marL="31750">
                        <a:lnSpc>
                          <a:spcPts val="1870"/>
                        </a:lnSpc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1870"/>
                        </a:lnSpc>
                        <a:tabLst>
                          <a:tab pos="1006475" algn="l"/>
                        </a:tabLst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 e w </a:t>
                      </a: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	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904525" y="3553638"/>
            <a:ext cx="30378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802640" algn="l"/>
                <a:tab pos="844550" algn="l"/>
                <a:tab pos="2830195" algn="l"/>
              </a:tabLst>
            </a:pPr>
            <a:r>
              <a:rPr sz="1400" dirty="0">
                <a:latin typeface="Arial MT"/>
                <a:cs typeface="Arial MT"/>
              </a:rPr>
              <a:t>Merge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based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order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learned: </a:t>
            </a:r>
            <a:r>
              <a:rPr sz="1400" dirty="0">
                <a:latin typeface="Arial MT"/>
                <a:cs typeface="Arial MT"/>
              </a:rPr>
              <a:t>er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→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er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00" dirty="0">
                <a:latin typeface="Arial MT"/>
                <a:cs typeface="Arial MT"/>
              </a:rPr>
              <a:t>→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→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new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→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newer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00" spc="5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Arial MT"/>
                <a:cs typeface="Arial MT"/>
              </a:rPr>
              <a:t>er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→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er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sz="1400" dirty="0">
                <a:latin typeface="Arial MT"/>
                <a:cs typeface="Arial MT"/>
              </a:rPr>
              <a:t>→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→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low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398" y="1972144"/>
            <a:ext cx="346202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/>
              <a:t>Stop</a:t>
            </a:r>
            <a:r>
              <a:rPr sz="5200" spc="-25" dirty="0"/>
              <a:t> </a:t>
            </a:r>
            <a:r>
              <a:rPr sz="5200" spc="-10" dirty="0"/>
              <a:t>Words</a:t>
            </a:r>
            <a:endParaRPr sz="5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40255">
              <a:lnSpc>
                <a:spcPct val="100000"/>
              </a:lnSpc>
              <a:spcBef>
                <a:spcPts val="120"/>
              </a:spcBef>
            </a:pPr>
            <a:r>
              <a:rPr dirty="0"/>
              <a:t>Stopwords </a:t>
            </a:r>
            <a:r>
              <a:rPr spc="-10" dirty="0"/>
              <a:t>Removal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34045"/>
            <a:ext cx="8127365" cy="323723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Stopping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Removing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common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stream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tokens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become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index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terms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7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Words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function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helping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sentence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structure: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….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application,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additional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domain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specific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stop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words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list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constructed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Why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remove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stop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words?</a:t>
            </a:r>
            <a:endParaRPr sz="160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90"/>
              </a:spcBef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Reduce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indexing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(or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data)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size</a:t>
            </a:r>
            <a:endParaRPr sz="160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85"/>
              </a:spcBef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Usually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has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impact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NLP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task’s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effectiveness,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even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improve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it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Can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sometimes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cause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issues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NLP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tasks:</a:t>
            </a:r>
            <a:endParaRPr sz="160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85"/>
              </a:spcBef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e.g.,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phrases: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“to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not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be”,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“let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be”,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“flights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Portland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Maine”</a:t>
            </a:r>
            <a:endParaRPr sz="1600">
              <a:latin typeface="Arial MT"/>
              <a:cs typeface="Arial MT"/>
            </a:endParaRPr>
          </a:p>
          <a:p>
            <a:pPr marL="926465" lvl="1" indent="-351155">
              <a:lnSpc>
                <a:spcPct val="100000"/>
              </a:lnSpc>
              <a:spcBef>
                <a:spcPts val="290"/>
              </a:spcBef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Some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tasks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consider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very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small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stopwords</a:t>
            </a:r>
            <a:r>
              <a:rPr sz="1600" spc="-20" dirty="0">
                <a:latin typeface="Arial MT"/>
                <a:cs typeface="Arial MT"/>
              </a:rPr>
              <a:t> list</a:t>
            </a:r>
            <a:endParaRPr sz="1600">
              <a:latin typeface="Arial MT"/>
              <a:cs typeface="Arial MT"/>
            </a:endParaRPr>
          </a:p>
          <a:p>
            <a:pPr marL="1383665" lvl="2" indent="-351155">
              <a:lnSpc>
                <a:spcPct val="100000"/>
              </a:lnSpc>
              <a:spcBef>
                <a:spcPts val="290"/>
              </a:spcBef>
              <a:buChar char="■"/>
              <a:tabLst>
                <a:tab pos="1383665" algn="l"/>
              </a:tabLst>
            </a:pPr>
            <a:r>
              <a:rPr sz="1600" dirty="0">
                <a:latin typeface="Arial MT"/>
                <a:cs typeface="Arial MT"/>
              </a:rPr>
              <a:t>Sometimes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perhaps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only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“the”</a:t>
            </a:r>
            <a:endParaRPr sz="160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List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stopwords: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https://www.ranks.nl/stopwords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0854" y="1972144"/>
            <a:ext cx="406146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/>
              <a:t>Normalization</a:t>
            </a:r>
            <a:endParaRPr sz="5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22475">
              <a:lnSpc>
                <a:spcPct val="100000"/>
              </a:lnSpc>
              <a:spcBef>
                <a:spcPts val="120"/>
              </a:spcBef>
            </a:pPr>
            <a:r>
              <a:rPr spc="-30" dirty="0"/>
              <a:t>Token</a:t>
            </a:r>
            <a:r>
              <a:rPr spc="-135" dirty="0"/>
              <a:t> </a:t>
            </a:r>
            <a:r>
              <a:rPr spc="-10" dirty="0"/>
              <a:t>Normalization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72401" y="4854767"/>
            <a:ext cx="16700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latin typeface="Arial MT"/>
                <a:cs typeface="Arial MT"/>
              </a:rPr>
              <a:t>27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949" y="658429"/>
            <a:ext cx="8481695" cy="32569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600" spc="-40" dirty="0">
                <a:solidFill>
                  <a:srgbClr val="0000FF"/>
                </a:solidFill>
                <a:latin typeface="Arial MT"/>
                <a:cs typeface="Arial MT"/>
              </a:rPr>
              <a:t>Token/Term </a:t>
            </a:r>
            <a:r>
              <a:rPr sz="1600" dirty="0">
                <a:solidFill>
                  <a:srgbClr val="0000FF"/>
                </a:solidFill>
                <a:latin typeface="Arial MT"/>
                <a:cs typeface="Arial MT"/>
              </a:rPr>
              <a:t>Normalization</a:t>
            </a:r>
            <a:r>
              <a:rPr sz="1600" dirty="0">
                <a:latin typeface="Arial MT"/>
                <a:cs typeface="Arial MT"/>
              </a:rPr>
              <a:t>: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Reducing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tokens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canonical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token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(creating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equivalence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classes)</a:t>
            </a:r>
            <a:endParaRPr sz="16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595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Deleting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lang="en-US" sz="1600" dirty="0" smtClean="0">
                <a:latin typeface="Arial MT"/>
                <a:cs typeface="Arial MT"/>
              </a:rPr>
              <a:t>full stops(dots)</a:t>
            </a:r>
            <a:r>
              <a:rPr sz="1600" spc="-20" dirty="0" smtClean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term</a:t>
            </a:r>
            <a:endParaRPr sz="1600" dirty="0">
              <a:latin typeface="Arial MT"/>
              <a:cs typeface="Arial MT"/>
            </a:endParaRPr>
          </a:p>
          <a:p>
            <a:pPr marL="926465" lvl="1" indent="-320040">
              <a:lnSpc>
                <a:spcPct val="100000"/>
              </a:lnSpc>
              <a:spcBef>
                <a:spcPts val="95"/>
              </a:spcBef>
              <a:buSzPct val="75000"/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U.S.A,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USA</a:t>
            </a:r>
            <a:endParaRPr sz="1600" dirty="0">
              <a:latin typeface="Arial MT"/>
              <a:cs typeface="Arial MT"/>
            </a:endParaRPr>
          </a:p>
          <a:p>
            <a:pPr marL="926465" lvl="1" indent="-320040">
              <a:lnSpc>
                <a:spcPct val="100000"/>
              </a:lnSpc>
              <a:spcBef>
                <a:spcPts val="100"/>
              </a:spcBef>
              <a:buSzPct val="75000"/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How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about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C.A.T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(Caterpillar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Inc)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CAT?</a:t>
            </a:r>
            <a:r>
              <a:rPr sz="1600" spc="-30" dirty="0">
                <a:latin typeface="Arial MT"/>
                <a:cs typeface="Arial MT"/>
              </a:rPr>
              <a:t> (Test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Google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this!)</a:t>
            </a:r>
            <a:endParaRPr sz="16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285"/>
              </a:spcBef>
              <a:buSzPct val="112500"/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Deleting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hyphens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term</a:t>
            </a:r>
            <a:endParaRPr sz="1600" dirty="0">
              <a:latin typeface="Arial MT"/>
              <a:cs typeface="Arial MT"/>
            </a:endParaRPr>
          </a:p>
          <a:p>
            <a:pPr marL="926465" lvl="1" indent="-320040">
              <a:lnSpc>
                <a:spcPct val="100000"/>
              </a:lnSpc>
              <a:spcBef>
                <a:spcPts val="155"/>
              </a:spcBef>
              <a:buSzPct val="75000"/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anti-</a:t>
            </a:r>
            <a:r>
              <a:rPr sz="1600" spc="-10" dirty="0">
                <a:latin typeface="Arial MT"/>
                <a:cs typeface="Arial MT"/>
              </a:rPr>
              <a:t>discriminatory,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antidiscriminatory</a:t>
            </a:r>
            <a:endParaRPr sz="16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95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Keeping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relationships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unnormalized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tokens</a:t>
            </a:r>
            <a:endParaRPr sz="1600" dirty="0">
              <a:latin typeface="Arial MT"/>
              <a:cs typeface="Arial MT"/>
            </a:endParaRPr>
          </a:p>
          <a:p>
            <a:pPr marL="926465" lvl="1" indent="-320040">
              <a:lnSpc>
                <a:spcPct val="100000"/>
              </a:lnSpc>
              <a:spcBef>
                <a:spcPts val="100"/>
              </a:spcBef>
              <a:buSzPct val="75000"/>
              <a:buChar char="○"/>
              <a:tabLst>
                <a:tab pos="926465" algn="l"/>
              </a:tabLst>
            </a:pPr>
            <a:r>
              <a:rPr sz="1600" spc="-10" dirty="0">
                <a:latin typeface="Arial MT"/>
                <a:cs typeface="Arial MT"/>
              </a:rPr>
              <a:t>car,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automobile</a:t>
            </a:r>
            <a:endParaRPr sz="16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95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British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vs.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American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spelling:</a:t>
            </a:r>
            <a:endParaRPr sz="1600" dirty="0">
              <a:latin typeface="Arial MT"/>
              <a:cs typeface="Arial MT"/>
            </a:endParaRPr>
          </a:p>
          <a:p>
            <a:pPr marL="926465" lvl="1" indent="-320040">
              <a:lnSpc>
                <a:spcPct val="100000"/>
              </a:lnSpc>
              <a:spcBef>
                <a:spcPts val="95"/>
              </a:spcBef>
              <a:buSzPct val="75000"/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color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vs.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colour</a:t>
            </a:r>
            <a:endParaRPr sz="1600" dirty="0">
              <a:latin typeface="Arial MT"/>
              <a:cs typeface="Arial MT"/>
            </a:endParaRPr>
          </a:p>
          <a:p>
            <a:pPr marL="469265" indent="-351155">
              <a:lnSpc>
                <a:spcPct val="100000"/>
              </a:lnSpc>
              <a:spcBef>
                <a:spcPts val="95"/>
              </a:spcBef>
              <a:buChar char="●"/>
              <a:tabLst>
                <a:tab pos="469265" algn="l"/>
              </a:tabLst>
            </a:pPr>
            <a:r>
              <a:rPr sz="1600" dirty="0">
                <a:latin typeface="Arial MT"/>
                <a:cs typeface="Arial MT"/>
              </a:rPr>
              <a:t>Other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languages:</a:t>
            </a:r>
            <a:endParaRPr sz="1600" dirty="0">
              <a:latin typeface="Arial MT"/>
              <a:cs typeface="Arial MT"/>
            </a:endParaRPr>
          </a:p>
          <a:p>
            <a:pPr marL="926465" lvl="1" indent="-320040">
              <a:lnSpc>
                <a:spcPct val="100000"/>
              </a:lnSpc>
              <a:spcBef>
                <a:spcPts val="95"/>
              </a:spcBef>
              <a:buSzPct val="75000"/>
              <a:buChar char="○"/>
              <a:tabLst>
                <a:tab pos="926465" algn="l"/>
              </a:tabLst>
            </a:pPr>
            <a:r>
              <a:rPr sz="1600" dirty="0">
                <a:latin typeface="Arial MT"/>
                <a:cs typeface="Arial MT"/>
              </a:rPr>
              <a:t>French: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résumé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vs.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resume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035" y="1972144"/>
            <a:ext cx="299783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10" dirty="0"/>
              <a:t>Stemming</a:t>
            </a:r>
            <a:endParaRPr sz="5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51455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Stemming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31252"/>
            <a:ext cx="8461375" cy="3640454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700" spc="-10" dirty="0">
                <a:solidFill>
                  <a:srgbClr val="0000FF"/>
                </a:solidFill>
                <a:latin typeface="Arial MT"/>
                <a:cs typeface="Arial MT"/>
              </a:rPr>
              <a:t>Stemming</a:t>
            </a:r>
            <a:r>
              <a:rPr sz="1700" spc="-10" dirty="0">
                <a:latin typeface="Arial MT"/>
                <a:cs typeface="Arial MT"/>
              </a:rPr>
              <a:t>: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90" dirty="0">
                <a:latin typeface="Arial MT"/>
                <a:cs typeface="Arial MT"/>
              </a:rPr>
              <a:t>To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group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words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derived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common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stem</a:t>
            </a:r>
            <a:endParaRPr sz="1700" dirty="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805"/>
              </a:spcBef>
              <a:buSzPct val="82352"/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e.g,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“fish”,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“fishes”,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“fishing”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could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mapped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“fish”</a:t>
            </a:r>
            <a:endParaRPr sz="1700" dirty="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305"/>
              </a:spcBef>
              <a:buSzPct val="82352"/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Generally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produces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small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improvements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tasks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effectiveness</a:t>
            </a:r>
            <a:endParaRPr sz="1700" dirty="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305"/>
              </a:spcBef>
              <a:buSzPct val="82352"/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Similar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stopping,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stemming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done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aggressively,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conservatively,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all</a:t>
            </a:r>
            <a:endParaRPr sz="1700" dirty="0">
              <a:latin typeface="Arial MT"/>
              <a:cs typeface="Arial MT"/>
            </a:endParaRPr>
          </a:p>
          <a:p>
            <a:pPr marL="926465" lvl="1" indent="-389255">
              <a:lnSpc>
                <a:spcPct val="100000"/>
              </a:lnSpc>
              <a:spcBef>
                <a:spcPts val="690"/>
              </a:spcBef>
              <a:buSzPct val="123529"/>
              <a:buChar char="○"/>
              <a:tabLst>
                <a:tab pos="926465" algn="l"/>
              </a:tabLst>
            </a:pPr>
            <a:r>
              <a:rPr sz="1700" spc="-10" dirty="0">
                <a:latin typeface="Arial MT"/>
                <a:cs typeface="Arial MT"/>
              </a:rPr>
              <a:t>Aggressively: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consider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“fish”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“fishing”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same</a:t>
            </a:r>
            <a:endParaRPr sz="1700" dirty="0">
              <a:latin typeface="Arial MT"/>
              <a:cs typeface="Arial MT"/>
            </a:endParaRPr>
          </a:p>
          <a:p>
            <a:pPr marL="926465" lvl="1" indent="-389255">
              <a:lnSpc>
                <a:spcPct val="100000"/>
              </a:lnSpc>
              <a:spcBef>
                <a:spcPts val="860"/>
              </a:spcBef>
              <a:buSzPct val="123529"/>
              <a:buChar char="○"/>
              <a:tabLst>
                <a:tab pos="926465" algn="l"/>
              </a:tabLst>
            </a:pPr>
            <a:r>
              <a:rPr sz="1700" spc="-10" dirty="0">
                <a:latin typeface="Arial MT"/>
                <a:cs typeface="Arial MT"/>
              </a:rPr>
              <a:t>Conservatively: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just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identifying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plural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forms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letter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“s”</a:t>
            </a:r>
            <a:endParaRPr sz="1700" dirty="0">
              <a:latin typeface="Arial MT"/>
              <a:cs typeface="Arial MT"/>
            </a:endParaRPr>
          </a:p>
          <a:p>
            <a:pPr marL="1383665" lvl="2" indent="-358775">
              <a:lnSpc>
                <a:spcPct val="100000"/>
              </a:lnSpc>
              <a:spcBef>
                <a:spcPts val="475"/>
              </a:spcBef>
              <a:buChar char="■"/>
              <a:tabLst>
                <a:tab pos="1383665" algn="l"/>
                <a:tab pos="2298065" algn="l"/>
              </a:tabLst>
            </a:pPr>
            <a:r>
              <a:rPr sz="1700" spc="-10" dirty="0">
                <a:latin typeface="Arial MT"/>
                <a:cs typeface="Arial MT"/>
              </a:rPr>
              <a:t>issues:</a:t>
            </a:r>
            <a:r>
              <a:rPr sz="1700" dirty="0">
                <a:latin typeface="Arial MT"/>
                <a:cs typeface="Arial MT"/>
              </a:rPr>
              <a:t>	</a:t>
            </a:r>
            <a:r>
              <a:rPr sz="1700" spc="-10" dirty="0">
                <a:latin typeface="Arial MT"/>
                <a:cs typeface="Arial MT"/>
              </a:rPr>
              <a:t>‘Centuries’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→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‘Centurie”</a:t>
            </a:r>
            <a:endParaRPr sz="1700" dirty="0">
              <a:latin typeface="Arial MT"/>
              <a:cs typeface="Arial MT"/>
            </a:endParaRPr>
          </a:p>
          <a:p>
            <a:pPr marL="926465" lvl="1" indent="-389255">
              <a:lnSpc>
                <a:spcPct val="100000"/>
              </a:lnSpc>
              <a:spcBef>
                <a:spcPts val="690"/>
              </a:spcBef>
              <a:buSzPct val="123529"/>
              <a:buChar char="○"/>
              <a:tabLst>
                <a:tab pos="926465" algn="l"/>
              </a:tabLst>
            </a:pP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all: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Consider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word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variants</a:t>
            </a:r>
            <a:endParaRPr sz="1700" dirty="0">
              <a:latin typeface="Arial MT"/>
              <a:cs typeface="Arial MT"/>
            </a:endParaRPr>
          </a:p>
          <a:p>
            <a:pPr marL="469265" indent="-335915">
              <a:lnSpc>
                <a:spcPct val="100000"/>
              </a:lnSpc>
              <a:spcBef>
                <a:spcPts val="475"/>
              </a:spcBef>
              <a:buSzPct val="82352"/>
              <a:buChar char="●"/>
              <a:tabLst>
                <a:tab pos="469265" algn="l"/>
              </a:tabLst>
            </a:pPr>
            <a:r>
              <a:rPr sz="1700" dirty="0">
                <a:latin typeface="Arial MT"/>
                <a:cs typeface="Arial MT"/>
              </a:rPr>
              <a:t>In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different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languages,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stemming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have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different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importance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effectiveness:</a:t>
            </a:r>
            <a:endParaRPr sz="1700" dirty="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305"/>
              </a:spcBef>
              <a:buChar char="○"/>
              <a:tabLst>
                <a:tab pos="926465" algn="l"/>
              </a:tabLst>
            </a:pPr>
            <a:r>
              <a:rPr sz="1700" spc="-10" dirty="0">
                <a:latin typeface="Arial MT"/>
                <a:cs typeface="Arial MT"/>
              </a:rPr>
              <a:t>In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Arabic,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morphology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more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complicated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than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English</a:t>
            </a:r>
            <a:endParaRPr sz="1700" dirty="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305"/>
              </a:spcBef>
              <a:buChar char="○"/>
              <a:tabLst>
                <a:tab pos="926465" algn="l"/>
              </a:tabLst>
            </a:pPr>
            <a:r>
              <a:rPr sz="1700" dirty="0">
                <a:latin typeface="Arial MT"/>
                <a:cs typeface="Arial MT"/>
              </a:rPr>
              <a:t>In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Chinese,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stemming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not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effective</a:t>
            </a:r>
            <a:endParaRPr sz="17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A04D33E482A4BA12D40215DDD827E" ma:contentTypeVersion="0" ma:contentTypeDescription="Create a new document." ma:contentTypeScope="" ma:versionID="26d3fb80e243489262d67bbe907ee01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BBF540-B1C5-42B3-81F8-8FA64A8BB4C6}"/>
</file>

<file path=customXml/itemProps2.xml><?xml version="1.0" encoding="utf-8"?>
<ds:datastoreItem xmlns:ds="http://schemas.openxmlformats.org/officeDocument/2006/customXml" ds:itemID="{272F4C11-3A8D-4374-92F3-D656C4DDE6A9}"/>
</file>

<file path=customXml/itemProps3.xml><?xml version="1.0" encoding="utf-8"?>
<ds:datastoreItem xmlns:ds="http://schemas.openxmlformats.org/officeDocument/2006/customXml" ds:itemID="{4DA7801A-F8B2-4503-90FB-4AA184DB9CB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897</Words>
  <Application>Microsoft Office PowerPoint</Application>
  <PresentationFormat>On-screen Show (16:9)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MT</vt:lpstr>
      <vt:lpstr>Times New Roman</vt:lpstr>
      <vt:lpstr>Office Theme</vt:lpstr>
      <vt:lpstr>Natural Language Processing</vt:lpstr>
      <vt:lpstr>Previous Session</vt:lpstr>
      <vt:lpstr>Tokenization</vt:lpstr>
      <vt:lpstr>Word-based Tokenization</vt:lpstr>
      <vt:lpstr>Character-based Tokenization</vt:lpstr>
      <vt:lpstr>Subword Tokenization</vt:lpstr>
      <vt:lpstr>Byte-Pair Encoding (BPE) Tokenization</vt:lpstr>
      <vt:lpstr>Byte-Pair Encoding (BPE) Tokenization</vt:lpstr>
      <vt:lpstr>Byte-Pair Encoding (BPE) Tokenization</vt:lpstr>
      <vt:lpstr>Byte-Pair Encoding (BPE) Tokenization</vt:lpstr>
      <vt:lpstr>Byte-Pair Encoding (BPE) Tokenization</vt:lpstr>
      <vt:lpstr>Byte-Pair Encoding (BPE) Tokenization</vt:lpstr>
      <vt:lpstr>Byte-Pair Encoding (BPE) Tokenization</vt:lpstr>
      <vt:lpstr>Stop Words</vt:lpstr>
      <vt:lpstr>Stopwords Removal</vt:lpstr>
      <vt:lpstr>Normalization</vt:lpstr>
      <vt:lpstr>Token Normalization</vt:lpstr>
      <vt:lpstr>Stemming</vt:lpstr>
      <vt:lpstr>Stemming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-- Session 4 - Tokenization and Stemming.pptx</dc:title>
  <dc:creator>Pc</dc:creator>
  <cp:lastModifiedBy>Dr</cp:lastModifiedBy>
  <cp:revision>5</cp:revision>
  <dcterms:created xsi:type="dcterms:W3CDTF">2026-03-05T07:01:40Z</dcterms:created>
  <dcterms:modified xsi:type="dcterms:W3CDTF">2026-03-31T07:49:04Z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2026-03-05T00:00:00Z</vt:filetime>
  </property>
  <property fmtid="{D5CDD505-2E9C-101B-9397-08002B2CF9AE}" pid="5" name="ContentTypeId">
    <vt:lpwstr>0x010100E0EA04D33E482A4BA12D40215DDD827E</vt:lpwstr>
  </property>
</Properties>
</file>