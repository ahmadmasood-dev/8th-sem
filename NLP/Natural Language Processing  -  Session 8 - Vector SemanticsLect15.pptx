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305" r:id="rId11"/>
    <p:sldId id="282" r:id="rId12"/>
    <p:sldId id="283" r:id="rId13"/>
    <p:sldId id="284" r:id="rId14"/>
    <p:sldId id="306" r:id="rId15"/>
    <p:sldId id="285" r:id="rId16"/>
    <p:sldId id="286" r:id="rId17"/>
    <p:sldId id="287" r:id="rId18"/>
    <p:sldId id="288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1" autoAdjust="0"/>
    <p:restoredTop sz="94660"/>
  </p:normalViewPr>
  <p:slideViewPr>
    <p:cSldViewPr>
      <p:cViewPr varScale="1">
        <p:scale>
          <a:sx n="98" d="100"/>
          <a:sy n="98" d="100"/>
        </p:scale>
        <p:origin x="102" y="10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2458" y="60223"/>
            <a:ext cx="6119082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548" y="21682"/>
            <a:ext cx="8084903" cy="54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76312" y="2438212"/>
            <a:ext cx="4791709" cy="255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2221680" y="2849400"/>
            <a:ext cx="4699000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8:</a:t>
            </a:r>
            <a:r>
              <a:rPr sz="19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Vector</a:t>
            </a:r>
            <a:r>
              <a:rPr sz="19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Semantics</a:t>
            </a:r>
            <a:endParaRPr sz="1950" dirty="0">
              <a:latin typeface="Arial"/>
              <a:cs typeface="Arial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Dr.Nadia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 Saeed</a:t>
            </a: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1950" spc="-20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Quaid-I-</a:t>
            </a:r>
            <a:r>
              <a:rPr lang="en-US" sz="1950" spc="-20" dirty="0" err="1" smtClean="0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lang="en-US"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5279" y="1947760"/>
            <a:ext cx="591185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dirty="0"/>
              <a:t>Words</a:t>
            </a:r>
            <a:r>
              <a:rPr sz="5500" spc="-165" dirty="0"/>
              <a:t> </a:t>
            </a:r>
            <a:r>
              <a:rPr sz="5500" dirty="0"/>
              <a:t>and</a:t>
            </a:r>
            <a:r>
              <a:rPr sz="5500" spc="-165" dirty="0"/>
              <a:t> </a:t>
            </a:r>
            <a:r>
              <a:rPr sz="5500" spc="-10" dirty="0"/>
              <a:t>Vectors</a:t>
            </a:r>
            <a:endParaRPr sz="5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251075">
              <a:lnSpc>
                <a:spcPct val="100000"/>
              </a:lnSpc>
              <a:spcBef>
                <a:spcPts val="140"/>
              </a:spcBef>
            </a:pPr>
            <a:r>
              <a:rPr sz="2750" spc="-60" dirty="0"/>
              <a:t>Term-</a:t>
            </a:r>
            <a:r>
              <a:rPr sz="2750" dirty="0"/>
              <a:t>Document</a:t>
            </a:r>
            <a:r>
              <a:rPr sz="2750" spc="130" dirty="0"/>
              <a:t> </a:t>
            </a:r>
            <a:r>
              <a:rPr sz="2750" spc="-10" dirty="0"/>
              <a:t>Matrix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658860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3679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term-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vocabulary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each </a:t>
            </a:r>
            <a:r>
              <a:rPr sz="1800" dirty="0">
                <a:latin typeface="Arial MT"/>
                <a:cs typeface="Arial MT"/>
              </a:rPr>
              <a:t>column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collection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documents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Small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term-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occurrence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four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 </a:t>
            </a:r>
            <a:r>
              <a:rPr sz="1800" dirty="0">
                <a:latin typeface="Arial MT"/>
                <a:cs typeface="Arial MT"/>
              </a:rPr>
              <a:t>four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plays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Shakespeare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3846638"/>
            <a:ext cx="799655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term-</a:t>
            </a:r>
            <a:r>
              <a:rPr sz="1800" dirty="0">
                <a:latin typeface="Arial MT"/>
                <a:cs typeface="Arial MT"/>
              </a:rPr>
              <a:t>document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matrix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retrieval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(Salton,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1971)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850" y="2505475"/>
            <a:ext cx="6984891" cy="11933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9025">
              <a:lnSpc>
                <a:spcPct val="100000"/>
              </a:lnSpc>
              <a:spcBef>
                <a:spcPts val="100"/>
              </a:spcBef>
            </a:pPr>
            <a:r>
              <a:rPr sz="2650" dirty="0"/>
              <a:t>Documents</a:t>
            </a:r>
            <a:r>
              <a:rPr sz="2650" spc="-90" dirty="0"/>
              <a:t> </a:t>
            </a:r>
            <a:r>
              <a:rPr sz="2650" dirty="0"/>
              <a:t>as</a:t>
            </a:r>
            <a:r>
              <a:rPr sz="2650" spc="-85" dirty="0"/>
              <a:t> </a:t>
            </a:r>
            <a:r>
              <a:rPr sz="2650" spc="-10" dirty="0"/>
              <a:t>Vectors</a:t>
            </a:r>
            <a:endParaRPr sz="2650"/>
          </a:p>
        </p:txBody>
      </p:sp>
      <p:grpSp>
        <p:nvGrpSpPr>
          <p:cNvPr id="3" name="object 3"/>
          <p:cNvGrpSpPr/>
          <p:nvPr/>
        </p:nvGrpSpPr>
        <p:grpSpPr>
          <a:xfrm>
            <a:off x="1069525" y="719424"/>
            <a:ext cx="6985000" cy="1193800"/>
            <a:chOff x="1069525" y="719424"/>
            <a:chExt cx="6985000" cy="1193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525" y="719424"/>
              <a:ext cx="6984891" cy="11933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42649" y="984599"/>
              <a:ext cx="5039360" cy="893444"/>
            </a:xfrm>
            <a:custGeom>
              <a:avLst/>
              <a:gdLst/>
              <a:ahLst/>
              <a:cxnLst/>
              <a:rect l="l" t="t" r="r" b="b"/>
              <a:pathLst>
                <a:path w="5039359" h="893444">
                  <a:moveTo>
                    <a:pt x="0" y="0"/>
                  </a:moveTo>
                  <a:lnTo>
                    <a:pt x="341999" y="0"/>
                  </a:lnTo>
                  <a:lnTo>
                    <a:pt x="341999" y="893399"/>
                  </a:lnTo>
                  <a:lnTo>
                    <a:pt x="0" y="893399"/>
                  </a:lnTo>
                  <a:lnTo>
                    <a:pt x="0" y="0"/>
                  </a:lnTo>
                  <a:close/>
                </a:path>
                <a:path w="5039359" h="893444">
                  <a:moveTo>
                    <a:pt x="1660999" y="0"/>
                  </a:moveTo>
                  <a:lnTo>
                    <a:pt x="2002999" y="0"/>
                  </a:lnTo>
                  <a:lnTo>
                    <a:pt x="2002999" y="893399"/>
                  </a:lnTo>
                  <a:lnTo>
                    <a:pt x="1660999" y="893399"/>
                  </a:lnTo>
                  <a:lnTo>
                    <a:pt x="1660999" y="0"/>
                  </a:lnTo>
                  <a:close/>
                </a:path>
                <a:path w="5039359" h="893444">
                  <a:moveTo>
                    <a:pt x="3266174" y="0"/>
                  </a:moveTo>
                  <a:lnTo>
                    <a:pt x="3608174" y="0"/>
                  </a:lnTo>
                  <a:lnTo>
                    <a:pt x="3608174" y="893399"/>
                  </a:lnTo>
                  <a:lnTo>
                    <a:pt x="3266174" y="893399"/>
                  </a:lnTo>
                  <a:lnTo>
                    <a:pt x="3266174" y="0"/>
                  </a:lnTo>
                  <a:close/>
                </a:path>
                <a:path w="5039359" h="893444">
                  <a:moveTo>
                    <a:pt x="4696849" y="0"/>
                  </a:moveTo>
                  <a:lnTo>
                    <a:pt x="5038849" y="0"/>
                  </a:lnTo>
                  <a:lnTo>
                    <a:pt x="5038849" y="893399"/>
                  </a:lnTo>
                  <a:lnTo>
                    <a:pt x="4696849" y="893399"/>
                  </a:lnTo>
                  <a:lnTo>
                    <a:pt x="4696849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109" y="2525901"/>
            <a:ext cx="6239083" cy="25604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0949" y="1931007"/>
            <a:ext cx="7976234" cy="94297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700" dirty="0">
                <a:latin typeface="Arial MT"/>
                <a:cs typeface="Arial MT"/>
              </a:rPr>
              <a:t>Each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document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represented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vector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words</a:t>
            </a:r>
            <a:endParaRPr sz="1700" dirty="0">
              <a:latin typeface="Arial MT"/>
              <a:cs typeface="Arial MT"/>
            </a:endParaRPr>
          </a:p>
          <a:p>
            <a:pPr marL="5772785" marR="5080">
              <a:lnSpc>
                <a:spcPct val="100000"/>
              </a:lnSpc>
              <a:spcBef>
                <a:spcPts val="780"/>
              </a:spcBef>
            </a:pPr>
            <a:r>
              <a:rPr sz="1450" dirty="0">
                <a:latin typeface="Arial MT"/>
                <a:cs typeface="Arial MT"/>
              </a:rPr>
              <a:t>Comedies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have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more</a:t>
            </a:r>
            <a:r>
              <a:rPr sz="1450" spc="-55" dirty="0"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0000FF"/>
                </a:solidFill>
                <a:latin typeface="Arial MT"/>
                <a:cs typeface="Arial MT"/>
              </a:rPr>
              <a:t>fools </a:t>
            </a:r>
            <a:r>
              <a:rPr sz="1450" dirty="0">
                <a:latin typeface="Arial MT"/>
                <a:cs typeface="Arial MT"/>
              </a:rPr>
              <a:t>and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0000FF"/>
                </a:solidFill>
                <a:latin typeface="Arial MT"/>
                <a:cs typeface="Arial MT"/>
              </a:rPr>
              <a:t>wit</a:t>
            </a:r>
            <a:r>
              <a:rPr sz="145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and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fewer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9900FF"/>
                </a:solidFill>
                <a:latin typeface="Arial MT"/>
                <a:cs typeface="Arial MT"/>
              </a:rPr>
              <a:t>battles</a:t>
            </a:r>
            <a:endParaRPr sz="14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57475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Words</a:t>
            </a:r>
            <a:r>
              <a:rPr sz="2750" spc="20" dirty="0"/>
              <a:t> </a:t>
            </a:r>
            <a:r>
              <a:rPr sz="2750" dirty="0"/>
              <a:t>as</a:t>
            </a:r>
            <a:r>
              <a:rPr sz="2750" spc="35" dirty="0"/>
              <a:t> </a:t>
            </a:r>
            <a:r>
              <a:rPr sz="2750" spc="-10" dirty="0"/>
              <a:t>Vectors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0949" y="2352320"/>
            <a:ext cx="8743950" cy="19888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row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rather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column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vector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four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dimensions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fool,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battle,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good</a:t>
            </a:r>
            <a:endParaRPr sz="1600">
              <a:latin typeface="Arial MT"/>
              <a:cs typeface="Arial MT"/>
            </a:endParaRPr>
          </a:p>
          <a:p>
            <a:pPr marL="469900" marR="5080" indent="-35179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entry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4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thus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represents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counts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word’s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occurrence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document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corresponding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dimension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600">
              <a:latin typeface="Arial MT"/>
              <a:cs typeface="Arial MT"/>
            </a:endParaRPr>
          </a:p>
          <a:p>
            <a:pPr marL="12700" marR="813435">
              <a:lnSpc>
                <a:spcPct val="114999"/>
              </a:lnSpc>
              <a:spcBef>
                <a:spcPts val="5"/>
              </a:spcBef>
            </a:pPr>
            <a:r>
              <a:rPr sz="1600" dirty="0">
                <a:latin typeface="Arial MT"/>
                <a:cs typeface="Arial MT"/>
              </a:rPr>
              <a:t>battle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"the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kind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occurs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history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documents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(Julius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Caesar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Henry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V)" </a:t>
            </a:r>
            <a:r>
              <a:rPr sz="1600" dirty="0">
                <a:latin typeface="Arial MT"/>
                <a:cs typeface="Arial MT"/>
              </a:rPr>
              <a:t>fool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"the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kind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occurs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comedies,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especially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Twelfth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Night"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69525" y="719424"/>
            <a:ext cx="6985000" cy="1193800"/>
            <a:chOff x="1069525" y="719424"/>
            <a:chExt cx="6985000" cy="1193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525" y="719424"/>
              <a:ext cx="6984891" cy="11933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42649" y="984599"/>
              <a:ext cx="5067300" cy="655955"/>
            </a:xfrm>
            <a:custGeom>
              <a:avLst/>
              <a:gdLst/>
              <a:ahLst/>
              <a:cxnLst/>
              <a:rect l="l" t="t" r="r" b="b"/>
              <a:pathLst>
                <a:path w="5067300" h="655955">
                  <a:moveTo>
                    <a:pt x="0" y="0"/>
                  </a:moveTo>
                  <a:lnTo>
                    <a:pt x="5066699" y="0"/>
                  </a:lnTo>
                  <a:lnTo>
                    <a:pt x="5066699" y="201899"/>
                  </a:lnTo>
                  <a:lnTo>
                    <a:pt x="0" y="201899"/>
                  </a:lnTo>
                  <a:lnTo>
                    <a:pt x="0" y="0"/>
                  </a:lnTo>
                  <a:close/>
                </a:path>
                <a:path w="5067300" h="655955">
                  <a:moveTo>
                    <a:pt x="0" y="453649"/>
                  </a:moveTo>
                  <a:lnTo>
                    <a:pt x="5066699" y="453649"/>
                  </a:lnTo>
                  <a:lnTo>
                    <a:pt x="5066699" y="655549"/>
                  </a:lnTo>
                  <a:lnTo>
                    <a:pt x="0" y="655549"/>
                  </a:lnTo>
                  <a:lnTo>
                    <a:pt x="0" y="453649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11755">
              <a:lnSpc>
                <a:spcPct val="100000"/>
              </a:lnSpc>
              <a:spcBef>
                <a:spcPts val="140"/>
              </a:spcBef>
            </a:pPr>
            <a:r>
              <a:rPr sz="2750" spc="-10" dirty="0"/>
              <a:t>Word-</a:t>
            </a:r>
            <a:r>
              <a:rPr sz="2750" dirty="0"/>
              <a:t>Word</a:t>
            </a:r>
            <a:r>
              <a:rPr sz="2750" spc="55" dirty="0"/>
              <a:t> </a:t>
            </a:r>
            <a:r>
              <a:rPr sz="2750" spc="-10" dirty="0"/>
              <a:t>Matrix</a:t>
            </a:r>
            <a:endParaRPr sz="2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97545"/>
            <a:ext cx="8746490" cy="3869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Rather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than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term-</a:t>
            </a:r>
            <a:r>
              <a:rPr sz="1600" dirty="0">
                <a:latin typeface="Arial MT"/>
                <a:cs typeface="Arial MT"/>
              </a:rPr>
              <a:t>document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matrix,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term-</a:t>
            </a:r>
            <a:r>
              <a:rPr sz="1600" dirty="0">
                <a:latin typeface="Arial MT"/>
                <a:cs typeface="Arial MT"/>
              </a:rPr>
              <a:t>term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matrix,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commonly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called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spc="-10" dirty="0">
                <a:latin typeface="Arial MT"/>
                <a:cs typeface="Arial MT"/>
              </a:rPr>
              <a:t>word-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(or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term-</a:t>
            </a:r>
            <a:r>
              <a:rPr sz="1600" dirty="0">
                <a:latin typeface="Arial MT"/>
                <a:cs typeface="Arial MT"/>
              </a:rPr>
              <a:t>context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matrix)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which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columns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labeled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rather </a:t>
            </a:r>
            <a:r>
              <a:rPr sz="1600" dirty="0">
                <a:latin typeface="Arial MT"/>
                <a:cs typeface="Arial MT"/>
              </a:rPr>
              <a:t>than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documents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600" dirty="0">
              <a:latin typeface="Arial MT"/>
              <a:cs typeface="Arial MT"/>
            </a:endParaRPr>
          </a:p>
          <a:p>
            <a:pPr marL="12700" marR="5715" algn="just">
              <a:lnSpc>
                <a:spcPct val="114999"/>
              </a:lnSpc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|V|x|V|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cell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records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times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row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(target)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and </a:t>
            </a:r>
            <a:r>
              <a:rPr sz="1600" dirty="0">
                <a:latin typeface="Arial MT"/>
                <a:cs typeface="Arial MT"/>
              </a:rPr>
              <a:t>column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(context)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co-</a:t>
            </a:r>
            <a:r>
              <a:rPr sz="1600" dirty="0">
                <a:latin typeface="Arial MT"/>
                <a:cs typeface="Arial MT"/>
              </a:rPr>
              <a:t>occur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some</a:t>
            </a:r>
            <a:r>
              <a:rPr sz="16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context</a:t>
            </a:r>
            <a:r>
              <a:rPr sz="16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some</a:t>
            </a:r>
            <a:r>
              <a:rPr sz="16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training</a:t>
            </a:r>
            <a:r>
              <a:rPr sz="16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Arial MT"/>
                <a:cs typeface="Arial MT"/>
              </a:rPr>
              <a:t>corpus</a:t>
            </a:r>
            <a:endParaRPr sz="1600" dirty="0">
              <a:latin typeface="Arial MT"/>
              <a:cs typeface="Arial MT"/>
            </a:endParaRPr>
          </a:p>
          <a:p>
            <a:pPr marL="467359" marR="7620" indent="-337820" algn="just">
              <a:lnSpc>
                <a:spcPct val="114999"/>
              </a:lnSpc>
              <a:spcBef>
                <a:spcPts val="1235"/>
              </a:spcBef>
              <a:buChar char="●"/>
              <a:tabLst>
                <a:tab pos="469900" algn="l"/>
              </a:tabLst>
            </a:pPr>
            <a:r>
              <a:rPr sz="1450" dirty="0">
                <a:latin typeface="Arial MT"/>
                <a:cs typeface="Arial MT"/>
              </a:rPr>
              <a:t>The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context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could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be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document,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which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case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cell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represents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number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times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90" dirty="0">
                <a:latin typeface="Arial MT"/>
                <a:cs typeface="Arial MT"/>
              </a:rPr>
              <a:t> </a:t>
            </a:r>
            <a:r>
              <a:rPr sz="1450" spc="-25" dirty="0">
                <a:latin typeface="Arial MT"/>
                <a:cs typeface="Arial MT"/>
              </a:rPr>
              <a:t>two 	</a:t>
            </a:r>
            <a:r>
              <a:rPr sz="1450" dirty="0">
                <a:latin typeface="Arial MT"/>
                <a:cs typeface="Arial MT"/>
              </a:rPr>
              <a:t>words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appear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same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document</a:t>
            </a:r>
            <a:endParaRPr sz="1450" dirty="0">
              <a:latin typeface="Arial MT"/>
              <a:cs typeface="Arial MT"/>
            </a:endParaRPr>
          </a:p>
          <a:p>
            <a:pPr marL="467359" marR="5080" indent="-337820" algn="just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450" dirty="0">
                <a:latin typeface="Arial MT"/>
                <a:cs typeface="Arial MT"/>
              </a:rPr>
              <a:t>It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is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most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common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use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smaller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contexts: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generally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window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around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word,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for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example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4 	</a:t>
            </a:r>
            <a:r>
              <a:rPr sz="1450" dirty="0">
                <a:latin typeface="Arial MT"/>
                <a:cs typeface="Arial MT"/>
              </a:rPr>
              <a:t>words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left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and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4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words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to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right,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which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case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cell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represents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number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times</a:t>
            </a:r>
            <a:r>
              <a:rPr sz="1450" spc="1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column</a:t>
            </a:r>
            <a:r>
              <a:rPr sz="1450" spc="12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word 	</a:t>
            </a:r>
            <a:r>
              <a:rPr sz="1450" dirty="0">
                <a:latin typeface="Arial MT"/>
                <a:cs typeface="Arial MT"/>
              </a:rPr>
              <a:t>occurs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such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±4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word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window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around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row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word</a:t>
            </a:r>
            <a:endParaRPr sz="145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455"/>
              </a:spcBef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row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word-</a:t>
            </a:r>
            <a:r>
              <a:rPr sz="1600" dirty="0">
                <a:latin typeface="Arial MT"/>
                <a:cs typeface="Arial MT"/>
              </a:rPr>
              <a:t>word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matrix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co-</a:t>
            </a:r>
            <a:r>
              <a:rPr sz="1600" dirty="0">
                <a:latin typeface="Arial MT"/>
                <a:cs typeface="Arial MT"/>
              </a:rPr>
              <a:t>occurrence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(context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vector)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row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(target)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word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7340">
              <a:lnSpc>
                <a:spcPct val="100000"/>
              </a:lnSpc>
              <a:spcBef>
                <a:spcPts val="100"/>
              </a:spcBef>
            </a:pPr>
            <a:r>
              <a:rPr sz="3100" spc="-35" dirty="0"/>
              <a:t>Word-</a:t>
            </a:r>
            <a:r>
              <a:rPr sz="3100" dirty="0"/>
              <a:t>Word</a:t>
            </a:r>
            <a:r>
              <a:rPr sz="3100" spc="-120" dirty="0"/>
              <a:t> </a:t>
            </a:r>
            <a:r>
              <a:rPr sz="3100" dirty="0"/>
              <a:t>Matrix:</a:t>
            </a:r>
            <a:r>
              <a:rPr sz="3100" spc="-125" dirty="0"/>
              <a:t> </a:t>
            </a:r>
            <a:r>
              <a:rPr sz="3100" spc="-10" dirty="0"/>
              <a:t>Example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160949" y="2769643"/>
            <a:ext cx="32931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Two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similar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meaning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context </a:t>
            </a:r>
            <a:r>
              <a:rPr sz="2400" dirty="0">
                <a:latin typeface="Arial MT"/>
                <a:cs typeface="Arial MT"/>
              </a:rPr>
              <a:t>vectors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similar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975" y="735274"/>
            <a:ext cx="7424049" cy="1272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0450" y="2204266"/>
            <a:ext cx="3966356" cy="27798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95481" y="1988399"/>
            <a:ext cx="47529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Cosine</a:t>
            </a:r>
            <a:r>
              <a:rPr sz="5000" spc="-40" dirty="0"/>
              <a:t> </a:t>
            </a:r>
            <a:r>
              <a:rPr sz="5000" spc="-10" dirty="0"/>
              <a:t>Similarity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905000" y="42771"/>
            <a:ext cx="6119082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8973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Euclidean</a:t>
            </a:r>
            <a:r>
              <a:rPr sz="2500" spc="65" dirty="0"/>
              <a:t> </a:t>
            </a:r>
            <a:r>
              <a:rPr sz="2500" spc="-10" dirty="0"/>
              <a:t>Distance</a:t>
            </a:r>
            <a:endParaRPr sz="25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43934"/>
            <a:ext cx="261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4384" y="19885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Idea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tells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far apart two things are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measuring distance between two points on a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24384" y="33337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NLP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 are turned into numbers (vectors)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Euclidean distance checks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similar words/documents are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Closer = more similar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farther = less similar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0" y="440252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small distance (similar)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large distance (different)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00520"/>
            <a:ext cx="3791479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8973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Euclidean</a:t>
            </a:r>
            <a:r>
              <a:rPr sz="2500" spc="65" dirty="0"/>
              <a:t> </a:t>
            </a:r>
            <a:r>
              <a:rPr sz="2500" spc="-10" dirty="0"/>
              <a:t>Distance</a:t>
            </a:r>
            <a:endParaRPr sz="2500" dirty="0"/>
          </a:p>
        </p:txBody>
      </p:sp>
      <p:sp>
        <p:nvSpPr>
          <p:cNvPr id="3" name="object 3"/>
          <p:cNvSpPr txBox="1"/>
          <p:nvPr/>
        </p:nvSpPr>
        <p:spPr>
          <a:xfrm>
            <a:off x="3088850" y="769273"/>
            <a:ext cx="28409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solidFill>
                  <a:srgbClr val="0000FF"/>
                </a:solidFill>
                <a:latin typeface="Arial MT"/>
                <a:cs typeface="Arial MT"/>
              </a:rPr>
              <a:t>Two-</a:t>
            </a:r>
            <a:r>
              <a:rPr sz="1900" spc="-10" dirty="0">
                <a:solidFill>
                  <a:srgbClr val="0000FF"/>
                </a:solidFill>
                <a:latin typeface="Arial MT"/>
                <a:cs typeface="Arial MT"/>
              </a:rPr>
              <a:t>dimensional</a:t>
            </a:r>
            <a:r>
              <a:rPr sz="19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Arial MT"/>
                <a:cs typeface="Arial MT"/>
              </a:rPr>
              <a:t>Example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556" y="1496175"/>
            <a:ext cx="3697076" cy="25754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726" y="4370276"/>
            <a:ext cx="7592364" cy="5072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56029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67271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Euclidean</a:t>
            </a:r>
            <a:r>
              <a:rPr sz="2500" spc="65" dirty="0"/>
              <a:t> </a:t>
            </a:r>
            <a:r>
              <a:rPr sz="2500" spc="-10" dirty="0"/>
              <a:t>Distance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730750" y="3702242"/>
            <a:ext cx="4876800" cy="11525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7985" indent="-375285">
              <a:lnSpc>
                <a:spcPts val="2235"/>
              </a:lnSpc>
              <a:spcBef>
                <a:spcPts val="120"/>
              </a:spcBef>
              <a:buChar char="●"/>
              <a:tabLst>
                <a:tab pos="387985" algn="l"/>
              </a:tabLst>
            </a:pPr>
            <a:r>
              <a:rPr sz="1900" dirty="0">
                <a:latin typeface="Arial MT"/>
                <a:cs typeface="Arial MT"/>
              </a:rPr>
              <a:t>Consider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Query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“Natural</a:t>
            </a:r>
            <a:r>
              <a:rPr sz="1900" spc="-10" dirty="0">
                <a:latin typeface="Arial MT"/>
                <a:cs typeface="Arial MT"/>
              </a:rPr>
              <a:t> Language”</a:t>
            </a:r>
            <a:endParaRPr sz="1900" dirty="0">
              <a:latin typeface="Arial MT"/>
              <a:cs typeface="Arial MT"/>
            </a:endParaRPr>
          </a:p>
          <a:p>
            <a:pPr marL="845185" lvl="1" indent="-375285">
              <a:lnSpc>
                <a:spcPts val="2190"/>
              </a:lnSpc>
              <a:buChar char="○"/>
              <a:tabLst>
                <a:tab pos="845185" algn="l"/>
              </a:tabLst>
            </a:pPr>
            <a:r>
              <a:rPr sz="1900" dirty="0">
                <a:latin typeface="Arial MT"/>
                <a:cs typeface="Arial MT"/>
              </a:rPr>
              <a:t>D1: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“Natural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Language”</a:t>
            </a:r>
            <a:endParaRPr sz="1900" dirty="0">
              <a:latin typeface="Arial MT"/>
              <a:cs typeface="Arial MT"/>
            </a:endParaRPr>
          </a:p>
          <a:p>
            <a:pPr marL="845185" lvl="1" indent="-375285">
              <a:lnSpc>
                <a:spcPts val="2190"/>
              </a:lnSpc>
              <a:buChar char="○"/>
              <a:tabLst>
                <a:tab pos="845185" algn="l"/>
              </a:tabLst>
            </a:pPr>
            <a:r>
              <a:rPr sz="1900" dirty="0">
                <a:latin typeface="Arial MT"/>
                <a:cs typeface="Arial MT"/>
              </a:rPr>
              <a:t>D2: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“Natural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…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Natural”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(200</a:t>
            </a:r>
            <a:r>
              <a:rPr sz="1900" spc="-10" dirty="0">
                <a:latin typeface="Arial MT"/>
                <a:cs typeface="Arial MT"/>
              </a:rPr>
              <a:t> times)</a:t>
            </a:r>
            <a:endParaRPr sz="1900" dirty="0">
              <a:latin typeface="Arial MT"/>
              <a:cs typeface="Arial MT"/>
            </a:endParaRPr>
          </a:p>
          <a:p>
            <a:pPr marL="1302385" lvl="2" indent="-375285">
              <a:lnSpc>
                <a:spcPts val="2235"/>
              </a:lnSpc>
              <a:buChar char="■"/>
              <a:tabLst>
                <a:tab pos="1302385" algn="l"/>
              </a:tabLst>
            </a:pPr>
            <a:r>
              <a:rPr sz="1900" dirty="0">
                <a:latin typeface="Arial MT"/>
                <a:cs typeface="Arial MT"/>
              </a:rPr>
              <a:t>Concatenate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document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itself</a:t>
            </a:r>
            <a:endParaRPr sz="19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89436" y="1064912"/>
            <a:ext cx="2711450" cy="2250440"/>
            <a:chOff x="2889436" y="1064912"/>
            <a:chExt cx="2711450" cy="2250440"/>
          </a:xfrm>
        </p:grpSpPr>
        <p:sp>
          <p:nvSpPr>
            <p:cNvPr id="5" name="object 5"/>
            <p:cNvSpPr/>
            <p:nvPr/>
          </p:nvSpPr>
          <p:spPr>
            <a:xfrm>
              <a:off x="3011975" y="1112899"/>
              <a:ext cx="10160" cy="2197735"/>
            </a:xfrm>
            <a:custGeom>
              <a:avLst/>
              <a:gdLst/>
              <a:ahLst/>
              <a:cxnLst/>
              <a:rect l="l" t="t" r="r" b="b"/>
              <a:pathLst>
                <a:path w="10160" h="2197735">
                  <a:moveTo>
                    <a:pt x="0" y="2197650"/>
                  </a:moveTo>
                  <a:lnTo>
                    <a:pt x="994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6183" y="1069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96"/>
                  </a:moveTo>
                  <a:lnTo>
                    <a:pt x="0" y="43153"/>
                  </a:lnTo>
                  <a:lnTo>
                    <a:pt x="15928" y="0"/>
                  </a:lnTo>
                  <a:lnTo>
                    <a:pt x="31465" y="432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06183" y="1069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96"/>
                  </a:moveTo>
                  <a:lnTo>
                    <a:pt x="15928" y="0"/>
                  </a:lnTo>
                  <a:lnTo>
                    <a:pt x="0" y="43153"/>
                  </a:lnTo>
                  <a:lnTo>
                    <a:pt x="31465" y="432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94198" y="3154680"/>
              <a:ext cx="2658745" cy="0"/>
            </a:xfrm>
            <a:custGeom>
              <a:avLst/>
              <a:gdLst/>
              <a:ahLst/>
              <a:cxnLst/>
              <a:rect l="l" t="t" r="r" b="b"/>
              <a:pathLst>
                <a:path w="2658745">
                  <a:moveTo>
                    <a:pt x="0" y="0"/>
                  </a:moveTo>
                  <a:lnTo>
                    <a:pt x="26584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52648" y="31389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52648" y="31389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0537" y="3073737"/>
              <a:ext cx="144524" cy="1334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4812" y="2804162"/>
              <a:ext cx="144524" cy="1334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69150" y="2571750"/>
              <a:ext cx="3175" cy="204470"/>
            </a:xfrm>
            <a:custGeom>
              <a:avLst/>
              <a:gdLst/>
              <a:ahLst/>
              <a:cxnLst/>
              <a:rect l="l" t="t" r="r" b="b"/>
              <a:pathLst>
                <a:path w="3175" h="204469">
                  <a:moveTo>
                    <a:pt x="2699" y="0"/>
                  </a:moveTo>
                  <a:lnTo>
                    <a:pt x="0" y="2042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74" y="685188"/>
            <a:ext cx="598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Natural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0925" y="3022288"/>
            <a:ext cx="8166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Language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4375" y="3249837"/>
            <a:ext cx="1035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3374" y="273556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97174" y="1344836"/>
            <a:ext cx="2584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200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84574" y="2870874"/>
            <a:ext cx="210820" cy="226060"/>
          </a:xfrm>
          <a:custGeom>
            <a:avLst/>
            <a:gdLst/>
            <a:ahLst/>
            <a:cxnLst/>
            <a:rect l="l" t="t" r="r" b="b"/>
            <a:pathLst>
              <a:path w="210820" h="226060">
                <a:moveTo>
                  <a:pt x="0" y="0"/>
                </a:moveTo>
                <a:lnTo>
                  <a:pt x="210599" y="225899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249300" y="2702775"/>
            <a:ext cx="3714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0000FF"/>
                </a:solidFill>
                <a:latin typeface="Arial MT"/>
                <a:cs typeface="Arial MT"/>
              </a:rPr>
              <a:t>2.82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44812" y="1400212"/>
            <a:ext cx="144780" cy="1409065"/>
            <a:chOff x="2944812" y="1400212"/>
            <a:chExt cx="144780" cy="140906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4812" y="1400212"/>
              <a:ext cx="144524" cy="1334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017074" y="1528874"/>
              <a:ext cx="0" cy="1280160"/>
            </a:xfrm>
            <a:custGeom>
              <a:avLst/>
              <a:gdLst/>
              <a:ahLst/>
              <a:cxnLst/>
              <a:rect l="l" t="t" r="r" b="b"/>
              <a:pathLst>
                <a:path h="1280160">
                  <a:moveTo>
                    <a:pt x="0" y="0"/>
                  </a:moveTo>
                  <a:lnTo>
                    <a:pt x="0" y="1280099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03649" y="2085975"/>
            <a:ext cx="322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0000FF"/>
                </a:solidFill>
                <a:latin typeface="Arial MT"/>
                <a:cs typeface="Arial MT"/>
              </a:rPr>
              <a:t>198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67271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Euclidean</a:t>
            </a:r>
            <a:r>
              <a:rPr sz="2500" spc="65" dirty="0"/>
              <a:t> </a:t>
            </a:r>
            <a:r>
              <a:rPr sz="2500" spc="-10" dirty="0"/>
              <a:t>Distance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999900" y="3681491"/>
            <a:ext cx="6877684" cy="11525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235"/>
              </a:lnSpc>
              <a:spcBef>
                <a:spcPts val="120"/>
              </a:spcBef>
            </a:pPr>
            <a:r>
              <a:rPr sz="1900" dirty="0">
                <a:latin typeface="Arial MT"/>
                <a:cs typeface="Arial MT"/>
              </a:rPr>
              <a:t>Euclidean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Distance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large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vectors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different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lengths</a:t>
            </a:r>
            <a:endParaRPr sz="1900" dirty="0">
              <a:latin typeface="Arial MT"/>
              <a:cs typeface="Arial MT"/>
            </a:endParaRPr>
          </a:p>
          <a:p>
            <a:pPr marL="12700">
              <a:lnSpc>
                <a:spcPts val="2190"/>
              </a:lnSpc>
            </a:pPr>
            <a:r>
              <a:rPr sz="1900" spc="-40" dirty="0">
                <a:latin typeface="Arial MT"/>
                <a:cs typeface="Arial MT"/>
              </a:rPr>
              <a:t>Take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document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append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itself.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Call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this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document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800" spc="-760" dirty="0">
                <a:latin typeface="Arial MT"/>
                <a:cs typeface="Arial MT"/>
              </a:rPr>
              <a:t>dʹ</a:t>
            </a:r>
            <a:endParaRPr sz="1800" dirty="0">
              <a:latin typeface="Arial MT"/>
              <a:cs typeface="Arial MT"/>
            </a:endParaRPr>
          </a:p>
          <a:p>
            <a:pPr marL="469265" indent="-375285">
              <a:lnSpc>
                <a:spcPts val="2190"/>
              </a:lnSpc>
              <a:buChar char="●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“Semantically”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 </a:t>
            </a:r>
            <a:r>
              <a:rPr sz="1800" spc="-735" dirty="0">
                <a:latin typeface="Arial MT"/>
                <a:cs typeface="Arial MT"/>
              </a:rPr>
              <a:t>dʹ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lang="en-US" sz="1800" spc="30" dirty="0" smtClean="0">
                <a:latin typeface="Arial MT"/>
                <a:cs typeface="Arial MT"/>
              </a:rPr>
              <a:t>  </a:t>
            </a:r>
            <a:r>
              <a:rPr sz="1900" dirty="0" smtClean="0">
                <a:latin typeface="Arial MT"/>
                <a:cs typeface="Arial MT"/>
              </a:rPr>
              <a:t>have</a:t>
            </a:r>
            <a:r>
              <a:rPr sz="1900" spc="-5" dirty="0" smtClean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same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content</a:t>
            </a:r>
            <a:endParaRPr sz="1900" dirty="0">
              <a:latin typeface="Arial MT"/>
              <a:cs typeface="Arial MT"/>
            </a:endParaRPr>
          </a:p>
          <a:p>
            <a:pPr marL="469265" indent="-375285">
              <a:lnSpc>
                <a:spcPts val="2235"/>
              </a:lnSpc>
              <a:buChar char="●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Euclidean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distance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between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</a:t>
            </a:r>
            <a:r>
              <a:rPr sz="1900" dirty="0" smtClean="0">
                <a:latin typeface="Arial MT"/>
                <a:cs typeface="Arial MT"/>
              </a:rPr>
              <a:t>’</a:t>
            </a:r>
            <a:r>
              <a:rPr lang="en-US" sz="1900" dirty="0" smtClean="0">
                <a:latin typeface="Arial MT"/>
                <a:cs typeface="Arial MT"/>
              </a:rPr>
              <a:t> </a:t>
            </a:r>
            <a:r>
              <a:rPr sz="1900" dirty="0" smtClean="0">
                <a:latin typeface="Arial MT"/>
                <a:cs typeface="Arial MT"/>
              </a:rPr>
              <a:t>can</a:t>
            </a:r>
            <a:r>
              <a:rPr sz="1900" spc="-20" dirty="0" smtClean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quite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large</a:t>
            </a:r>
            <a:endParaRPr sz="19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89436" y="1064912"/>
            <a:ext cx="2711450" cy="2250440"/>
            <a:chOff x="2889436" y="1064912"/>
            <a:chExt cx="2711450" cy="2250440"/>
          </a:xfrm>
        </p:grpSpPr>
        <p:sp>
          <p:nvSpPr>
            <p:cNvPr id="5" name="object 5"/>
            <p:cNvSpPr/>
            <p:nvPr/>
          </p:nvSpPr>
          <p:spPr>
            <a:xfrm>
              <a:off x="3011975" y="1112899"/>
              <a:ext cx="10160" cy="2197735"/>
            </a:xfrm>
            <a:custGeom>
              <a:avLst/>
              <a:gdLst/>
              <a:ahLst/>
              <a:cxnLst/>
              <a:rect l="l" t="t" r="r" b="b"/>
              <a:pathLst>
                <a:path w="10160" h="2197735">
                  <a:moveTo>
                    <a:pt x="0" y="2197650"/>
                  </a:moveTo>
                  <a:lnTo>
                    <a:pt x="994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06183" y="1069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96"/>
                  </a:moveTo>
                  <a:lnTo>
                    <a:pt x="0" y="43153"/>
                  </a:lnTo>
                  <a:lnTo>
                    <a:pt x="15928" y="0"/>
                  </a:lnTo>
                  <a:lnTo>
                    <a:pt x="31465" y="432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06183" y="1069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96"/>
                  </a:moveTo>
                  <a:lnTo>
                    <a:pt x="15928" y="0"/>
                  </a:lnTo>
                  <a:lnTo>
                    <a:pt x="0" y="43153"/>
                  </a:lnTo>
                  <a:lnTo>
                    <a:pt x="31465" y="432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94198" y="3154680"/>
              <a:ext cx="2658745" cy="0"/>
            </a:xfrm>
            <a:custGeom>
              <a:avLst/>
              <a:gdLst/>
              <a:ahLst/>
              <a:cxnLst/>
              <a:rect l="l" t="t" r="r" b="b"/>
              <a:pathLst>
                <a:path w="2658745">
                  <a:moveTo>
                    <a:pt x="0" y="0"/>
                  </a:moveTo>
                  <a:lnTo>
                    <a:pt x="26584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52648" y="31389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52648" y="31389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0537" y="2801012"/>
              <a:ext cx="144524" cy="1334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5737" y="1395712"/>
              <a:ext cx="144524" cy="1334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39800" y="1462425"/>
              <a:ext cx="2298700" cy="1703070"/>
            </a:xfrm>
            <a:custGeom>
              <a:avLst/>
              <a:gdLst/>
              <a:ahLst/>
              <a:cxnLst/>
              <a:rect l="l" t="t" r="r" b="b"/>
              <a:pathLst>
                <a:path w="2298700" h="1703070">
                  <a:moveTo>
                    <a:pt x="2298199" y="61949"/>
                  </a:moveTo>
                  <a:lnTo>
                    <a:pt x="2278999" y="1702649"/>
                  </a:lnTo>
                </a:path>
                <a:path w="2298700" h="1703070">
                  <a:moveTo>
                    <a:pt x="302999" y="1467249"/>
                  </a:moveTo>
                  <a:lnTo>
                    <a:pt x="300299" y="1671549"/>
                  </a:lnTo>
                </a:path>
                <a:path w="2298700" h="1703070">
                  <a:moveTo>
                    <a:pt x="235499" y="1405299"/>
                  </a:moveTo>
                  <a:lnTo>
                    <a:pt x="0" y="1411599"/>
                  </a:lnTo>
                </a:path>
                <a:path w="2298700" h="1703070">
                  <a:moveTo>
                    <a:pt x="2230699" y="0"/>
                  </a:moveTo>
                  <a:lnTo>
                    <a:pt x="3199" y="8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94074" y="685188"/>
            <a:ext cx="598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Natural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4375" y="3004229"/>
            <a:ext cx="3202940" cy="43878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40"/>
              </a:spcBef>
            </a:pPr>
            <a:r>
              <a:rPr sz="1400" spc="-10" dirty="0">
                <a:latin typeface="Arial MT"/>
                <a:cs typeface="Arial MT"/>
              </a:rPr>
              <a:t>Language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80564" algn="l"/>
              </a:tabLst>
            </a:pPr>
            <a:r>
              <a:rPr sz="1100" spc="-50" dirty="0">
                <a:latin typeface="Arial MT"/>
                <a:cs typeface="Arial MT"/>
              </a:rPr>
              <a:t>2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25" dirty="0">
                <a:latin typeface="Arial MT"/>
                <a:cs typeface="Arial MT"/>
              </a:rPr>
              <a:t>200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73374" y="273556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90529" y="1506319"/>
            <a:ext cx="1899920" cy="1317625"/>
          </a:xfrm>
          <a:custGeom>
            <a:avLst/>
            <a:gdLst/>
            <a:ahLst/>
            <a:cxnLst/>
            <a:rect l="l" t="t" r="r" b="b"/>
            <a:pathLst>
              <a:path w="1899920" h="1317625">
                <a:moveTo>
                  <a:pt x="0" y="1317599"/>
                </a:moveTo>
                <a:lnTo>
                  <a:pt x="1899599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97174" y="1344836"/>
            <a:ext cx="1979930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200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 MT"/>
              <a:cs typeface="Arial MT"/>
            </a:endParaRPr>
          </a:p>
          <a:p>
            <a:pPr marL="445134">
              <a:lnSpc>
                <a:spcPct val="100000"/>
              </a:lnSpc>
            </a:pPr>
            <a:r>
              <a:rPr sz="1400" dirty="0">
                <a:solidFill>
                  <a:srgbClr val="0000FF"/>
                </a:solidFill>
                <a:latin typeface="Arial MT"/>
                <a:cs typeface="Arial MT"/>
              </a:rPr>
              <a:t>Euclidean</a:t>
            </a:r>
            <a:r>
              <a:rPr sz="14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00FF"/>
                </a:solidFill>
                <a:latin typeface="Arial MT"/>
                <a:cs typeface="Arial MT"/>
              </a:rPr>
              <a:t>Distance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85051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Cosine</a:t>
            </a:r>
            <a:r>
              <a:rPr sz="2500" spc="50" dirty="0"/>
              <a:t> </a:t>
            </a:r>
            <a:r>
              <a:rPr sz="2500" spc="-10" dirty="0"/>
              <a:t>Similarity</a:t>
            </a:r>
            <a:endParaRPr sz="2500"/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Cosine Similarity (NLP)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-21336" y="12223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Intuition (Simple)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similar two vectors are in direction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Ignores length (document size)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Closer 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very similar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not similar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-18288" y="2295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is useful in NLP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meaning of texts, not word count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Solves problem of long documents looking “far” in Euclidean distance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9"/>
          <p:cNvSpPr>
            <a:spLocks noChangeArrowheads="1"/>
          </p:cNvSpPr>
          <p:nvPr/>
        </p:nvSpPr>
        <p:spPr bwMode="auto">
          <a:xfrm>
            <a:off x="64008" y="34861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similarity (search engines)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(Word2Vec,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GloVe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Clustering similar texts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11"/>
          <p:cNvSpPr>
            <a:spLocks noChangeArrowheads="1"/>
          </p:cNvSpPr>
          <p:nvPr/>
        </p:nvSpPr>
        <p:spPr bwMode="auto">
          <a:xfrm>
            <a:off x="30480" y="44005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idea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“Same meaning = same direction, even if length is different”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/>
          <a:srcRect t="8857"/>
          <a:stretch/>
        </p:blipFill>
        <p:spPr>
          <a:xfrm>
            <a:off x="6172200" y="895349"/>
            <a:ext cx="229584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7207" y="1511332"/>
            <a:ext cx="2256155" cy="1639570"/>
            <a:chOff x="3007207" y="1511332"/>
            <a:chExt cx="2256155" cy="1639570"/>
          </a:xfrm>
        </p:grpSpPr>
        <p:sp>
          <p:nvSpPr>
            <p:cNvPr id="3" name="object 3"/>
            <p:cNvSpPr/>
            <p:nvPr/>
          </p:nvSpPr>
          <p:spPr>
            <a:xfrm>
              <a:off x="3011970" y="1541480"/>
              <a:ext cx="2211705" cy="1604645"/>
            </a:xfrm>
            <a:custGeom>
              <a:avLst/>
              <a:gdLst/>
              <a:ahLst/>
              <a:cxnLst/>
              <a:rect l="l" t="t" r="r" b="b"/>
              <a:pathLst>
                <a:path w="2211704" h="1604645">
                  <a:moveTo>
                    <a:pt x="0" y="1604437"/>
                  </a:moveTo>
                  <a:lnTo>
                    <a:pt x="2211243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213974" y="1516095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4">
                  <a:moveTo>
                    <a:pt x="18479" y="38119"/>
                  </a:moveTo>
                  <a:lnTo>
                    <a:pt x="0" y="12651"/>
                  </a:lnTo>
                  <a:lnTo>
                    <a:pt x="44225" y="0"/>
                  </a:lnTo>
                  <a:lnTo>
                    <a:pt x="18479" y="3811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13974" y="1516095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4">
                  <a:moveTo>
                    <a:pt x="18479" y="38119"/>
                  </a:moveTo>
                  <a:lnTo>
                    <a:pt x="44225" y="0"/>
                  </a:lnTo>
                  <a:lnTo>
                    <a:pt x="0" y="12651"/>
                  </a:lnTo>
                  <a:lnTo>
                    <a:pt x="18479" y="3811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85051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Cosine</a:t>
            </a:r>
            <a:r>
              <a:rPr sz="2500" spc="50" dirty="0"/>
              <a:t> </a:t>
            </a:r>
            <a:r>
              <a:rPr sz="2500" spc="-10" dirty="0"/>
              <a:t>Similarity</a:t>
            </a:r>
            <a:endParaRPr sz="2500"/>
          </a:p>
        </p:txBody>
      </p:sp>
      <p:grpSp>
        <p:nvGrpSpPr>
          <p:cNvPr id="8" name="object 8"/>
          <p:cNvGrpSpPr/>
          <p:nvPr/>
        </p:nvGrpSpPr>
        <p:grpSpPr>
          <a:xfrm>
            <a:off x="2889436" y="1064912"/>
            <a:ext cx="2711450" cy="2250440"/>
            <a:chOff x="2889436" y="1064912"/>
            <a:chExt cx="2711450" cy="2250440"/>
          </a:xfrm>
        </p:grpSpPr>
        <p:sp>
          <p:nvSpPr>
            <p:cNvPr id="9" name="object 9"/>
            <p:cNvSpPr/>
            <p:nvPr/>
          </p:nvSpPr>
          <p:spPr>
            <a:xfrm>
              <a:off x="3011975" y="1112899"/>
              <a:ext cx="10160" cy="2197735"/>
            </a:xfrm>
            <a:custGeom>
              <a:avLst/>
              <a:gdLst/>
              <a:ahLst/>
              <a:cxnLst/>
              <a:rect l="l" t="t" r="r" b="b"/>
              <a:pathLst>
                <a:path w="10160" h="2197735">
                  <a:moveTo>
                    <a:pt x="0" y="2197650"/>
                  </a:moveTo>
                  <a:lnTo>
                    <a:pt x="994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06183" y="1069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96"/>
                  </a:moveTo>
                  <a:lnTo>
                    <a:pt x="0" y="43153"/>
                  </a:lnTo>
                  <a:lnTo>
                    <a:pt x="15928" y="0"/>
                  </a:lnTo>
                  <a:lnTo>
                    <a:pt x="31465" y="432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06183" y="10696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96"/>
                  </a:moveTo>
                  <a:lnTo>
                    <a:pt x="15928" y="0"/>
                  </a:lnTo>
                  <a:lnTo>
                    <a:pt x="0" y="43153"/>
                  </a:lnTo>
                  <a:lnTo>
                    <a:pt x="31465" y="432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94198" y="3154680"/>
              <a:ext cx="2658745" cy="0"/>
            </a:xfrm>
            <a:custGeom>
              <a:avLst/>
              <a:gdLst/>
              <a:ahLst/>
              <a:cxnLst/>
              <a:rect l="l" t="t" r="r" b="b"/>
              <a:pathLst>
                <a:path w="2658745">
                  <a:moveTo>
                    <a:pt x="0" y="0"/>
                  </a:moveTo>
                  <a:lnTo>
                    <a:pt x="26584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2648" y="31389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52648" y="313894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0537" y="2801012"/>
              <a:ext cx="144524" cy="1334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5737" y="1395712"/>
              <a:ext cx="144524" cy="1334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39800" y="1462425"/>
              <a:ext cx="2298700" cy="1703070"/>
            </a:xfrm>
            <a:custGeom>
              <a:avLst/>
              <a:gdLst/>
              <a:ahLst/>
              <a:cxnLst/>
              <a:rect l="l" t="t" r="r" b="b"/>
              <a:pathLst>
                <a:path w="2298700" h="1703070">
                  <a:moveTo>
                    <a:pt x="2298199" y="61949"/>
                  </a:moveTo>
                  <a:lnTo>
                    <a:pt x="2278999" y="1702649"/>
                  </a:lnTo>
                </a:path>
                <a:path w="2298700" h="1703070">
                  <a:moveTo>
                    <a:pt x="302999" y="1467249"/>
                  </a:moveTo>
                  <a:lnTo>
                    <a:pt x="300299" y="1671549"/>
                  </a:lnTo>
                </a:path>
                <a:path w="2298700" h="1703070">
                  <a:moveTo>
                    <a:pt x="235499" y="1405299"/>
                  </a:moveTo>
                  <a:lnTo>
                    <a:pt x="0" y="1411599"/>
                  </a:lnTo>
                </a:path>
                <a:path w="2298700" h="1703070">
                  <a:moveTo>
                    <a:pt x="2230699" y="0"/>
                  </a:moveTo>
                  <a:lnTo>
                    <a:pt x="3199" y="89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9900" y="3004229"/>
            <a:ext cx="6419850" cy="14058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977900" algn="r">
              <a:lnSpc>
                <a:spcPct val="100000"/>
              </a:lnSpc>
              <a:spcBef>
                <a:spcPts val="240"/>
              </a:spcBef>
            </a:pPr>
            <a:r>
              <a:rPr sz="1400" spc="-10" dirty="0">
                <a:latin typeface="Arial MT"/>
                <a:cs typeface="Arial MT"/>
              </a:rPr>
              <a:t>Language</a:t>
            </a:r>
            <a:endParaRPr sz="1400">
              <a:latin typeface="Arial MT"/>
              <a:cs typeface="Arial MT"/>
            </a:endParaRPr>
          </a:p>
          <a:p>
            <a:pPr marL="2256790">
              <a:lnSpc>
                <a:spcPct val="100000"/>
              </a:lnSpc>
              <a:spcBef>
                <a:spcPts val="110"/>
              </a:spcBef>
              <a:tabLst>
                <a:tab pos="4225290" algn="l"/>
              </a:tabLst>
            </a:pPr>
            <a:r>
              <a:rPr sz="1100" spc="-50" dirty="0">
                <a:latin typeface="Arial MT"/>
                <a:cs typeface="Arial MT"/>
              </a:rPr>
              <a:t>2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25" dirty="0">
                <a:latin typeface="Arial MT"/>
                <a:cs typeface="Arial MT"/>
              </a:rPr>
              <a:t>200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2235"/>
              </a:lnSpc>
              <a:spcBef>
                <a:spcPts val="955"/>
              </a:spcBef>
            </a:pP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angle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between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two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documents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0</a:t>
            </a:r>
            <a:endParaRPr sz="1900">
              <a:latin typeface="Arial MT"/>
              <a:cs typeface="Arial MT"/>
            </a:endParaRPr>
          </a:p>
          <a:p>
            <a:pPr marL="12700" marR="5080">
              <a:lnSpc>
                <a:spcPts val="2190"/>
              </a:lnSpc>
              <a:spcBef>
                <a:spcPts val="105"/>
              </a:spcBef>
            </a:pPr>
            <a:r>
              <a:rPr sz="1900" dirty="0">
                <a:latin typeface="Arial MT"/>
                <a:cs typeface="Arial MT"/>
              </a:rPr>
              <a:t>Rank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documents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by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angle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between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term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weight</a:t>
            </a:r>
            <a:r>
              <a:rPr sz="1900" spc="-10" dirty="0">
                <a:latin typeface="Arial MT"/>
                <a:cs typeface="Arial MT"/>
              </a:rPr>
              <a:t> vectors </a:t>
            </a:r>
            <a:r>
              <a:rPr sz="1900" dirty="0">
                <a:latin typeface="Arial MT"/>
                <a:cs typeface="Arial MT"/>
              </a:rPr>
              <a:t>Cosine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correlation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000FF"/>
                </a:solidFill>
                <a:latin typeface="Arial MT"/>
                <a:cs typeface="Arial MT"/>
              </a:rPr>
              <a:t>Cosine</a:t>
            </a:r>
            <a:r>
              <a:rPr sz="19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0000FF"/>
                </a:solidFill>
                <a:latin typeface="Arial MT"/>
                <a:cs typeface="Arial MT"/>
              </a:rPr>
              <a:t>Similarity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94074" y="685188"/>
            <a:ext cx="598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Natural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3374" y="2735569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97174" y="1344836"/>
            <a:ext cx="2584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200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04707" y="2912104"/>
            <a:ext cx="309880" cy="247015"/>
            <a:chOff x="3004707" y="2912104"/>
            <a:chExt cx="309880" cy="247015"/>
          </a:xfrm>
        </p:grpSpPr>
        <p:sp>
          <p:nvSpPr>
            <p:cNvPr id="23" name="object 23"/>
            <p:cNvSpPr/>
            <p:nvPr/>
          </p:nvSpPr>
          <p:spPr>
            <a:xfrm>
              <a:off x="3009470" y="2943678"/>
              <a:ext cx="266700" cy="210820"/>
            </a:xfrm>
            <a:custGeom>
              <a:avLst/>
              <a:gdLst/>
              <a:ahLst/>
              <a:cxnLst/>
              <a:rect l="l" t="t" r="r" b="b"/>
              <a:pathLst>
                <a:path w="266700" h="210819">
                  <a:moveTo>
                    <a:pt x="0" y="210552"/>
                  </a:moveTo>
                  <a:lnTo>
                    <a:pt x="266271" y="0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65983" y="2916867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69">
                  <a:moveTo>
                    <a:pt x="19516" y="39151"/>
                  </a:moveTo>
                  <a:lnTo>
                    <a:pt x="0" y="14469"/>
                  </a:lnTo>
                  <a:lnTo>
                    <a:pt x="43664" y="0"/>
                  </a:lnTo>
                  <a:lnTo>
                    <a:pt x="19516" y="3915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65983" y="2916867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69">
                  <a:moveTo>
                    <a:pt x="19516" y="39151"/>
                  </a:moveTo>
                  <a:lnTo>
                    <a:pt x="43664" y="0"/>
                  </a:lnTo>
                  <a:lnTo>
                    <a:pt x="0" y="14469"/>
                  </a:lnTo>
                  <a:lnTo>
                    <a:pt x="19516" y="39151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76869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34378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Dot</a:t>
            </a:r>
            <a:r>
              <a:rPr sz="2500" spc="-5" dirty="0"/>
              <a:t> </a:t>
            </a:r>
            <a:r>
              <a:rPr sz="2500" dirty="0"/>
              <a:t>Product</a:t>
            </a:r>
            <a:r>
              <a:rPr sz="2500" spc="-5" dirty="0"/>
              <a:t> </a:t>
            </a:r>
            <a:r>
              <a:rPr sz="2500" dirty="0"/>
              <a:t>and </a:t>
            </a:r>
            <a:r>
              <a:rPr sz="2500" spc="-10" dirty="0"/>
              <a:t>Cosine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60949" y="733106"/>
            <a:ext cx="4865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dot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product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scalar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2269297"/>
            <a:ext cx="870902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similarity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metric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because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just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dimensions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(good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similarity</a:t>
            </a:r>
            <a:r>
              <a:rPr sz="1800" spc="-10" dirty="0">
                <a:latin typeface="Arial MT"/>
                <a:cs typeface="Arial MT"/>
              </a:rPr>
              <a:t> metric)</a:t>
            </a:r>
            <a:endParaRPr sz="1800">
              <a:latin typeface="Arial MT"/>
              <a:cs typeface="Arial MT"/>
            </a:endParaRPr>
          </a:p>
          <a:p>
            <a:pPr marL="12700" marR="2199640">
              <a:lnSpc>
                <a:spcPct val="229999"/>
              </a:lnSpc>
            </a:pPr>
            <a:r>
              <a:rPr sz="1800" dirty="0">
                <a:latin typeface="Arial MT"/>
                <a:cs typeface="Arial MT"/>
              </a:rPr>
              <a:t>Dot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favors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vectors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longer</a:t>
            </a:r>
            <a:r>
              <a:rPr sz="1800" spc="-10" dirty="0">
                <a:latin typeface="Arial MT"/>
                <a:cs typeface="Arial MT"/>
              </a:rPr>
              <a:t> vectors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Vector</a:t>
            </a:r>
            <a:r>
              <a:rPr sz="1800" spc="-1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length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549" y="1120525"/>
            <a:ext cx="7144899" cy="8776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2375" y="3717500"/>
            <a:ext cx="2270449" cy="13352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81" y="2339125"/>
            <a:ext cx="2822240" cy="7188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85051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Cosine</a:t>
            </a:r>
            <a:r>
              <a:rPr sz="2500" spc="50" dirty="0"/>
              <a:t> </a:t>
            </a:r>
            <a:r>
              <a:rPr sz="2500" spc="-10" dirty="0"/>
              <a:t>Similarity</a:t>
            </a:r>
            <a:endParaRPr sz="2500"/>
          </a:p>
        </p:txBody>
      </p:sp>
      <p:sp>
        <p:nvSpPr>
          <p:cNvPr id="5" name="object 5"/>
          <p:cNvSpPr txBox="1"/>
          <p:nvPr/>
        </p:nvSpPr>
        <p:spPr>
          <a:xfrm>
            <a:off x="5287099" y="1704113"/>
            <a:ext cx="2929255" cy="4629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5"/>
              </a:spcBef>
            </a:pP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definition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dot </a:t>
            </a:r>
            <a:r>
              <a:rPr sz="1400" dirty="0">
                <a:latin typeface="Arial MT"/>
                <a:cs typeface="Arial MT"/>
              </a:rPr>
              <a:t>product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between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two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vectors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650" y="632600"/>
            <a:ext cx="3528329" cy="1491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7725" y="823375"/>
            <a:ext cx="1608349" cy="7188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6000" y="2812575"/>
            <a:ext cx="7078656" cy="17807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5720">
              <a:lnSpc>
                <a:spcPct val="100000"/>
              </a:lnSpc>
              <a:spcBef>
                <a:spcPts val="100"/>
              </a:spcBef>
            </a:pPr>
            <a:r>
              <a:rPr sz="3150" dirty="0"/>
              <a:t>Cosine</a:t>
            </a:r>
            <a:r>
              <a:rPr sz="3150" spc="-30" dirty="0"/>
              <a:t> </a:t>
            </a:r>
            <a:r>
              <a:rPr sz="3150" spc="-10" dirty="0"/>
              <a:t>Example</a:t>
            </a:r>
            <a:endParaRPr sz="31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76062" y="884212"/>
          <a:ext cx="3013075" cy="146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pie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data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computer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cherry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442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digital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1683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1670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information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3982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3325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5275" y="616362"/>
            <a:ext cx="5813425" cy="2032000"/>
            <a:chOff x="45275" y="616362"/>
            <a:chExt cx="5813425" cy="2032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877" y="679150"/>
              <a:ext cx="5700798" cy="1940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562" y="664862"/>
              <a:ext cx="5784850" cy="1969770"/>
            </a:xfrm>
            <a:custGeom>
              <a:avLst/>
              <a:gdLst/>
              <a:ahLst/>
              <a:cxnLst/>
              <a:rect l="l" t="t" r="r" b="b"/>
              <a:pathLst>
                <a:path w="5784850" h="1969770">
                  <a:moveTo>
                    <a:pt x="0" y="0"/>
                  </a:moveTo>
                  <a:lnTo>
                    <a:pt x="5784400" y="0"/>
                  </a:lnTo>
                  <a:lnTo>
                    <a:pt x="5784400" y="1969174"/>
                  </a:lnTo>
                  <a:lnTo>
                    <a:pt x="0" y="196917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82399" y="621124"/>
              <a:ext cx="2647315" cy="272415"/>
            </a:xfrm>
            <a:custGeom>
              <a:avLst/>
              <a:gdLst/>
              <a:ahLst/>
              <a:cxnLst/>
              <a:rect l="l" t="t" r="r" b="b"/>
              <a:pathLst>
                <a:path w="2647315" h="272415">
                  <a:moveTo>
                    <a:pt x="2647199" y="272099"/>
                  </a:moveTo>
                  <a:lnTo>
                    <a:pt x="0" y="272099"/>
                  </a:lnTo>
                  <a:lnTo>
                    <a:pt x="0" y="0"/>
                  </a:lnTo>
                  <a:lnTo>
                    <a:pt x="2647199" y="0"/>
                  </a:lnTo>
                  <a:lnTo>
                    <a:pt x="2647199" y="272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2399" y="621124"/>
              <a:ext cx="2647315" cy="272415"/>
            </a:xfrm>
            <a:custGeom>
              <a:avLst/>
              <a:gdLst/>
              <a:ahLst/>
              <a:cxnLst/>
              <a:rect l="l" t="t" r="r" b="b"/>
              <a:pathLst>
                <a:path w="2647315" h="272415">
                  <a:moveTo>
                    <a:pt x="0" y="0"/>
                  </a:moveTo>
                  <a:lnTo>
                    <a:pt x="2647199" y="0"/>
                  </a:lnTo>
                  <a:lnTo>
                    <a:pt x="2647199" y="272099"/>
                  </a:lnTo>
                  <a:lnTo>
                    <a:pt x="0" y="272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6449" y="2907525"/>
            <a:ext cx="5323915" cy="20877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341947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An</a:t>
            </a:r>
            <a:r>
              <a:rPr sz="2500" spc="25" dirty="0"/>
              <a:t> </a:t>
            </a:r>
            <a:r>
              <a:rPr sz="2500" spc="-10" dirty="0"/>
              <a:t>Issue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91956"/>
            <a:ext cx="8289925" cy="2865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445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Although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frequency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important,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frequency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measure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association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words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occur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frequently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(maybe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sugar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often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appears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corpus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near </a:t>
            </a:r>
            <a:r>
              <a:rPr sz="1800" dirty="0">
                <a:latin typeface="Arial MT"/>
                <a:cs typeface="Arial MT"/>
              </a:rPr>
              <a:t>apricot)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appear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twice</a:t>
            </a:r>
            <a:endParaRPr sz="1800" dirty="0">
              <a:latin typeface="Arial MT"/>
              <a:cs typeface="Arial MT"/>
            </a:endParaRPr>
          </a:p>
          <a:p>
            <a:pPr marL="12700" marR="214629">
              <a:lnSpc>
                <a:spcPct val="229999"/>
              </a:lnSpc>
            </a:pP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hand,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frequent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unimportant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balance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conflicting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constraints?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3" ma:contentTypeDescription="Create a new document." ma:contentTypeScope="" ma:versionID="dbcfff18694569661796f1ccd994738f">
  <xsd:schema xmlns:xsd="http://www.w3.org/2001/XMLSchema" xmlns:xs="http://www.w3.org/2001/XMLSchema" xmlns:p="http://schemas.microsoft.com/office/2006/metadata/properties" xmlns:ns2="6ccbcca3-9c48-4d51-affd-7f500234a31c" targetNamespace="http://schemas.microsoft.com/office/2006/metadata/properties" ma:root="true" ma:fieldsID="7c1a1658f5b2498d87a9b8295f17185d" ns2:_="">
    <xsd:import namespace="6ccbcca3-9c48-4d51-affd-7f500234a3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bcca3-9c48-4d51-affd-7f500234a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AAE5C5-AE37-4D0B-AC93-285982B287F6}"/>
</file>

<file path=customXml/itemProps2.xml><?xml version="1.0" encoding="utf-8"?>
<ds:datastoreItem xmlns:ds="http://schemas.openxmlformats.org/officeDocument/2006/customXml" ds:itemID="{815FA6E1-5839-400F-A85E-6EFBEFFF1568}"/>
</file>

<file path=customXml/itemProps3.xml><?xml version="1.0" encoding="utf-8"?>
<ds:datastoreItem xmlns:ds="http://schemas.openxmlformats.org/officeDocument/2006/customXml" ds:itemID="{6C7111EA-714C-4A5A-9D29-D17DCB10C33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731</Words>
  <Application>Microsoft Office PowerPoint</Application>
  <PresentationFormat>On-screen Show (16:9)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MT</vt:lpstr>
      <vt:lpstr>Calibri</vt:lpstr>
      <vt:lpstr>Times New Roman</vt:lpstr>
      <vt:lpstr>Office Theme</vt:lpstr>
      <vt:lpstr>Natural Language Processing</vt:lpstr>
      <vt:lpstr>Words and Vectors</vt:lpstr>
      <vt:lpstr>Term-Document Matrix</vt:lpstr>
      <vt:lpstr>Documents as Vectors</vt:lpstr>
      <vt:lpstr>Words as Vectors</vt:lpstr>
      <vt:lpstr>Word-Word Matrix</vt:lpstr>
      <vt:lpstr>Word-Word Matrix: Example</vt:lpstr>
      <vt:lpstr>Cosine Similarity</vt:lpstr>
      <vt:lpstr>Euclidean Distance</vt:lpstr>
      <vt:lpstr>Euclidean Distance</vt:lpstr>
      <vt:lpstr>Euclidean Distance</vt:lpstr>
      <vt:lpstr>Euclidean Distance</vt:lpstr>
      <vt:lpstr>Cosine Similarity</vt:lpstr>
      <vt:lpstr>Cosine Similarity</vt:lpstr>
      <vt:lpstr>Dot Product and Cosine</vt:lpstr>
      <vt:lpstr>Cosine Similarity</vt:lpstr>
      <vt:lpstr>Cosine Example</vt:lpstr>
      <vt:lpstr>An Issue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8 - Vector Semantics.pptx</dc:title>
  <dc:creator>Administrator</dc:creator>
  <cp:lastModifiedBy>Dr</cp:lastModifiedBy>
  <cp:revision>8</cp:revision>
  <dcterms:created xsi:type="dcterms:W3CDTF">2026-04-13T10:07:57Z</dcterms:created>
  <dcterms:modified xsi:type="dcterms:W3CDTF">2026-04-23T04:51:33Z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2026-04-13T00:00:00Z</vt:filetime>
  </property>
  <property fmtid="{D5CDD505-2E9C-101B-9397-08002B2CF9AE}" pid="6" name="ContentTypeId">
    <vt:lpwstr>0x010100E0EA04D33E482A4BA12D40215DDD827E</vt:lpwstr>
  </property>
</Properties>
</file>