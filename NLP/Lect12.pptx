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726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87707" y="60223"/>
            <a:ext cx="4168584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72770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9527" y="5426"/>
            <a:ext cx="8544945" cy="557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7001" y="4854767"/>
            <a:ext cx="230623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60141" y="1359903"/>
            <a:ext cx="822134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Natural</a:t>
            </a:r>
            <a:r>
              <a:rPr sz="4900" spc="-120" dirty="0"/>
              <a:t> </a:t>
            </a:r>
            <a:r>
              <a:rPr sz="4900" dirty="0"/>
              <a:t>Language</a:t>
            </a:r>
            <a:r>
              <a:rPr sz="4900" spc="-114" dirty="0"/>
              <a:t> </a:t>
            </a:r>
            <a:r>
              <a:rPr sz="4900" spc="-10" dirty="0"/>
              <a:t>Processing</a:t>
            </a:r>
            <a:endParaRPr sz="4900"/>
          </a:p>
        </p:txBody>
      </p:sp>
      <p:sp>
        <p:nvSpPr>
          <p:cNvPr id="4" name="object 4"/>
          <p:cNvSpPr txBox="1"/>
          <p:nvPr/>
        </p:nvSpPr>
        <p:spPr>
          <a:xfrm>
            <a:off x="2221680" y="2849400"/>
            <a:ext cx="4699000" cy="177612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Session</a:t>
            </a:r>
            <a:r>
              <a:rPr sz="1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7:</a:t>
            </a:r>
            <a:r>
              <a:rPr sz="1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b="1" dirty="0">
                <a:solidFill>
                  <a:srgbClr val="FFFFFF"/>
                </a:solidFill>
                <a:latin typeface="Arial"/>
                <a:cs typeface="Arial"/>
              </a:rPr>
              <a:t>Logistic</a:t>
            </a:r>
            <a:r>
              <a:rPr sz="19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endParaRPr sz="1950" dirty="0">
              <a:latin typeface="Arial"/>
              <a:cs typeface="Arial"/>
            </a:endParaRPr>
          </a:p>
          <a:p>
            <a:pPr marL="12700" marR="5080" indent="739775">
              <a:lnSpc>
                <a:spcPts val="1880"/>
              </a:lnSpc>
              <a:spcBef>
                <a:spcPts val="1870"/>
              </a:spcBef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Instructor:</a:t>
            </a:r>
            <a:r>
              <a:rPr sz="1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950" dirty="0" err="1" smtClean="0">
                <a:solidFill>
                  <a:srgbClr val="FFFFFF"/>
                </a:solidFill>
                <a:latin typeface="Arial MT"/>
                <a:cs typeface="Arial MT"/>
              </a:rPr>
              <a:t>Dr.Nadia</a:t>
            </a:r>
            <a:r>
              <a:rPr lang="en-US" sz="1950" dirty="0" smtClean="0">
                <a:solidFill>
                  <a:srgbClr val="FFFFFF"/>
                </a:solidFill>
                <a:latin typeface="Arial MT"/>
                <a:cs typeface="Arial MT"/>
              </a:rPr>
              <a:t> Saeed</a:t>
            </a:r>
          </a:p>
          <a:p>
            <a:pPr marL="12700" marR="5080" indent="739775">
              <a:lnSpc>
                <a:spcPts val="1880"/>
              </a:lnSpc>
              <a:spcBef>
                <a:spcPts val="1870"/>
              </a:spcBef>
            </a:pP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Spring</a:t>
            </a:r>
            <a:r>
              <a:rPr sz="1950" spc="-3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202</a:t>
            </a:r>
            <a:r>
              <a:rPr lang="en-US" sz="1950" dirty="0" smtClean="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950" spc="-2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endParaRPr lang="en-US" sz="1950" spc="-20" dirty="0" smtClean="0">
              <a:solidFill>
                <a:srgbClr val="FFFFFF"/>
              </a:solidFill>
              <a:latin typeface="Arial MT"/>
              <a:cs typeface="Arial MT"/>
            </a:endParaRPr>
          </a:p>
          <a:p>
            <a:pPr marL="12700" marR="5080" indent="739775">
              <a:lnSpc>
                <a:spcPts val="1880"/>
              </a:lnSpc>
              <a:spcBef>
                <a:spcPts val="1870"/>
              </a:spcBef>
            </a:pPr>
            <a:r>
              <a:rPr lang="en-US" sz="1950" dirty="0" smtClean="0">
                <a:solidFill>
                  <a:srgbClr val="FFFFFF"/>
                </a:solidFill>
                <a:latin typeface="Arial MT"/>
                <a:cs typeface="Arial MT"/>
              </a:rPr>
              <a:t>Quaid-I-</a:t>
            </a:r>
            <a:r>
              <a:rPr lang="en-US" sz="1950" dirty="0" err="1" smtClean="0">
                <a:solidFill>
                  <a:srgbClr val="FFFFFF"/>
                </a:solidFill>
                <a:latin typeface="Arial MT"/>
                <a:cs typeface="Arial MT"/>
              </a:rPr>
              <a:t>Azam</a:t>
            </a:r>
            <a:r>
              <a:rPr lang="en-US" sz="195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Universit</a:t>
            </a:r>
            <a:r>
              <a:rPr lang="en-US" sz="1950" dirty="0" smtClean="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endParaRPr sz="19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037" rIns="0" bIns="0" rtlCol="0">
            <a:spAutoFit/>
          </a:bodyPr>
          <a:lstStyle/>
          <a:p>
            <a:pPr marL="3035935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Previous </a:t>
            </a:r>
            <a:r>
              <a:rPr sz="2500" spc="-10" dirty="0"/>
              <a:t>Session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160949" y="733104"/>
            <a:ext cx="4304030" cy="1729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previous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session,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about:</a:t>
            </a:r>
            <a:endParaRPr sz="1800">
              <a:latin typeface="Arial MT"/>
              <a:cs typeface="Arial MT"/>
            </a:endParaRPr>
          </a:p>
          <a:p>
            <a:pPr marL="596265" marR="1394460" indent="-67945">
              <a:lnSpc>
                <a:spcPct val="170300"/>
              </a:lnSpc>
              <a:spcBef>
                <a:spcPts val="5"/>
              </a:spcBef>
            </a:pPr>
            <a:r>
              <a:rPr sz="1800" spc="-35" dirty="0">
                <a:latin typeface="Arial MT"/>
                <a:cs typeface="Arial MT"/>
              </a:rPr>
              <a:t>Text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Classification </a:t>
            </a:r>
            <a:r>
              <a:rPr sz="1800" dirty="0">
                <a:latin typeface="Arial MT"/>
                <a:cs typeface="Arial MT"/>
              </a:rPr>
              <a:t>Na</a:t>
            </a:r>
            <a:r>
              <a:rPr sz="1950" dirty="0">
                <a:latin typeface="Arial MT"/>
                <a:cs typeface="Arial MT"/>
              </a:rPr>
              <a:t>ï</a:t>
            </a:r>
            <a:r>
              <a:rPr sz="1800" dirty="0">
                <a:latin typeface="Arial MT"/>
                <a:cs typeface="Arial MT"/>
              </a:rPr>
              <a:t>ve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Bayes</a:t>
            </a:r>
            <a:r>
              <a:rPr sz="1800" spc="-10" dirty="0">
                <a:latin typeface="Arial MT"/>
                <a:cs typeface="Arial MT"/>
              </a:rPr>
              <a:t> Classifier</a:t>
            </a:r>
            <a:endParaRPr sz="1800">
              <a:latin typeface="Arial MT"/>
              <a:cs typeface="Arial MT"/>
            </a:endParaRPr>
          </a:p>
          <a:p>
            <a:pPr marL="584200">
              <a:lnSpc>
                <a:spcPct val="100000"/>
              </a:lnSpc>
              <a:spcBef>
                <a:spcPts val="1555"/>
              </a:spcBef>
            </a:pPr>
            <a:r>
              <a:rPr sz="1800" dirty="0">
                <a:latin typeface="Arial MT"/>
                <a:cs typeface="Arial MT"/>
              </a:rPr>
              <a:t>Evaluation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significance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testing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749" y="1191000"/>
            <a:ext cx="331799" cy="3317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749" y="1646750"/>
            <a:ext cx="331799" cy="3317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749" y="2141100"/>
            <a:ext cx="331799" cy="3317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037" rIns="0" bIns="0" rtlCol="0">
            <a:spAutoFit/>
          </a:bodyPr>
          <a:lstStyle/>
          <a:p>
            <a:pPr marL="2698115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Google</a:t>
            </a:r>
            <a:r>
              <a:rPr sz="2500" spc="-5" dirty="0"/>
              <a:t> </a:t>
            </a:r>
            <a:r>
              <a:rPr sz="2500" dirty="0"/>
              <a:t>Brad</a:t>
            </a:r>
            <a:r>
              <a:rPr sz="2500" spc="-5" dirty="0"/>
              <a:t> </a:t>
            </a:r>
            <a:r>
              <a:rPr sz="2500" dirty="0"/>
              <a:t>and </a:t>
            </a:r>
            <a:r>
              <a:rPr sz="2500" spc="-20" dirty="0"/>
              <a:t>Bing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160949" y="694751"/>
            <a:ext cx="8407400" cy="24709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90220">
              <a:lnSpc>
                <a:spcPct val="114999"/>
              </a:lnSpc>
              <a:spcBef>
                <a:spcPts val="100"/>
              </a:spcBef>
            </a:pPr>
            <a:r>
              <a:rPr lang="en-US" sz="1700" dirty="0" smtClean="0">
                <a:latin typeface="Arial MT"/>
                <a:cs typeface="Arial MT"/>
              </a:rPr>
              <a:t>Bard is an AI </a:t>
            </a:r>
            <a:r>
              <a:rPr lang="en-US" sz="1700" dirty="0" err="1" smtClean="0">
                <a:latin typeface="Arial MT"/>
                <a:cs typeface="Arial MT"/>
              </a:rPr>
              <a:t>chatbot</a:t>
            </a:r>
            <a:r>
              <a:rPr lang="en-US" sz="1700" dirty="0" smtClean="0">
                <a:latin typeface="Arial MT"/>
                <a:cs typeface="Arial MT"/>
              </a:rPr>
              <a:t> made by Google, similar to </a:t>
            </a:r>
            <a:r>
              <a:rPr lang="en-US" sz="1700" dirty="0" err="1" smtClean="0">
                <a:latin typeface="Arial MT"/>
                <a:cs typeface="Arial MT"/>
              </a:rPr>
              <a:t>ChatGPT</a:t>
            </a:r>
            <a:r>
              <a:rPr lang="en-US" sz="1700" dirty="0" smtClean="0">
                <a:latin typeface="Arial MT"/>
                <a:cs typeface="Arial MT"/>
              </a:rPr>
              <a:t>, and it uses advanced technology (called transformers) that Google originally helped develop.</a:t>
            </a:r>
          </a:p>
          <a:p>
            <a:pPr marL="12700" marR="490220">
              <a:lnSpc>
                <a:spcPct val="114999"/>
              </a:lnSpc>
              <a:spcBef>
                <a:spcPts val="100"/>
              </a:spcBef>
            </a:pPr>
            <a:endParaRPr lang="en-US" sz="1700" dirty="0">
              <a:latin typeface="Arial MT"/>
              <a:cs typeface="Arial MT"/>
            </a:endParaRPr>
          </a:p>
          <a:p>
            <a:pPr marL="12700" marR="490220">
              <a:lnSpc>
                <a:spcPct val="114999"/>
              </a:lnSpc>
              <a:spcBef>
                <a:spcPts val="100"/>
              </a:spcBef>
            </a:pPr>
            <a:r>
              <a:rPr lang="en-US" sz="1700" dirty="0" smtClean="0">
                <a:latin typeface="Arial MT"/>
                <a:cs typeface="Arial MT"/>
              </a:rPr>
              <a:t>At first, Bard was not available to everyone—only some selected people could try it.</a:t>
            </a:r>
          </a:p>
          <a:p>
            <a:pPr marL="12700" marR="490220">
              <a:lnSpc>
                <a:spcPct val="114999"/>
              </a:lnSpc>
              <a:spcBef>
                <a:spcPts val="100"/>
              </a:spcBef>
            </a:pPr>
            <a:endParaRPr lang="en-US" sz="1700" dirty="0">
              <a:latin typeface="Arial MT"/>
              <a:cs typeface="Arial MT"/>
            </a:endParaRPr>
          </a:p>
          <a:p>
            <a:pPr marL="12700" marR="490220">
              <a:lnSpc>
                <a:spcPct val="114999"/>
              </a:lnSpc>
              <a:spcBef>
                <a:spcPts val="100"/>
              </a:spcBef>
            </a:pPr>
            <a:r>
              <a:rPr lang="en-US" sz="1700" dirty="0" smtClean="0">
                <a:latin typeface="Arial MT"/>
                <a:cs typeface="Arial MT"/>
              </a:rPr>
              <a:t>Microsoft added a chat feature into Bing, so users can search and talk to AI directly in the search engine.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34096" y="3076988"/>
            <a:ext cx="3395345" cy="1878330"/>
            <a:chOff x="3334096" y="3076988"/>
            <a:chExt cx="3395345" cy="18783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4096" y="3076988"/>
              <a:ext cx="2752631" cy="177801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61825" y="4651275"/>
              <a:ext cx="962660" cy="299085"/>
            </a:xfrm>
            <a:custGeom>
              <a:avLst/>
              <a:gdLst/>
              <a:ahLst/>
              <a:cxnLst/>
              <a:rect l="l" t="t" r="r" b="b"/>
              <a:pathLst>
                <a:path w="962659" h="299085">
                  <a:moveTo>
                    <a:pt x="0" y="0"/>
                  </a:moveTo>
                  <a:lnTo>
                    <a:pt x="962399" y="0"/>
                  </a:lnTo>
                  <a:lnTo>
                    <a:pt x="962399" y="298799"/>
                  </a:lnTo>
                  <a:lnTo>
                    <a:pt x="0" y="298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90139" y="1575904"/>
            <a:ext cx="7362825" cy="161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10970">
              <a:lnSpc>
                <a:spcPct val="100000"/>
              </a:lnSpc>
              <a:spcBef>
                <a:spcPts val="100"/>
              </a:spcBef>
            </a:pPr>
            <a:r>
              <a:rPr sz="5200" dirty="0"/>
              <a:t>Generative</a:t>
            </a:r>
            <a:r>
              <a:rPr sz="5200" spc="-65" dirty="0"/>
              <a:t> </a:t>
            </a:r>
            <a:r>
              <a:rPr sz="5200" spc="-25" dirty="0"/>
              <a:t>and </a:t>
            </a:r>
            <a:r>
              <a:rPr sz="5200" dirty="0"/>
              <a:t>Discriminative</a:t>
            </a:r>
            <a:r>
              <a:rPr sz="5200" spc="-75" dirty="0"/>
              <a:t> </a:t>
            </a:r>
            <a:r>
              <a:rPr sz="5200" spc="-10" dirty="0"/>
              <a:t>Classifiers</a:t>
            </a:r>
            <a:endParaRPr sz="5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Generative</a:t>
            </a:r>
            <a:r>
              <a:rPr sz="2500" spc="-30" dirty="0"/>
              <a:t> </a:t>
            </a:r>
            <a:r>
              <a:rPr sz="2500" dirty="0"/>
              <a:t>vs.</a:t>
            </a:r>
            <a:r>
              <a:rPr sz="2500" spc="-25" dirty="0"/>
              <a:t> </a:t>
            </a:r>
            <a:r>
              <a:rPr sz="2500" spc="-10" dirty="0"/>
              <a:t>Discriminative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160949" y="732090"/>
            <a:ext cx="58394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Suppose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distinguishing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images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9075" y="1444650"/>
            <a:ext cx="8665845" cy="3105785"/>
            <a:chOff x="239075" y="1444650"/>
            <a:chExt cx="8665845" cy="31057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075" y="1444650"/>
              <a:ext cx="8665848" cy="31056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075" y="1491975"/>
              <a:ext cx="4516499" cy="305832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005" rIns="0" bIns="0" rtlCol="0">
            <a:spAutoFit/>
          </a:bodyPr>
          <a:lstStyle/>
          <a:p>
            <a:pPr marL="2919730">
              <a:lnSpc>
                <a:spcPct val="100000"/>
              </a:lnSpc>
              <a:spcBef>
                <a:spcPts val="95"/>
              </a:spcBef>
            </a:pPr>
            <a:r>
              <a:rPr sz="2300" dirty="0"/>
              <a:t>Generative</a:t>
            </a:r>
            <a:r>
              <a:rPr sz="2300" spc="-50" dirty="0"/>
              <a:t> </a:t>
            </a:r>
            <a:r>
              <a:rPr sz="2300" spc="-10" dirty="0"/>
              <a:t>Classifier</a:t>
            </a:r>
            <a:endParaRPr sz="2300"/>
          </a:p>
        </p:txBody>
      </p:sp>
      <p:sp>
        <p:nvSpPr>
          <p:cNvPr id="3" name="object 3"/>
          <p:cNvSpPr txBox="1"/>
          <p:nvPr/>
        </p:nvSpPr>
        <p:spPr>
          <a:xfrm>
            <a:off x="160949" y="691956"/>
            <a:ext cx="8636000" cy="41268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800" dirty="0">
                <a:latin typeface="Arial MT"/>
                <a:cs typeface="Arial MT"/>
              </a:rPr>
              <a:t>Build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what's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image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Knows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about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whiskers,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ears,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eyes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Assigns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probability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image:</a:t>
            </a:r>
            <a:endParaRPr sz="1800">
              <a:latin typeface="Arial MT"/>
              <a:cs typeface="Arial MT"/>
            </a:endParaRPr>
          </a:p>
          <a:p>
            <a:pPr marL="12700" marR="5173345" lvl="1" indent="913765">
              <a:lnSpc>
                <a:spcPct val="114999"/>
              </a:lnSpc>
              <a:buChar char="○"/>
              <a:tabLst>
                <a:tab pos="926465" algn="l"/>
              </a:tabLst>
            </a:pPr>
            <a:r>
              <a:rPr sz="1800" dirty="0">
                <a:latin typeface="Arial MT"/>
                <a:cs typeface="Arial MT"/>
              </a:rPr>
              <a:t>how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cat-y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image? </a:t>
            </a:r>
            <a:r>
              <a:rPr sz="1800" dirty="0">
                <a:latin typeface="Arial MT"/>
                <a:cs typeface="Arial MT"/>
              </a:rPr>
              <a:t>Also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build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images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800">
              <a:latin typeface="Arial MT"/>
              <a:cs typeface="Arial MT"/>
            </a:endParaRPr>
          </a:p>
          <a:p>
            <a:pPr marL="12700" marR="360045">
              <a:lnSpc>
                <a:spcPct val="114999"/>
              </a:lnSpc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generative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would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have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goal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understanding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dogs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look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like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dirty="0">
                <a:latin typeface="Arial MT"/>
                <a:cs typeface="Arial MT"/>
              </a:rPr>
              <a:t>what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look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like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Now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given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image: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Run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both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better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FF"/>
                </a:solidFill>
                <a:latin typeface="Arial MT"/>
                <a:cs typeface="Arial MT"/>
              </a:rPr>
              <a:t>generative</a:t>
            </a:r>
            <a:r>
              <a:rPr sz="18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FF"/>
                </a:solidFill>
                <a:latin typeface="Arial MT"/>
                <a:cs typeface="Arial MT"/>
              </a:rPr>
              <a:t>model</a:t>
            </a:r>
            <a:r>
              <a:rPr sz="1800" spc="-1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(like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naïve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Bayes)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makes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likelihood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term,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expresses </a:t>
            </a:r>
            <a:r>
              <a:rPr sz="1800" dirty="0">
                <a:latin typeface="Arial MT"/>
                <a:cs typeface="Arial MT"/>
              </a:rPr>
              <a:t>how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features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document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knew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class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c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46508" y="1113150"/>
            <a:ext cx="4093845" cy="1458595"/>
            <a:chOff x="4746508" y="1113150"/>
            <a:chExt cx="4093845" cy="14585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0274" y="1113150"/>
              <a:ext cx="4070000" cy="14585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6508" y="1113150"/>
              <a:ext cx="2154032" cy="14585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037" rIns="0" bIns="0" rtlCol="0">
            <a:spAutoFit/>
          </a:bodyPr>
          <a:lstStyle/>
          <a:p>
            <a:pPr marL="2574290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Discriminative</a:t>
            </a:r>
            <a:r>
              <a:rPr sz="2500" spc="-65" dirty="0"/>
              <a:t> </a:t>
            </a:r>
            <a:r>
              <a:rPr sz="2500" spc="-10" dirty="0"/>
              <a:t>Classifier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160949" y="686370"/>
            <a:ext cx="8375650" cy="42316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00" dirty="0">
                <a:latin typeface="Arial MT"/>
                <a:cs typeface="Arial MT"/>
              </a:rPr>
              <a:t>Just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distinguish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dogs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20" dirty="0">
                <a:latin typeface="Arial MT"/>
                <a:cs typeface="Arial MT"/>
              </a:rPr>
              <a:t> cats</a:t>
            </a:r>
            <a:endParaRPr sz="2000">
              <a:latin typeface="Arial MT"/>
              <a:cs typeface="Arial MT"/>
            </a:endParaRPr>
          </a:p>
          <a:p>
            <a:pPr marL="469265" indent="-381635">
              <a:lnSpc>
                <a:spcPct val="100000"/>
              </a:lnSpc>
              <a:spcBef>
                <a:spcPts val="359"/>
              </a:spcBef>
              <a:buChar char="●"/>
              <a:tabLst>
                <a:tab pos="469265" algn="l"/>
              </a:tabLst>
            </a:pPr>
            <a:r>
              <a:rPr sz="2000" dirty="0">
                <a:latin typeface="Arial MT"/>
                <a:cs typeface="Arial MT"/>
              </a:rPr>
              <a:t>dogs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collars?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●"/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19"/>
              </a:spcBef>
              <a:buFont typeface="Arial MT"/>
              <a:buChar char="●"/>
            </a:pPr>
            <a:endParaRPr sz="20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discriminative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model,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contrast,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only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trying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learn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distinguish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spc="-10" dirty="0">
                <a:latin typeface="Arial MT"/>
                <a:cs typeface="Arial MT"/>
              </a:rPr>
              <a:t>classes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000">
              <a:latin typeface="Arial MT"/>
              <a:cs typeface="Arial MT"/>
            </a:endParaRPr>
          </a:p>
          <a:p>
            <a:pPr marL="12700" marR="284480">
              <a:lnSpc>
                <a:spcPct val="114999"/>
              </a:lnSpc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discriminative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model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(like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logistic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regression)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text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categorization </a:t>
            </a:r>
            <a:r>
              <a:rPr sz="2000" dirty="0">
                <a:latin typeface="Arial MT"/>
                <a:cs typeface="Arial MT"/>
              </a:rPr>
              <a:t>scenario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attempts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directly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compute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P(c|d)</a:t>
            </a:r>
            <a:endParaRPr sz="2000">
              <a:latin typeface="Arial MT"/>
              <a:cs typeface="Arial MT"/>
            </a:endParaRPr>
          </a:p>
          <a:p>
            <a:pPr marL="469900" marR="210185" indent="-38227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It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learn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assign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high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weight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document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features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directly </a:t>
            </a:r>
            <a:r>
              <a:rPr sz="2000" dirty="0">
                <a:latin typeface="Arial MT"/>
                <a:cs typeface="Arial MT"/>
              </a:rPr>
              <a:t>improve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ability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discriminate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between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possible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classes,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even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it </a:t>
            </a:r>
            <a:r>
              <a:rPr sz="2000" dirty="0">
                <a:latin typeface="Arial MT"/>
                <a:cs typeface="Arial MT"/>
              </a:rPr>
              <a:t>could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generate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example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classes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63675" y="753225"/>
            <a:ext cx="4139565" cy="1282700"/>
            <a:chOff x="4763675" y="753225"/>
            <a:chExt cx="4139565" cy="12827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7499" y="753724"/>
              <a:ext cx="4125351" cy="12818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3675" y="753225"/>
              <a:ext cx="1786999" cy="121004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8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dirty="0"/>
              <a:t>Components</a:t>
            </a:r>
            <a:r>
              <a:rPr sz="2600" spc="-185" dirty="0"/>
              <a:t> </a:t>
            </a:r>
            <a:r>
              <a:rPr sz="2600" dirty="0"/>
              <a:t>of</a:t>
            </a:r>
            <a:r>
              <a:rPr sz="2600" spc="-180" dirty="0"/>
              <a:t> </a:t>
            </a:r>
            <a:r>
              <a:rPr sz="2600" dirty="0"/>
              <a:t>A</a:t>
            </a:r>
            <a:r>
              <a:rPr sz="2600" spc="-180" dirty="0"/>
              <a:t> </a:t>
            </a:r>
            <a:r>
              <a:rPr sz="2600" dirty="0"/>
              <a:t>Probabilistic</a:t>
            </a:r>
            <a:r>
              <a:rPr sz="2600" spc="-150" dirty="0"/>
              <a:t> </a:t>
            </a:r>
            <a:r>
              <a:rPr sz="2600" dirty="0"/>
              <a:t>Machine</a:t>
            </a:r>
            <a:r>
              <a:rPr sz="2600" spc="-120" dirty="0"/>
              <a:t> </a:t>
            </a:r>
            <a:r>
              <a:rPr sz="2600" dirty="0"/>
              <a:t>Learning</a:t>
            </a:r>
            <a:r>
              <a:rPr sz="2600" spc="-114" dirty="0"/>
              <a:t> </a:t>
            </a:r>
            <a:r>
              <a:rPr sz="2600" spc="-10" dirty="0"/>
              <a:t>Classifier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160949" y="733830"/>
            <a:ext cx="8561705" cy="3991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Arial MT"/>
                <a:cs typeface="Arial MT"/>
              </a:rPr>
              <a:t>Machine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learning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classifiers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require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a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training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corpus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of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observations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input/output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pairs</a:t>
            </a:r>
            <a:r>
              <a:rPr sz="1650" spc="-10" dirty="0">
                <a:latin typeface="Arial MT"/>
                <a:cs typeface="Arial MT"/>
              </a:rPr>
              <a:t> (x,y)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50" dirty="0">
                <a:latin typeface="Arial MT"/>
                <a:cs typeface="Arial MT"/>
              </a:rPr>
              <a:t>A</a:t>
            </a:r>
            <a:r>
              <a:rPr sz="1650" spc="-10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machine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learning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system</a:t>
            </a:r>
            <a:r>
              <a:rPr sz="1650" spc="-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for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classification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has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four</a:t>
            </a:r>
            <a:r>
              <a:rPr sz="1650" spc="-10" dirty="0">
                <a:latin typeface="Arial MT"/>
                <a:cs typeface="Arial MT"/>
              </a:rPr>
              <a:t> components: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650">
              <a:latin typeface="Arial MT"/>
              <a:cs typeface="Arial MT"/>
            </a:endParaRPr>
          </a:p>
          <a:p>
            <a:pPr marL="12700" marR="13970">
              <a:lnSpc>
                <a:spcPts val="2090"/>
              </a:lnSpc>
              <a:spcBef>
                <a:spcPts val="5"/>
              </a:spcBef>
            </a:pPr>
            <a:r>
              <a:rPr sz="1650" dirty="0">
                <a:latin typeface="Arial MT"/>
                <a:cs typeface="Arial MT"/>
              </a:rPr>
              <a:t>1.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b="1" dirty="0">
                <a:latin typeface="Arial"/>
                <a:cs typeface="Arial"/>
              </a:rPr>
              <a:t>A</a:t>
            </a:r>
            <a:r>
              <a:rPr sz="1650" b="1" spc="-75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feature</a:t>
            </a:r>
            <a:r>
              <a:rPr sz="1650" b="1" spc="-1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representation</a:t>
            </a:r>
            <a:r>
              <a:rPr sz="1650" b="1" spc="-15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of</a:t>
            </a:r>
            <a:r>
              <a:rPr sz="1650" b="1" spc="-1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the</a:t>
            </a:r>
            <a:r>
              <a:rPr sz="1650" b="1" spc="-1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input</a:t>
            </a:r>
            <a:r>
              <a:rPr sz="1650" dirty="0">
                <a:latin typeface="Arial MT"/>
                <a:cs typeface="Arial MT"/>
              </a:rPr>
              <a:t>.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For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each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input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observation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x,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this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will</a:t>
            </a:r>
            <a:r>
              <a:rPr sz="1650" spc="-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be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a</a:t>
            </a:r>
            <a:r>
              <a:rPr sz="1650" spc="-10" dirty="0">
                <a:latin typeface="Arial MT"/>
                <a:cs typeface="Arial MT"/>
              </a:rPr>
              <a:t> vector </a:t>
            </a:r>
            <a:r>
              <a:rPr sz="1650" dirty="0">
                <a:latin typeface="Arial MT"/>
                <a:cs typeface="Arial MT"/>
              </a:rPr>
              <a:t>of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features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[x</a:t>
            </a:r>
            <a:r>
              <a:rPr sz="1650" spc="-5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,x</a:t>
            </a:r>
            <a:r>
              <a:rPr sz="1650" spc="-5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,...,x</a:t>
            </a:r>
            <a:r>
              <a:rPr sz="1650" spc="-60" dirty="0">
                <a:latin typeface="Arial MT"/>
                <a:cs typeface="Arial MT"/>
              </a:rPr>
              <a:t> </a:t>
            </a:r>
            <a:r>
              <a:rPr sz="1650" spc="-50" dirty="0">
                <a:latin typeface="Arial MT"/>
                <a:cs typeface="Arial MT"/>
              </a:rPr>
              <a:t>]</a:t>
            </a:r>
            <a:endParaRPr sz="1650">
              <a:latin typeface="Arial MT"/>
              <a:cs typeface="Arial MT"/>
            </a:endParaRPr>
          </a:p>
          <a:p>
            <a:pPr marL="1228725">
              <a:lnSpc>
                <a:spcPts val="135"/>
              </a:lnSpc>
              <a:tabLst>
                <a:tab pos="1444625" algn="l"/>
                <a:tab pos="1894205" algn="l"/>
              </a:tabLst>
            </a:pPr>
            <a:r>
              <a:rPr sz="700" spc="-50" dirty="0">
                <a:latin typeface="Arial MT"/>
                <a:cs typeface="Arial MT"/>
              </a:rPr>
              <a:t>1</a:t>
            </a:r>
            <a:r>
              <a:rPr sz="700" dirty="0">
                <a:latin typeface="Arial MT"/>
                <a:cs typeface="Arial MT"/>
              </a:rPr>
              <a:t>	</a:t>
            </a:r>
            <a:r>
              <a:rPr sz="700" spc="-50" dirty="0">
                <a:latin typeface="Arial MT"/>
                <a:cs typeface="Arial MT"/>
              </a:rPr>
              <a:t>2</a:t>
            </a:r>
            <a:r>
              <a:rPr sz="700" dirty="0">
                <a:latin typeface="Arial MT"/>
                <a:cs typeface="Arial MT"/>
              </a:rPr>
              <a:t>	</a:t>
            </a:r>
            <a:r>
              <a:rPr sz="700" spc="-50" dirty="0">
                <a:latin typeface="Arial MT"/>
                <a:cs typeface="Arial MT"/>
              </a:rPr>
              <a:t>n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700">
              <a:latin typeface="Arial MT"/>
              <a:cs typeface="Arial MT"/>
            </a:endParaRPr>
          </a:p>
          <a:p>
            <a:pPr marL="12700" marR="46355" indent="233045">
              <a:lnSpc>
                <a:spcPct val="105500"/>
              </a:lnSpc>
              <a:buFont typeface="Arial MT"/>
              <a:buAutoNum type="arabicPeriod" startAt="2"/>
              <a:tabLst>
                <a:tab pos="245745" algn="l"/>
                <a:tab pos="4458970" algn="l"/>
              </a:tabLst>
            </a:pPr>
            <a:r>
              <a:rPr sz="1650" b="1" dirty="0">
                <a:latin typeface="Arial"/>
                <a:cs typeface="Arial"/>
              </a:rPr>
              <a:t>A</a:t>
            </a:r>
            <a:r>
              <a:rPr sz="1650" b="1" spc="-10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classification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function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that</a:t>
            </a:r>
            <a:r>
              <a:rPr sz="1650" b="1" spc="-25" dirty="0">
                <a:latin typeface="Arial"/>
                <a:cs typeface="Arial"/>
              </a:rPr>
              <a:t> </a:t>
            </a:r>
            <a:r>
              <a:rPr sz="1650" b="1" spc="-10" dirty="0">
                <a:latin typeface="Arial"/>
                <a:cs typeface="Arial"/>
              </a:rPr>
              <a:t>computes</a:t>
            </a:r>
            <a:r>
              <a:rPr sz="1650" b="1" dirty="0">
                <a:latin typeface="Arial"/>
                <a:cs typeface="Arial"/>
              </a:rPr>
              <a:t>	</a:t>
            </a:r>
            <a:r>
              <a:rPr sz="1650" dirty="0">
                <a:latin typeface="Arial MT"/>
                <a:cs typeface="Arial MT"/>
              </a:rPr>
              <a:t>(the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estimated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class)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via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P(y|x).</a:t>
            </a:r>
            <a:r>
              <a:rPr sz="1650" spc="-2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We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will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25" dirty="0">
                <a:latin typeface="Arial MT"/>
                <a:cs typeface="Arial MT"/>
              </a:rPr>
              <a:t>use </a:t>
            </a:r>
            <a:r>
              <a:rPr sz="1650" dirty="0">
                <a:solidFill>
                  <a:srgbClr val="0000FF"/>
                </a:solidFill>
                <a:latin typeface="Arial MT"/>
                <a:cs typeface="Arial MT"/>
              </a:rPr>
              <a:t>sigmoid</a:t>
            </a:r>
            <a:r>
              <a:rPr sz="1650" spc="-1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0000FF"/>
                </a:solidFill>
                <a:latin typeface="Arial MT"/>
                <a:cs typeface="Arial MT"/>
              </a:rPr>
              <a:t>function</a:t>
            </a:r>
            <a:r>
              <a:rPr sz="1650" spc="-1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in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logistic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regression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0"/>
              </a:spcBef>
              <a:buFont typeface="Arial MT"/>
              <a:buAutoNum type="arabicPeriod" startAt="2"/>
            </a:pPr>
            <a:endParaRPr sz="1650">
              <a:latin typeface="Arial MT"/>
              <a:cs typeface="Arial MT"/>
            </a:endParaRPr>
          </a:p>
          <a:p>
            <a:pPr marL="12700" marR="706120" indent="233045">
              <a:lnSpc>
                <a:spcPct val="105500"/>
              </a:lnSpc>
              <a:spcBef>
                <a:spcPts val="5"/>
              </a:spcBef>
              <a:buFont typeface="Arial MT"/>
              <a:buAutoNum type="arabicPeriod" startAt="2"/>
              <a:tabLst>
                <a:tab pos="245745" algn="l"/>
              </a:tabLst>
            </a:pPr>
            <a:r>
              <a:rPr sz="1650" b="1" dirty="0">
                <a:latin typeface="Arial"/>
                <a:cs typeface="Arial"/>
              </a:rPr>
              <a:t>An</a:t>
            </a:r>
            <a:r>
              <a:rPr sz="1650" b="1" spc="-25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objective</a:t>
            </a:r>
            <a:r>
              <a:rPr sz="1650" b="1" spc="-2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function</a:t>
            </a:r>
            <a:r>
              <a:rPr sz="1650" b="1" spc="-2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for</a:t>
            </a:r>
            <a:r>
              <a:rPr sz="1650" b="1" spc="-2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learning</a:t>
            </a:r>
            <a:r>
              <a:rPr sz="1650" dirty="0">
                <a:latin typeface="Arial MT"/>
                <a:cs typeface="Arial MT"/>
              </a:rPr>
              <a:t>,</a:t>
            </a:r>
            <a:r>
              <a:rPr sz="1650" spc="-2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usually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involving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minimizing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error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on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training </a:t>
            </a:r>
            <a:r>
              <a:rPr sz="1650" dirty="0">
                <a:latin typeface="Arial MT"/>
                <a:cs typeface="Arial MT"/>
              </a:rPr>
              <a:t>examples.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We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will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use</a:t>
            </a:r>
            <a:r>
              <a:rPr sz="1650" spc="5" dirty="0"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0000FF"/>
                </a:solidFill>
                <a:latin typeface="Arial MT"/>
                <a:cs typeface="Arial MT"/>
              </a:rPr>
              <a:t>cross-entropy</a:t>
            </a:r>
            <a:r>
              <a:rPr sz="1650" spc="-1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0000FF"/>
                </a:solidFill>
                <a:latin typeface="Arial MT"/>
                <a:cs typeface="Arial MT"/>
              </a:rPr>
              <a:t>loss</a:t>
            </a:r>
            <a:r>
              <a:rPr sz="1650" spc="-1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function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in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logistic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regression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Font typeface="Arial MT"/>
              <a:buAutoNum type="arabicPeriod" startAt="2"/>
            </a:pPr>
            <a:endParaRPr sz="1650">
              <a:latin typeface="Arial MT"/>
              <a:cs typeface="Arial MT"/>
            </a:endParaRPr>
          </a:p>
          <a:p>
            <a:pPr marL="12700" marR="337185" indent="233045">
              <a:lnSpc>
                <a:spcPct val="105500"/>
              </a:lnSpc>
              <a:spcBef>
                <a:spcPts val="5"/>
              </a:spcBef>
              <a:buFont typeface="Arial MT"/>
              <a:buAutoNum type="arabicPeriod" startAt="2"/>
              <a:tabLst>
                <a:tab pos="245745" algn="l"/>
              </a:tabLst>
            </a:pPr>
            <a:r>
              <a:rPr sz="1650" b="1" dirty="0">
                <a:latin typeface="Arial"/>
                <a:cs typeface="Arial"/>
              </a:rPr>
              <a:t>An</a:t>
            </a:r>
            <a:r>
              <a:rPr sz="1650" b="1" spc="-25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algorithm</a:t>
            </a:r>
            <a:r>
              <a:rPr sz="1650" b="1" spc="-15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for</a:t>
            </a:r>
            <a:r>
              <a:rPr sz="1650" b="1" spc="-2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optimizing</a:t>
            </a:r>
            <a:r>
              <a:rPr sz="1650" b="1" spc="-2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the</a:t>
            </a:r>
            <a:r>
              <a:rPr sz="1650" b="1" spc="-2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objective</a:t>
            </a:r>
            <a:r>
              <a:rPr sz="1650" b="1" spc="-15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function</a:t>
            </a:r>
            <a:r>
              <a:rPr sz="1650" dirty="0">
                <a:latin typeface="Arial MT"/>
                <a:cs typeface="Arial MT"/>
              </a:rPr>
              <a:t>.</a:t>
            </a:r>
            <a:r>
              <a:rPr sz="1650" spc="-2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We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will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use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0000FF"/>
                </a:solidFill>
                <a:latin typeface="Arial MT"/>
                <a:cs typeface="Arial MT"/>
              </a:rPr>
              <a:t>stochastic</a:t>
            </a:r>
            <a:r>
              <a:rPr sz="1650" spc="-1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0000FF"/>
                </a:solidFill>
                <a:latin typeface="Arial MT"/>
                <a:cs typeface="Arial MT"/>
              </a:rPr>
              <a:t>gradient </a:t>
            </a:r>
            <a:r>
              <a:rPr sz="1650" dirty="0">
                <a:solidFill>
                  <a:srgbClr val="0000FF"/>
                </a:solidFill>
                <a:latin typeface="Arial MT"/>
                <a:cs typeface="Arial MT"/>
              </a:rPr>
              <a:t>descent</a:t>
            </a:r>
            <a:r>
              <a:rPr sz="1650" spc="-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algorithm</a:t>
            </a:r>
            <a:r>
              <a:rPr sz="1650" spc="-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in</a:t>
            </a:r>
            <a:r>
              <a:rPr sz="1650" spc="-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logistic</a:t>
            </a:r>
            <a:r>
              <a:rPr sz="1650" spc="-5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regression</a:t>
            </a:r>
            <a:endParaRPr sz="16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6050" y="2571750"/>
            <a:ext cx="152699" cy="32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513" rIns="0" bIns="0" rtlCol="0">
            <a:spAutoFit/>
          </a:bodyPr>
          <a:lstStyle/>
          <a:p>
            <a:pPr marL="1826895">
              <a:lnSpc>
                <a:spcPct val="100000"/>
              </a:lnSpc>
              <a:spcBef>
                <a:spcPts val="95"/>
              </a:spcBef>
            </a:pPr>
            <a:r>
              <a:rPr sz="2200" dirty="0"/>
              <a:t>The</a:t>
            </a:r>
            <a:r>
              <a:rPr sz="2200" spc="-110" dirty="0"/>
              <a:t> </a:t>
            </a:r>
            <a:r>
              <a:rPr sz="2200" spc="-20" dirty="0"/>
              <a:t>Two</a:t>
            </a:r>
            <a:r>
              <a:rPr sz="2200" spc="-70" dirty="0"/>
              <a:t> </a:t>
            </a:r>
            <a:r>
              <a:rPr sz="2200" dirty="0"/>
              <a:t>Phases</a:t>
            </a:r>
            <a:r>
              <a:rPr sz="2200" spc="-75" dirty="0"/>
              <a:t> </a:t>
            </a:r>
            <a:r>
              <a:rPr sz="2200" dirty="0"/>
              <a:t>of</a:t>
            </a:r>
            <a:r>
              <a:rPr sz="2200" spc="-70" dirty="0"/>
              <a:t> </a:t>
            </a:r>
            <a:r>
              <a:rPr sz="2200" dirty="0"/>
              <a:t>Logistic</a:t>
            </a:r>
            <a:r>
              <a:rPr sz="2200" spc="-75" dirty="0"/>
              <a:t> </a:t>
            </a:r>
            <a:r>
              <a:rPr sz="2200" spc="-10" dirty="0"/>
              <a:t>Regression</a:t>
            </a:r>
            <a:endParaRPr sz="2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686368"/>
            <a:ext cx="8627745" cy="282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5425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goal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binary</a:t>
            </a:r>
            <a:r>
              <a:rPr sz="2000" spc="-4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logistic</a:t>
            </a:r>
            <a:r>
              <a:rPr sz="2000" spc="-4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regression</a:t>
            </a:r>
            <a:r>
              <a:rPr sz="2000" spc="-3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train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classifier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make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a </a:t>
            </a:r>
            <a:r>
              <a:rPr sz="2000" dirty="0">
                <a:latin typeface="Arial MT"/>
                <a:cs typeface="Arial MT"/>
              </a:rPr>
              <a:t>binary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decision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about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new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input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observation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000">
              <a:latin typeface="Arial MT"/>
              <a:cs typeface="Arial MT"/>
            </a:endParaRPr>
          </a:p>
          <a:p>
            <a:pPr marL="12700" marR="339725">
              <a:lnSpc>
                <a:spcPct val="114999"/>
              </a:lnSpc>
            </a:pPr>
            <a:r>
              <a:rPr sz="2000" spc="-10" dirty="0">
                <a:solidFill>
                  <a:srgbClr val="0000FF"/>
                </a:solidFill>
                <a:latin typeface="Arial MT"/>
                <a:cs typeface="Arial MT"/>
              </a:rPr>
              <a:t>Training</a:t>
            </a:r>
            <a:r>
              <a:rPr sz="2000" spc="-10" dirty="0">
                <a:latin typeface="Arial MT"/>
                <a:cs typeface="Arial MT"/>
              </a:rPr>
              <a:t>: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learn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weights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stochastic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gradient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descent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cross-entropy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loss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0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</a:pPr>
            <a:r>
              <a:rPr sz="2000" spc="-40" dirty="0">
                <a:solidFill>
                  <a:srgbClr val="0000FF"/>
                </a:solidFill>
                <a:latin typeface="Arial MT"/>
                <a:cs typeface="Arial MT"/>
              </a:rPr>
              <a:t>Test</a:t>
            </a:r>
            <a:r>
              <a:rPr sz="2000" spc="-40" dirty="0">
                <a:latin typeface="Arial MT"/>
                <a:cs typeface="Arial MT"/>
              </a:rPr>
              <a:t>: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Given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test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example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x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compute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p(y|x)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learned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weights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b,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return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whichever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label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0)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higher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probability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78013" y="1972144"/>
            <a:ext cx="578739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dirty="0"/>
              <a:t>Logistic</a:t>
            </a:r>
            <a:r>
              <a:rPr sz="5200" spc="-5" dirty="0"/>
              <a:t> </a:t>
            </a:r>
            <a:r>
              <a:rPr sz="5200" spc="-10" dirty="0"/>
              <a:t>Regression</a:t>
            </a:r>
            <a:endParaRPr sz="5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037" rIns="0" bIns="0" rtlCol="0">
            <a:spAutoFit/>
          </a:bodyPr>
          <a:lstStyle/>
          <a:p>
            <a:pPr marL="2173605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Logistic</a:t>
            </a:r>
            <a:r>
              <a:rPr sz="2500" spc="-25" dirty="0"/>
              <a:t> </a:t>
            </a:r>
            <a:r>
              <a:rPr sz="2500" dirty="0"/>
              <a:t>Regression</a:t>
            </a:r>
            <a:r>
              <a:rPr sz="2500" spc="-20" dirty="0"/>
              <a:t> </a:t>
            </a:r>
            <a:r>
              <a:rPr sz="2500" spc="-10" dirty="0"/>
              <a:t>Classifier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97450" y="732090"/>
            <a:ext cx="8596630" cy="2783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Given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series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input/output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pairs: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(x</a:t>
            </a:r>
            <a:r>
              <a:rPr sz="1950" baseline="32051" dirty="0">
                <a:latin typeface="Arial MT"/>
                <a:cs typeface="Arial MT"/>
              </a:rPr>
              <a:t>(i)</a:t>
            </a:r>
            <a:r>
              <a:rPr sz="1950" spc="254" baseline="32051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y</a:t>
            </a:r>
            <a:r>
              <a:rPr sz="1950" spc="-15" baseline="32051" dirty="0">
                <a:latin typeface="Arial MT"/>
                <a:cs typeface="Arial MT"/>
              </a:rPr>
              <a:t>(i)</a:t>
            </a:r>
            <a:r>
              <a:rPr sz="2000" spc="-10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20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observation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x</a:t>
            </a:r>
            <a:r>
              <a:rPr sz="1950" spc="-30" baseline="32051" dirty="0">
                <a:latin typeface="Arial MT"/>
                <a:cs typeface="Arial MT"/>
              </a:rPr>
              <a:t>(i)</a:t>
            </a:r>
            <a:endParaRPr sz="1950" baseline="32051">
              <a:latin typeface="Arial MT"/>
              <a:cs typeface="Arial MT"/>
            </a:endParaRPr>
          </a:p>
          <a:p>
            <a:pPr marL="532765" indent="-381635">
              <a:lnSpc>
                <a:spcPts val="1925"/>
              </a:lnSpc>
              <a:spcBef>
                <a:spcPts val="360"/>
              </a:spcBef>
              <a:buChar char="●"/>
              <a:tabLst>
                <a:tab pos="532765" algn="l"/>
              </a:tabLst>
            </a:pPr>
            <a:r>
              <a:rPr sz="2000" dirty="0">
                <a:latin typeface="Arial MT"/>
                <a:cs typeface="Arial MT"/>
              </a:rPr>
              <a:t>We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represent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x</a:t>
            </a:r>
            <a:r>
              <a:rPr sz="1950" baseline="32051" dirty="0">
                <a:latin typeface="Arial MT"/>
                <a:cs typeface="Arial MT"/>
              </a:rPr>
              <a:t>(i)</a:t>
            </a:r>
            <a:r>
              <a:rPr sz="1950" spc="270" baseline="32051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feature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vector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[x</a:t>
            </a:r>
            <a:r>
              <a:rPr sz="2000" spc="1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x</a:t>
            </a:r>
            <a:r>
              <a:rPr sz="2000" spc="1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,...,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x</a:t>
            </a:r>
            <a:r>
              <a:rPr sz="2000" spc="180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]</a:t>
            </a:r>
            <a:endParaRPr sz="2000">
              <a:latin typeface="Arial MT"/>
              <a:cs typeface="Arial MT"/>
            </a:endParaRPr>
          </a:p>
          <a:p>
            <a:pPr marL="4841875">
              <a:lnSpc>
                <a:spcPts val="960"/>
              </a:lnSpc>
              <a:tabLst>
                <a:tab pos="5203825" algn="l"/>
                <a:tab pos="5848350" algn="l"/>
              </a:tabLst>
            </a:pPr>
            <a:r>
              <a:rPr sz="1300" spc="-50" dirty="0">
                <a:latin typeface="Arial MT"/>
                <a:cs typeface="Arial MT"/>
              </a:rPr>
              <a:t>1</a:t>
            </a:r>
            <a:r>
              <a:rPr sz="1300" dirty="0">
                <a:latin typeface="Arial MT"/>
                <a:cs typeface="Arial MT"/>
              </a:rPr>
              <a:t>	</a:t>
            </a:r>
            <a:r>
              <a:rPr sz="1300" spc="-50" dirty="0">
                <a:latin typeface="Arial MT"/>
                <a:cs typeface="Arial MT"/>
              </a:rPr>
              <a:t>2</a:t>
            </a:r>
            <a:r>
              <a:rPr sz="1300" dirty="0">
                <a:latin typeface="Arial MT"/>
                <a:cs typeface="Arial MT"/>
              </a:rPr>
              <a:t>	</a:t>
            </a:r>
            <a:r>
              <a:rPr sz="1300" spc="-50" dirty="0">
                <a:latin typeface="Arial MT"/>
                <a:cs typeface="Arial MT"/>
              </a:rPr>
              <a:t>n</a:t>
            </a:r>
            <a:endParaRPr sz="1300">
              <a:latin typeface="Arial MT"/>
              <a:cs typeface="Arial MT"/>
            </a:endParaRPr>
          </a:p>
          <a:p>
            <a:pPr marL="532765" indent="-381635">
              <a:lnSpc>
                <a:spcPts val="2275"/>
              </a:lnSpc>
              <a:buChar char="●"/>
              <a:tabLst>
                <a:tab pos="532765" algn="l"/>
              </a:tabLst>
            </a:pPr>
            <a:r>
              <a:rPr sz="2000" dirty="0">
                <a:latin typeface="Arial MT"/>
                <a:cs typeface="Arial MT"/>
              </a:rPr>
              <a:t>We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compute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output: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predicted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class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20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feature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x</a:t>
            </a:r>
            <a:r>
              <a:rPr sz="1950" baseline="-32051" dirty="0">
                <a:latin typeface="Arial MT"/>
                <a:cs typeface="Arial MT"/>
              </a:rPr>
              <a:t>i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weight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</a:t>
            </a:r>
            <a:r>
              <a:rPr sz="1950" baseline="-32051" dirty="0">
                <a:latin typeface="Arial MT"/>
                <a:cs typeface="Arial MT"/>
              </a:rPr>
              <a:t>i</a:t>
            </a:r>
            <a:r>
              <a:rPr sz="1950" spc="247" baseline="-32051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tells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how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important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x</a:t>
            </a:r>
            <a:r>
              <a:rPr sz="1950" spc="-37" baseline="-32051" dirty="0">
                <a:latin typeface="Arial MT"/>
                <a:cs typeface="Arial MT"/>
              </a:rPr>
              <a:t>i</a:t>
            </a:r>
            <a:endParaRPr sz="1950" baseline="-32051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  <a:spcBef>
                <a:spcPts val="360"/>
              </a:spcBef>
            </a:pPr>
            <a:r>
              <a:rPr sz="2000" dirty="0">
                <a:latin typeface="Arial MT"/>
                <a:cs typeface="Arial MT"/>
              </a:rPr>
              <a:t>Weights: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feature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[w</a:t>
            </a:r>
            <a:r>
              <a:rPr sz="1950" baseline="-32051" dirty="0">
                <a:latin typeface="Arial MT"/>
                <a:cs typeface="Arial MT"/>
              </a:rPr>
              <a:t>1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</a:t>
            </a:r>
            <a:r>
              <a:rPr sz="1950" baseline="-32051" dirty="0">
                <a:latin typeface="Arial MT"/>
                <a:cs typeface="Arial MT"/>
              </a:rPr>
              <a:t>2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...,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</a:t>
            </a:r>
            <a:r>
              <a:rPr sz="1950" baseline="-32051" dirty="0">
                <a:latin typeface="Arial MT"/>
                <a:cs typeface="Arial MT"/>
              </a:rPr>
              <a:t>n</a:t>
            </a:r>
            <a:r>
              <a:rPr sz="2000" dirty="0">
                <a:latin typeface="Arial MT"/>
                <a:cs typeface="Arial MT"/>
              </a:rPr>
              <a:t>]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(Sometimes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represented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480" dirty="0">
                <a:latin typeface="Arial MT"/>
                <a:cs typeface="Arial MT"/>
              </a:rPr>
              <a:t>θ)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5500" y="2196675"/>
            <a:ext cx="1059299" cy="2728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7200" y="3811350"/>
            <a:ext cx="2510899" cy="12149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215225" y="4213388"/>
            <a:ext cx="36683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If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this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sum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high,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say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y=1;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if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low,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y=0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037" rIns="0" bIns="0" rtlCol="0">
            <a:spAutoFit/>
          </a:bodyPr>
          <a:lstStyle/>
          <a:p>
            <a:pPr marL="2707640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Probabilistic</a:t>
            </a:r>
            <a:r>
              <a:rPr sz="2500" spc="130" dirty="0"/>
              <a:t> </a:t>
            </a:r>
            <a:r>
              <a:rPr sz="2500" spc="-10" dirty="0"/>
              <a:t>Classifier</a:t>
            </a:r>
            <a:endParaRPr sz="25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731582"/>
            <a:ext cx="8519160" cy="370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We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need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formalize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“sum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high”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2100">
              <a:latin typeface="Arial MT"/>
              <a:cs typeface="Arial MT"/>
            </a:endParaRPr>
          </a:p>
          <a:p>
            <a:pPr marL="12700" marR="128905">
              <a:lnSpc>
                <a:spcPct val="105000"/>
              </a:lnSpc>
            </a:pP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weighted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sum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of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evidence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z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probability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value,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ranges </a:t>
            </a:r>
            <a:r>
              <a:rPr sz="2100" dirty="0">
                <a:latin typeface="Arial MT"/>
                <a:cs typeface="Arial MT"/>
              </a:rPr>
              <a:t>from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-</a:t>
            </a:r>
            <a:r>
              <a:rPr sz="2100" dirty="0">
                <a:latin typeface="Arial MT"/>
                <a:cs typeface="Arial MT"/>
              </a:rPr>
              <a:t>∞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+∞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2100">
              <a:latin typeface="Arial MT"/>
              <a:cs typeface="Arial MT"/>
            </a:endParaRPr>
          </a:p>
          <a:p>
            <a:pPr marL="12700" marR="5080">
              <a:lnSpc>
                <a:spcPct val="105000"/>
              </a:lnSpc>
            </a:pPr>
            <a:r>
              <a:rPr sz="2100" dirty="0">
                <a:latin typeface="Arial MT"/>
                <a:cs typeface="Arial MT"/>
              </a:rPr>
              <a:t>We’d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like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principled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classifier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that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gives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us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probability,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just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like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Na</a:t>
            </a:r>
            <a:r>
              <a:rPr sz="1950" spc="-10" dirty="0">
                <a:latin typeface="Arial MT"/>
                <a:cs typeface="Arial MT"/>
              </a:rPr>
              <a:t>ï</a:t>
            </a:r>
            <a:r>
              <a:rPr sz="2100" spc="-10" dirty="0">
                <a:latin typeface="Arial MT"/>
                <a:cs typeface="Arial MT"/>
              </a:rPr>
              <a:t>ve </a:t>
            </a:r>
            <a:r>
              <a:rPr sz="2100" dirty="0">
                <a:latin typeface="Arial MT"/>
                <a:cs typeface="Arial MT"/>
              </a:rPr>
              <a:t>Bayes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did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100" dirty="0">
                <a:latin typeface="Arial MT"/>
                <a:cs typeface="Arial MT"/>
              </a:rPr>
              <a:t>We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want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model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that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can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tell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us:</a:t>
            </a:r>
            <a:endParaRPr sz="2100">
              <a:latin typeface="Arial MT"/>
              <a:cs typeface="Arial MT"/>
            </a:endParaRPr>
          </a:p>
          <a:p>
            <a:pPr marL="3743960" marR="3506470" algn="ctr">
              <a:lnSpc>
                <a:spcPct val="105000"/>
              </a:lnSpc>
            </a:pPr>
            <a:r>
              <a:rPr sz="2100" dirty="0">
                <a:latin typeface="Arial MT"/>
                <a:cs typeface="Arial MT"/>
              </a:rPr>
              <a:t>p(y=1|x;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spc="-505" dirty="0">
                <a:latin typeface="Arial MT"/>
                <a:cs typeface="Arial MT"/>
              </a:rPr>
              <a:t>θ)</a:t>
            </a:r>
            <a:r>
              <a:rPr sz="2100" dirty="0">
                <a:latin typeface="Arial MT"/>
                <a:cs typeface="Arial MT"/>
              </a:rPr>
              <a:t> p(y=0|x;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spc="-505" dirty="0">
                <a:latin typeface="Arial MT"/>
                <a:cs typeface="Arial MT"/>
              </a:rPr>
              <a:t>θ)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847725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Sigmoid</a:t>
            </a:r>
            <a:r>
              <a:rPr sz="2500" spc="60" dirty="0"/>
              <a:t> </a:t>
            </a:r>
            <a:r>
              <a:rPr sz="2500" spc="-10" dirty="0"/>
              <a:t>Function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160949" y="686370"/>
            <a:ext cx="8093709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Solution: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z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goes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0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1,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sigmoid</a:t>
            </a:r>
            <a:r>
              <a:rPr sz="2000" spc="-3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function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10" dirty="0">
                <a:latin typeface="Arial MT"/>
                <a:cs typeface="Arial MT"/>
              </a:rPr>
              <a:t>𝝈(z)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sigmoid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also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called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logistic</a:t>
            </a:r>
            <a:r>
              <a:rPr sz="2000" spc="-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Arial MT"/>
                <a:cs typeface="Arial MT"/>
              </a:rPr>
              <a:t>function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8375" y="1559175"/>
            <a:ext cx="5707249" cy="27988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9637" y="4482225"/>
            <a:ext cx="3741863" cy="6512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EA04D33E482A4BA12D40215DDD827E" ma:contentTypeVersion="3" ma:contentTypeDescription="Create a new document." ma:contentTypeScope="" ma:versionID="dbcfff18694569661796f1ccd994738f">
  <xsd:schema xmlns:xsd="http://www.w3.org/2001/XMLSchema" xmlns:xs="http://www.w3.org/2001/XMLSchema" xmlns:p="http://schemas.microsoft.com/office/2006/metadata/properties" xmlns:ns2="6ccbcca3-9c48-4d51-affd-7f500234a31c" targetNamespace="http://schemas.microsoft.com/office/2006/metadata/properties" ma:root="true" ma:fieldsID="7c1a1658f5b2498d87a9b8295f17185d" ns2:_="">
    <xsd:import namespace="6ccbcca3-9c48-4d51-affd-7f500234a3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cbcca3-9c48-4d51-affd-7f500234a3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7692076-BC4C-41FC-A6E1-806E372ADA04}"/>
</file>

<file path=customXml/itemProps2.xml><?xml version="1.0" encoding="utf-8"?>
<ds:datastoreItem xmlns:ds="http://schemas.openxmlformats.org/officeDocument/2006/customXml" ds:itemID="{B4D37F48-DD2C-4C4D-9A67-2E61AC63D0E4}"/>
</file>

<file path=customXml/itemProps3.xml><?xml version="1.0" encoding="utf-8"?>
<ds:datastoreItem xmlns:ds="http://schemas.openxmlformats.org/officeDocument/2006/customXml" ds:itemID="{5506DB5D-0D99-4A17-B43D-782008523C4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</TotalTime>
  <Words>612</Words>
  <Application>Microsoft Office PowerPoint</Application>
  <PresentationFormat>On-screen Show (16:9)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MT</vt:lpstr>
      <vt:lpstr>Calibri</vt:lpstr>
      <vt:lpstr>Office Theme</vt:lpstr>
      <vt:lpstr>Natural Language Processing</vt:lpstr>
      <vt:lpstr>Previous Session</vt:lpstr>
      <vt:lpstr>Google Brad and Bing</vt:lpstr>
      <vt:lpstr>Generative and Discriminative Classifiers</vt:lpstr>
      <vt:lpstr>Generative vs. Discriminative</vt:lpstr>
      <vt:lpstr>Generative Classifier</vt:lpstr>
      <vt:lpstr>Discriminative Classifier</vt:lpstr>
      <vt:lpstr>Components of A Probabilistic Machine Learning Classifier</vt:lpstr>
      <vt:lpstr>The Two Phases of Logistic Regression</vt:lpstr>
      <vt:lpstr>Logistic Regression</vt:lpstr>
      <vt:lpstr>Logistic Regression Classifier</vt:lpstr>
      <vt:lpstr>Probabilistic Classifier</vt:lpstr>
      <vt:lpstr>Sigmoid Function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 -- Session 7 - Logistic Regression.pptx</dc:title>
  <dc:creator>Administrator</dc:creator>
  <cp:lastModifiedBy>Administrator</cp:lastModifiedBy>
  <cp:revision>5</cp:revision>
  <dcterms:created xsi:type="dcterms:W3CDTF">2026-04-13T09:46:18Z</dcterms:created>
  <dcterms:modified xsi:type="dcterms:W3CDTF">2026-04-14T07:45:19Z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2026-04-13T00:00:00Z</vt:filetime>
  </property>
  <property fmtid="{D5CDD505-2E9C-101B-9397-08002B2CF9AE}" pid="4" name="Creator">
    <vt:lpwstr>Google</vt:lpwstr>
  </property>
  <property fmtid="{D5CDD505-2E9C-101B-9397-08002B2CF9AE}" pid="5" name="LastSaved">
    <vt:filetime>2026-04-13T00:00:00Z</vt:filetime>
  </property>
  <property fmtid="{D5CDD505-2E9C-101B-9397-08002B2CF9AE}" pid="6" name="ContentTypeId">
    <vt:lpwstr>0x010100E0EA04D33E482A4BA12D40215DDD827E</vt:lpwstr>
  </property>
</Properties>
</file>