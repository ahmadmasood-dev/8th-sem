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9" r:id="rId3"/>
    <p:sldId id="290" r:id="rId4"/>
    <p:sldId id="291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5" r:id="rId14"/>
    <p:sldId id="307" r:id="rId15"/>
    <p:sldId id="306" r:id="rId16"/>
    <p:sldId id="303" r:id="rId17"/>
    <p:sldId id="304" r:id="rId1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880" autoAdjust="0"/>
    <p:restoredTop sz="94660"/>
  </p:normalViewPr>
  <p:slideViewPr>
    <p:cSldViewPr>
      <p:cViewPr varScale="1">
        <p:scale>
          <a:sx n="157" d="100"/>
          <a:sy n="157" d="100"/>
        </p:scale>
        <p:origin x="222" y="1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60239" y="57022"/>
            <a:ext cx="4823520" cy="505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722" y="21682"/>
            <a:ext cx="8608554" cy="5628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41725" y="2263935"/>
            <a:ext cx="5526405" cy="1390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50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jsu.edu/faculty/gerstman/StatPrimer/t-table.pdf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141" y="1359903"/>
            <a:ext cx="822134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Natural</a:t>
            </a:r>
            <a:r>
              <a:rPr sz="4900" spc="-120" dirty="0"/>
              <a:t> </a:t>
            </a:r>
            <a:r>
              <a:rPr sz="4900" dirty="0"/>
              <a:t>Language</a:t>
            </a:r>
            <a:r>
              <a:rPr sz="4900" spc="-114" dirty="0"/>
              <a:t> </a:t>
            </a:r>
            <a:r>
              <a:rPr sz="4900" spc="-10" dirty="0"/>
              <a:t>Processing</a:t>
            </a:r>
            <a:endParaRPr sz="4900"/>
          </a:p>
        </p:txBody>
      </p:sp>
      <p:sp>
        <p:nvSpPr>
          <p:cNvPr id="4" name="object 4"/>
          <p:cNvSpPr txBox="1"/>
          <p:nvPr/>
        </p:nvSpPr>
        <p:spPr>
          <a:xfrm>
            <a:off x="1475219" y="2849400"/>
            <a:ext cx="6190615" cy="177612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Session</a:t>
            </a:r>
            <a:r>
              <a:rPr sz="1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6: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b="1" dirty="0">
                <a:solidFill>
                  <a:srgbClr val="FFFFFF"/>
                </a:solidFill>
                <a:latin typeface="Arial"/>
                <a:cs typeface="Arial"/>
              </a:rPr>
              <a:t>Naïve</a:t>
            </a:r>
            <a:r>
              <a:rPr sz="19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FFFFFF"/>
                </a:solidFill>
                <a:latin typeface="Arial"/>
                <a:cs typeface="Arial"/>
              </a:rPr>
              <a:t>Bayes</a:t>
            </a:r>
            <a:r>
              <a:rPr sz="19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9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FFFFFF"/>
                </a:solidFill>
                <a:latin typeface="Arial"/>
                <a:cs typeface="Arial"/>
              </a:rPr>
              <a:t>Sentiment</a:t>
            </a:r>
            <a:r>
              <a:rPr sz="1950" b="1" spc="-10" dirty="0">
                <a:solidFill>
                  <a:srgbClr val="FFFFFF"/>
                </a:solidFill>
                <a:latin typeface="Arial"/>
                <a:cs typeface="Arial"/>
              </a:rPr>
              <a:t> Classification</a:t>
            </a:r>
            <a:endParaRPr sz="1950" dirty="0">
              <a:latin typeface="Arial"/>
              <a:cs typeface="Arial"/>
            </a:endParaRPr>
          </a:p>
          <a:p>
            <a:pPr marL="758825" marR="749935" indent="739775">
              <a:lnSpc>
                <a:spcPts val="1880"/>
              </a:lnSpc>
              <a:spcBef>
                <a:spcPts val="187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Instructor:</a:t>
            </a:r>
            <a:r>
              <a:rPr sz="1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Dr. Nadia Saeed</a:t>
            </a:r>
          </a:p>
          <a:p>
            <a:pPr marL="758825" marR="749935" indent="739775">
              <a:lnSpc>
                <a:spcPts val="1880"/>
              </a:lnSpc>
              <a:spcBef>
                <a:spcPts val="1870"/>
              </a:spcBef>
            </a:pP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Spring</a:t>
            </a:r>
            <a:r>
              <a:rPr sz="1950" spc="-3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202</a:t>
            </a: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</a:p>
          <a:p>
            <a:pPr marL="758825" marR="749935" indent="739775">
              <a:lnSpc>
                <a:spcPts val="1880"/>
              </a:lnSpc>
              <a:spcBef>
                <a:spcPts val="1870"/>
              </a:spcBef>
            </a:pP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Quaid-</a:t>
            </a:r>
            <a:r>
              <a:rPr lang="en-US" sz="1950" dirty="0" err="1" smtClean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lang="en-US" sz="1950" dirty="0" err="1" smtClean="0">
                <a:solidFill>
                  <a:srgbClr val="FFFFFF"/>
                </a:solidFill>
                <a:latin typeface="Arial MT"/>
                <a:cs typeface="Arial MT"/>
              </a:rPr>
              <a:t>Azam</a:t>
            </a:r>
            <a:r>
              <a:rPr sz="1950" spc="-2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University</a:t>
            </a:r>
            <a:endParaRPr sz="19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5880" y="1972144"/>
            <a:ext cx="707009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dirty="0"/>
              <a:t>Evaluation</a:t>
            </a:r>
            <a:r>
              <a:rPr sz="5200" spc="-60" dirty="0"/>
              <a:t> </a:t>
            </a:r>
            <a:r>
              <a:rPr sz="5200" dirty="0"/>
              <a:t>of</a:t>
            </a:r>
            <a:r>
              <a:rPr sz="5200" spc="-55" dirty="0"/>
              <a:t> </a:t>
            </a:r>
            <a:r>
              <a:rPr sz="5200" spc="-10" dirty="0"/>
              <a:t>Classifiers</a:t>
            </a:r>
            <a:endParaRPr sz="5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372" rIns="0" bIns="0" rtlCol="0">
            <a:spAutoFit/>
          </a:bodyPr>
          <a:lstStyle/>
          <a:p>
            <a:pPr marL="1032510">
              <a:lnSpc>
                <a:spcPct val="100000"/>
              </a:lnSpc>
              <a:spcBef>
                <a:spcPts val="135"/>
              </a:spcBef>
            </a:pPr>
            <a:r>
              <a:rPr sz="2350" dirty="0"/>
              <a:t>Contingency</a:t>
            </a:r>
            <a:r>
              <a:rPr sz="2350" spc="-20" dirty="0"/>
              <a:t> Table,</a:t>
            </a:r>
            <a:r>
              <a:rPr sz="2350" spc="45" dirty="0"/>
              <a:t> </a:t>
            </a:r>
            <a:r>
              <a:rPr sz="2350" dirty="0"/>
              <a:t>Precision,</a:t>
            </a:r>
            <a:r>
              <a:rPr sz="2350" spc="45" dirty="0"/>
              <a:t> </a:t>
            </a:r>
            <a:r>
              <a:rPr sz="2350" dirty="0"/>
              <a:t>Recall,</a:t>
            </a:r>
            <a:r>
              <a:rPr sz="2350" spc="40" dirty="0"/>
              <a:t> </a:t>
            </a:r>
            <a:r>
              <a:rPr sz="2350" dirty="0"/>
              <a:t>F-</a:t>
            </a:r>
            <a:r>
              <a:rPr sz="2350" spc="-10" dirty="0"/>
              <a:t>measure</a:t>
            </a:r>
            <a:endParaRPr sz="23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680781"/>
            <a:ext cx="8760460" cy="3110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88315">
              <a:lnSpc>
                <a:spcPct val="114999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order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evaluate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how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good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classifier,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different </a:t>
            </a:r>
            <a:r>
              <a:rPr sz="2200" dirty="0">
                <a:latin typeface="Arial MT"/>
                <a:cs typeface="Arial MT"/>
              </a:rPr>
              <a:t>evaluation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metrics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</a:pP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evaluation,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compare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results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classifier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gold </a:t>
            </a:r>
            <a:r>
              <a:rPr sz="2200" dirty="0">
                <a:latin typeface="Arial MT"/>
                <a:cs typeface="Arial MT"/>
              </a:rPr>
              <a:t>labels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human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labels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documents)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2200">
              <a:latin typeface="Arial MT"/>
              <a:cs typeface="Arial MT"/>
            </a:endParaRPr>
          </a:p>
          <a:p>
            <a:pPr marL="12700" marR="20955">
              <a:lnSpc>
                <a:spcPct val="114999"/>
              </a:lnSpc>
            </a:pPr>
            <a:r>
              <a:rPr sz="2200" dirty="0">
                <a:latin typeface="Arial MT"/>
                <a:cs typeface="Arial MT"/>
              </a:rPr>
              <a:t>As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result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this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comparison,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first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build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contingency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table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before </a:t>
            </a:r>
            <a:r>
              <a:rPr sz="2200" dirty="0">
                <a:latin typeface="Arial MT"/>
                <a:cs typeface="Arial MT"/>
              </a:rPr>
              <a:t>calculate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our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evaluation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metrics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3103880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Confusion</a:t>
            </a:r>
            <a:r>
              <a:rPr sz="2500" spc="-40" dirty="0"/>
              <a:t> </a:t>
            </a:r>
            <a:r>
              <a:rPr sz="2500" spc="-10" dirty="0"/>
              <a:t>Matrix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725100"/>
            <a:ext cx="8820204" cy="30899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6425" y="4277531"/>
            <a:ext cx="65151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confusion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matrix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visualizing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binary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classification </a:t>
            </a:r>
            <a:r>
              <a:rPr sz="1800" dirty="0">
                <a:latin typeface="Arial MT"/>
                <a:cs typeface="Arial MT"/>
              </a:rPr>
              <a:t>system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performs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against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gold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standard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labels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165">
              <a:lnSpc>
                <a:spcPct val="100000"/>
              </a:lnSpc>
              <a:spcBef>
                <a:spcPts val="100"/>
              </a:spcBef>
            </a:pPr>
            <a:r>
              <a:rPr sz="3150" dirty="0"/>
              <a:t>Evaluation</a:t>
            </a:r>
            <a:r>
              <a:rPr sz="3150" spc="-65" dirty="0"/>
              <a:t> </a:t>
            </a:r>
            <a:r>
              <a:rPr sz="3150" dirty="0"/>
              <a:t>for</a:t>
            </a:r>
            <a:r>
              <a:rPr sz="3150" spc="-60" dirty="0"/>
              <a:t> </a:t>
            </a:r>
            <a:r>
              <a:rPr sz="3150" dirty="0"/>
              <a:t>more</a:t>
            </a:r>
            <a:r>
              <a:rPr sz="3150" spc="-60" dirty="0"/>
              <a:t> </a:t>
            </a:r>
            <a:r>
              <a:rPr sz="3150" dirty="0"/>
              <a:t>than</a:t>
            </a:r>
            <a:r>
              <a:rPr sz="3150" spc="-110" dirty="0"/>
              <a:t> </a:t>
            </a:r>
            <a:r>
              <a:rPr sz="3150" spc="-10" dirty="0"/>
              <a:t>Two</a:t>
            </a:r>
            <a:r>
              <a:rPr sz="3150" spc="-60" dirty="0"/>
              <a:t> </a:t>
            </a:r>
            <a:r>
              <a:rPr sz="3150" spc="-10" dirty="0"/>
              <a:t>Classes</a:t>
            </a:r>
            <a:endParaRPr sz="3150"/>
          </a:p>
        </p:txBody>
      </p:sp>
      <p:sp>
        <p:nvSpPr>
          <p:cNvPr id="3" name="object 3"/>
          <p:cNvSpPr txBox="1"/>
          <p:nvPr/>
        </p:nvSpPr>
        <p:spPr>
          <a:xfrm>
            <a:off x="160949" y="2933532"/>
            <a:ext cx="7848600" cy="19183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800" spc="-10" dirty="0">
                <a:latin typeface="Arial MT"/>
                <a:cs typeface="Arial MT"/>
              </a:rPr>
              <a:t>Macro-averaging: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Compute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performance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average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over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classes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40"/>
              </a:spcBef>
              <a:buFont typeface="Arial MT"/>
              <a:buChar char="●"/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Micro-averaging: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Collect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decisions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confusion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matrix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Compute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precision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recall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table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0713" y="648900"/>
            <a:ext cx="4370075" cy="20897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483835"/>
              </p:ext>
            </p:extLst>
          </p:nvPr>
        </p:nvGraphicFramePr>
        <p:xfrm>
          <a:off x="6172200" y="2432131"/>
          <a:ext cx="152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1574540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72415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300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55971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01240" y="2151301"/>
            <a:ext cx="7514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2870">
              <a:lnSpc>
                <a:spcPct val="100000"/>
              </a:lnSpc>
              <a:spcBef>
                <a:spcPts val="320"/>
              </a:spcBef>
              <a:tabLst>
                <a:tab pos="469265" algn="l"/>
              </a:tabLst>
            </a:pPr>
            <a:r>
              <a:rPr lang="en-US" sz="1400" spc="-10" dirty="0" smtClean="0">
                <a:latin typeface="Arial MT"/>
                <a:cs typeface="Arial MT"/>
              </a:rPr>
              <a:t>Spam</a:t>
            </a:r>
            <a:endParaRPr lang="en-US" sz="1400" dirty="0">
              <a:latin typeface="Arial MT"/>
              <a:cs typeface="Arial M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96200" y="2422225"/>
            <a:ext cx="10515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2870">
              <a:lnSpc>
                <a:spcPct val="100000"/>
              </a:lnSpc>
              <a:spcBef>
                <a:spcPts val="320"/>
              </a:spcBef>
              <a:tabLst>
                <a:tab pos="469265" algn="l"/>
              </a:tabLst>
            </a:pPr>
            <a:r>
              <a:rPr lang="en-US" sz="1400" spc="-10" dirty="0" smtClean="0">
                <a:latin typeface="Arial MT"/>
                <a:cs typeface="Arial MT"/>
              </a:rPr>
              <a:t>prediction</a:t>
            </a:r>
            <a:endParaRPr lang="en-US" sz="1400" dirty="0">
              <a:latin typeface="Arial MT"/>
              <a:cs typeface="Arial M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37801" y="3078583"/>
            <a:ext cx="7585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2870">
              <a:lnSpc>
                <a:spcPct val="100000"/>
              </a:lnSpc>
              <a:spcBef>
                <a:spcPts val="320"/>
              </a:spcBef>
              <a:tabLst>
                <a:tab pos="469265" algn="l"/>
              </a:tabLst>
            </a:pPr>
            <a:r>
              <a:rPr lang="en-US" sz="1400" spc="-10" dirty="0" smtClean="0">
                <a:latin typeface="Arial MT"/>
                <a:cs typeface="Arial MT"/>
              </a:rPr>
              <a:t>actual</a:t>
            </a:r>
            <a:endParaRPr lang="en-US" sz="1400" dirty="0">
              <a:latin typeface="Arial MT"/>
              <a:cs typeface="Arial MT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7738278" y="2724150"/>
            <a:ext cx="1223975" cy="14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6779281" y="3161244"/>
            <a:ext cx="2519" cy="216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2934335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Example:</a:t>
            </a:r>
            <a:r>
              <a:rPr sz="2500" spc="-35" dirty="0"/>
              <a:t> </a:t>
            </a:r>
            <a:r>
              <a:rPr sz="2500" spc="-10" dirty="0"/>
              <a:t>Precision</a:t>
            </a:r>
            <a:endParaRPr sz="25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250" y="1192675"/>
            <a:ext cx="8839200" cy="298460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87195">
              <a:lnSpc>
                <a:spcPct val="100000"/>
              </a:lnSpc>
              <a:spcBef>
                <a:spcPts val="140"/>
              </a:spcBef>
            </a:pPr>
            <a:r>
              <a:rPr sz="3050" spc="-35" dirty="0"/>
              <a:t>Test</a:t>
            </a:r>
            <a:r>
              <a:rPr sz="3050" spc="5" dirty="0"/>
              <a:t> </a:t>
            </a:r>
            <a:r>
              <a:rPr sz="3050" dirty="0"/>
              <a:t>sets</a:t>
            </a:r>
            <a:r>
              <a:rPr sz="3050" spc="5" dirty="0"/>
              <a:t> </a:t>
            </a:r>
            <a:r>
              <a:rPr sz="3050" dirty="0"/>
              <a:t>and</a:t>
            </a:r>
            <a:r>
              <a:rPr sz="3050" spc="5" dirty="0"/>
              <a:t> </a:t>
            </a:r>
            <a:r>
              <a:rPr sz="3050" dirty="0"/>
              <a:t>Cross-</a:t>
            </a:r>
            <a:r>
              <a:rPr sz="3050" spc="-10" dirty="0"/>
              <a:t>validation</a:t>
            </a:r>
            <a:endParaRPr sz="30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686370"/>
            <a:ext cx="8763635" cy="31800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Language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Modeling</a:t>
            </a:r>
            <a:endParaRPr sz="2000" dirty="0">
              <a:latin typeface="Arial MT"/>
              <a:cs typeface="Arial MT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Char char="●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training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train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model</a:t>
            </a:r>
            <a:endParaRPr sz="2000" dirty="0">
              <a:latin typeface="Arial MT"/>
              <a:cs typeface="Arial MT"/>
            </a:endParaRPr>
          </a:p>
          <a:p>
            <a:pPr marL="469900" marR="5080" indent="-38227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development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(also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devset)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perhaps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tune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some </a:t>
            </a:r>
            <a:r>
              <a:rPr sz="2000" spc="-10" dirty="0">
                <a:latin typeface="Arial MT"/>
                <a:cs typeface="Arial MT"/>
              </a:rPr>
              <a:t>parameters</a:t>
            </a:r>
            <a:endParaRPr sz="2000" dirty="0">
              <a:latin typeface="Arial MT"/>
              <a:cs typeface="Arial MT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Char char="●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Run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 smtClean="0">
                <a:latin typeface="Arial MT"/>
                <a:cs typeface="Arial MT"/>
              </a:rPr>
              <a:t>the</a:t>
            </a:r>
            <a:r>
              <a:rPr sz="2000" spc="-25" dirty="0" smtClean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test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report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performance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000" dirty="0">
              <a:latin typeface="Arial MT"/>
              <a:cs typeface="Arial MT"/>
            </a:endParaRPr>
          </a:p>
          <a:p>
            <a:pPr marL="12700" marR="534035">
              <a:lnSpc>
                <a:spcPct val="114999"/>
              </a:lnSpc>
            </a:pP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paradox: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want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possible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training,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for </a:t>
            </a:r>
            <a:r>
              <a:rPr sz="2000" dirty="0">
                <a:latin typeface="Arial MT"/>
                <a:cs typeface="Arial MT"/>
              </a:rPr>
              <a:t>dev;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split?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0">
              <a:lnSpc>
                <a:spcPct val="100000"/>
              </a:lnSpc>
              <a:spcBef>
                <a:spcPts val="100"/>
              </a:spcBef>
            </a:pPr>
            <a:r>
              <a:rPr sz="3150" spc="-30" dirty="0"/>
              <a:t>Cross-</a:t>
            </a:r>
            <a:r>
              <a:rPr sz="3150" spc="-10" dirty="0"/>
              <a:t>Validation</a:t>
            </a:r>
            <a:endParaRPr sz="3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691958"/>
            <a:ext cx="8761730" cy="4126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04545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 MT"/>
                <a:cs typeface="Arial MT"/>
              </a:rPr>
              <a:t>cross-</a:t>
            </a:r>
            <a:r>
              <a:rPr sz="1800" dirty="0">
                <a:solidFill>
                  <a:srgbClr val="0000FF"/>
                </a:solidFill>
                <a:latin typeface="Arial MT"/>
                <a:cs typeface="Arial MT"/>
              </a:rPr>
              <a:t>validation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choose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number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partition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disjoint </a:t>
            </a:r>
            <a:r>
              <a:rPr sz="1800" dirty="0">
                <a:latin typeface="Arial MT"/>
                <a:cs typeface="Arial MT"/>
              </a:rPr>
              <a:t>subsets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called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 MT"/>
                <a:cs typeface="Arial MT"/>
              </a:rPr>
              <a:t>folds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800" dirty="0">
              <a:latin typeface="Arial MT"/>
              <a:cs typeface="Arial MT"/>
            </a:endParaRPr>
          </a:p>
          <a:p>
            <a:pPr marL="469900" marR="36830" indent="-367030">
              <a:lnSpc>
                <a:spcPct val="114999"/>
              </a:lnSpc>
              <a:spcBef>
                <a:spcPts val="5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Choose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those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folds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classifier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remaining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90" dirty="0">
                <a:latin typeface="Arial MT"/>
                <a:cs typeface="Arial MT"/>
              </a:rPr>
              <a:t>k−1 </a:t>
            </a:r>
            <a:r>
              <a:rPr sz="1800" spc="-10" dirty="0">
                <a:latin typeface="Arial MT"/>
                <a:cs typeface="Arial MT"/>
              </a:rPr>
              <a:t>folds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Compute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error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set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Repeat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another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fold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again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training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other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65" dirty="0">
                <a:latin typeface="Arial MT"/>
                <a:cs typeface="Arial MT"/>
              </a:rPr>
              <a:t>k−1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folds</a:t>
            </a:r>
            <a:endParaRPr sz="1800" dirty="0">
              <a:latin typeface="Arial MT"/>
              <a:cs typeface="Arial MT"/>
            </a:endParaRPr>
          </a:p>
          <a:p>
            <a:pPr marL="469900" marR="542925" indent="-36703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We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sampling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average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error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rate</a:t>
            </a:r>
            <a:r>
              <a:rPr sz="1800" spc="-20" dirty="0">
                <a:latin typeface="Arial MT"/>
                <a:cs typeface="Arial MT"/>
              </a:rPr>
              <a:t> from </a:t>
            </a:r>
            <a:r>
              <a:rPr sz="1800" dirty="0">
                <a:latin typeface="Arial MT"/>
                <a:cs typeface="Arial MT"/>
              </a:rPr>
              <a:t>these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average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error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rate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800" dirty="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</a:pPr>
            <a:r>
              <a:rPr sz="1800" dirty="0">
                <a:latin typeface="Arial MT"/>
                <a:cs typeface="Arial MT"/>
              </a:rPr>
              <a:t>Cannot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examine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suggest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possible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features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because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peeking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at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test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cheating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would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cause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overestimate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performance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our </a:t>
            </a:r>
            <a:r>
              <a:rPr sz="1800" spc="-10" dirty="0">
                <a:latin typeface="Arial MT"/>
                <a:cs typeface="Arial MT"/>
              </a:rPr>
              <a:t>system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0">
              <a:lnSpc>
                <a:spcPct val="100000"/>
              </a:lnSpc>
              <a:spcBef>
                <a:spcPts val="100"/>
              </a:spcBef>
            </a:pPr>
            <a:r>
              <a:rPr sz="3150" spc="-30" dirty="0"/>
              <a:t>Cross-</a:t>
            </a:r>
            <a:r>
              <a:rPr sz="3150" spc="-10" dirty="0"/>
              <a:t>Validation</a:t>
            </a:r>
            <a:endParaRPr sz="3150"/>
          </a:p>
        </p:txBody>
      </p:sp>
      <p:sp>
        <p:nvSpPr>
          <p:cNvPr id="3" name="object 3"/>
          <p:cNvSpPr txBox="1"/>
          <p:nvPr/>
        </p:nvSpPr>
        <p:spPr>
          <a:xfrm>
            <a:off x="160949" y="691958"/>
            <a:ext cx="7833995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Create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fixed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training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10-</a:t>
            </a:r>
            <a:r>
              <a:rPr sz="1800" dirty="0">
                <a:latin typeface="Arial MT"/>
                <a:cs typeface="Arial MT"/>
              </a:rPr>
              <a:t>fold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cross-</a:t>
            </a:r>
            <a:r>
              <a:rPr sz="1800" dirty="0">
                <a:latin typeface="Arial MT"/>
                <a:cs typeface="Arial MT"/>
              </a:rPr>
              <a:t>validation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inside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training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error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normal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set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599" y="1782700"/>
            <a:ext cx="5009350" cy="31530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9175" y="2362474"/>
            <a:ext cx="1329799" cy="17818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7672" y="1972144"/>
            <a:ext cx="496570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dirty="0"/>
              <a:t>Significance</a:t>
            </a:r>
            <a:r>
              <a:rPr sz="5200" spc="-165" dirty="0"/>
              <a:t> </a:t>
            </a:r>
            <a:r>
              <a:rPr sz="5200" spc="-550" dirty="0"/>
              <a:t>T</a:t>
            </a:r>
            <a:r>
              <a:rPr sz="5200" spc="25" dirty="0"/>
              <a:t>e</a:t>
            </a:r>
            <a:r>
              <a:rPr sz="5200" spc="20" dirty="0"/>
              <a:t>st</a:t>
            </a:r>
            <a:endParaRPr sz="5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7211" y="60223"/>
            <a:ext cx="314833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Why</a:t>
            </a:r>
            <a:r>
              <a:rPr sz="2500" spc="40" dirty="0"/>
              <a:t> </a:t>
            </a:r>
            <a:r>
              <a:rPr sz="2500" dirty="0"/>
              <a:t>Significance</a:t>
            </a:r>
            <a:r>
              <a:rPr sz="2500" spc="-10" dirty="0"/>
              <a:t> </a:t>
            </a:r>
            <a:r>
              <a:rPr sz="2500" spc="-35" dirty="0"/>
              <a:t>Test</a:t>
            </a:r>
            <a:endParaRPr sz="25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13180" y="662356"/>
            <a:ext cx="8495030" cy="222313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417195" indent="-404495">
              <a:lnSpc>
                <a:spcPct val="100000"/>
              </a:lnSpc>
              <a:spcBef>
                <a:spcPts val="635"/>
              </a:spcBef>
              <a:buChar char="●"/>
              <a:tabLst>
                <a:tab pos="417195" algn="l"/>
              </a:tabLst>
            </a:pPr>
            <a:r>
              <a:rPr sz="2300" dirty="0">
                <a:latin typeface="Arial MT"/>
                <a:cs typeface="Arial MT"/>
              </a:rPr>
              <a:t>Do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you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have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meaningful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improvement?</a:t>
            </a:r>
            <a:endParaRPr sz="2300">
              <a:latin typeface="Arial MT"/>
              <a:cs typeface="Arial MT"/>
            </a:endParaRPr>
          </a:p>
          <a:p>
            <a:pPr marL="874394" lvl="1" indent="-370205">
              <a:lnSpc>
                <a:spcPct val="100000"/>
              </a:lnSpc>
              <a:spcBef>
                <a:spcPts val="434"/>
              </a:spcBef>
              <a:buChar char="○"/>
              <a:tabLst>
                <a:tab pos="874394" algn="l"/>
              </a:tabLst>
            </a:pPr>
            <a:r>
              <a:rPr sz="1850" dirty="0">
                <a:latin typeface="Arial MT"/>
                <a:cs typeface="Arial MT"/>
              </a:rPr>
              <a:t>0.05</a:t>
            </a:r>
            <a:r>
              <a:rPr sz="1850" spc="-3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(absolute)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in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precision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might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be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noticed</a:t>
            </a:r>
            <a:endParaRPr sz="1850">
              <a:latin typeface="Arial MT"/>
              <a:cs typeface="Arial MT"/>
            </a:endParaRPr>
          </a:p>
          <a:p>
            <a:pPr marL="874394" lvl="1" indent="-370205">
              <a:lnSpc>
                <a:spcPct val="100000"/>
              </a:lnSpc>
              <a:spcBef>
                <a:spcPts val="330"/>
              </a:spcBef>
              <a:buChar char="○"/>
              <a:tabLst>
                <a:tab pos="874394" algn="l"/>
              </a:tabLst>
            </a:pPr>
            <a:r>
              <a:rPr sz="1850" dirty="0">
                <a:latin typeface="Arial MT"/>
                <a:cs typeface="Arial MT"/>
              </a:rPr>
              <a:t>0.10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(absolute)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in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precision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makes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difference</a:t>
            </a:r>
            <a:endParaRPr sz="1850">
              <a:latin typeface="Arial MT"/>
              <a:cs typeface="Arial MT"/>
            </a:endParaRPr>
          </a:p>
          <a:p>
            <a:pPr marL="417195" indent="-370205">
              <a:lnSpc>
                <a:spcPct val="100000"/>
              </a:lnSpc>
              <a:spcBef>
                <a:spcPts val="315"/>
              </a:spcBef>
              <a:buSzPct val="80434"/>
              <a:buChar char="●"/>
              <a:tabLst>
                <a:tab pos="417195" algn="l"/>
              </a:tabLst>
            </a:pPr>
            <a:r>
              <a:rPr sz="2300" dirty="0">
                <a:latin typeface="Arial MT"/>
                <a:cs typeface="Arial MT"/>
              </a:rPr>
              <a:t>If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system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B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does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better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than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system</a:t>
            </a:r>
            <a:r>
              <a:rPr sz="2300" spc="-13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</a:t>
            </a:r>
            <a:r>
              <a:rPr sz="2300" spc="-14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90%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of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200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instances</a:t>
            </a:r>
            <a:endParaRPr sz="2300">
              <a:latin typeface="Arial MT"/>
              <a:cs typeface="Arial MT"/>
            </a:endParaRPr>
          </a:p>
          <a:p>
            <a:pPr marL="874394" lvl="1" indent="-370205">
              <a:lnSpc>
                <a:spcPct val="100000"/>
              </a:lnSpc>
              <a:spcBef>
                <a:spcPts val="434"/>
              </a:spcBef>
              <a:buChar char="○"/>
              <a:tabLst>
                <a:tab pos="874394" algn="l"/>
              </a:tabLst>
            </a:pPr>
            <a:r>
              <a:rPr sz="1850" dirty="0">
                <a:latin typeface="Arial MT"/>
                <a:cs typeface="Arial MT"/>
              </a:rPr>
              <a:t>How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confident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are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we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that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B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is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better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than</a:t>
            </a:r>
            <a:r>
              <a:rPr sz="1850" spc="-120" dirty="0">
                <a:latin typeface="Arial MT"/>
                <a:cs typeface="Arial MT"/>
              </a:rPr>
              <a:t> </a:t>
            </a:r>
            <a:r>
              <a:rPr sz="1850" spc="-25" dirty="0">
                <a:latin typeface="Arial MT"/>
                <a:cs typeface="Arial MT"/>
              </a:rPr>
              <a:t>A?</a:t>
            </a:r>
            <a:endParaRPr sz="1850">
              <a:latin typeface="Arial MT"/>
              <a:cs typeface="Arial MT"/>
            </a:endParaRPr>
          </a:p>
          <a:p>
            <a:pPr marL="417195" indent="-404495">
              <a:lnSpc>
                <a:spcPct val="100000"/>
              </a:lnSpc>
              <a:spcBef>
                <a:spcPts val="315"/>
              </a:spcBef>
              <a:buChar char="●"/>
              <a:tabLst>
                <a:tab pos="417195" algn="l"/>
              </a:tabLst>
            </a:pPr>
            <a:r>
              <a:rPr sz="2300" dirty="0">
                <a:latin typeface="Arial MT"/>
                <a:cs typeface="Arial MT"/>
              </a:rPr>
              <a:t>Using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significance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tests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4899" y="2872548"/>
            <a:ext cx="5589905" cy="13227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2905" indent="-370205">
              <a:lnSpc>
                <a:spcPct val="100000"/>
              </a:lnSpc>
              <a:spcBef>
                <a:spcPts val="430"/>
              </a:spcBef>
              <a:buChar char="○"/>
              <a:tabLst>
                <a:tab pos="382905" algn="l"/>
              </a:tabLst>
            </a:pPr>
            <a:r>
              <a:rPr sz="1850" dirty="0">
                <a:latin typeface="Arial MT"/>
                <a:cs typeface="Arial MT"/>
              </a:rPr>
              <a:t>System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B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as</a:t>
            </a:r>
            <a:r>
              <a:rPr sz="1850" spc="-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new</a:t>
            </a:r>
            <a:r>
              <a:rPr sz="1850" spc="-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model,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System</a:t>
            </a:r>
            <a:r>
              <a:rPr sz="1850" spc="-1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</a:t>
            </a:r>
            <a:r>
              <a:rPr sz="1850" spc="-114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is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</a:t>
            </a:r>
            <a:r>
              <a:rPr sz="1850" spc="-10" dirty="0">
                <a:latin typeface="Arial MT"/>
                <a:cs typeface="Arial MT"/>
              </a:rPr>
              <a:t> baseline</a:t>
            </a:r>
            <a:endParaRPr sz="1850">
              <a:latin typeface="Arial MT"/>
              <a:cs typeface="Arial MT"/>
            </a:endParaRPr>
          </a:p>
          <a:p>
            <a:pPr marL="382905" indent="-370205">
              <a:lnSpc>
                <a:spcPct val="100000"/>
              </a:lnSpc>
              <a:spcBef>
                <a:spcPts val="335"/>
              </a:spcBef>
              <a:buChar char="○"/>
              <a:tabLst>
                <a:tab pos="382905" algn="l"/>
              </a:tabLst>
            </a:pPr>
            <a:r>
              <a:rPr sz="1850" dirty="0">
                <a:latin typeface="Arial MT"/>
                <a:cs typeface="Arial MT"/>
              </a:rPr>
              <a:t>Is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System</a:t>
            </a:r>
            <a:r>
              <a:rPr sz="1850" spc="-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B</a:t>
            </a:r>
            <a:r>
              <a:rPr sz="1850" spc="-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better</a:t>
            </a:r>
            <a:r>
              <a:rPr sz="1850" spc="-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than</a:t>
            </a:r>
            <a:r>
              <a:rPr sz="1850" spc="-110" dirty="0">
                <a:latin typeface="Arial MT"/>
                <a:cs typeface="Arial MT"/>
              </a:rPr>
              <a:t> </a:t>
            </a:r>
            <a:r>
              <a:rPr sz="1850" spc="-25" dirty="0">
                <a:latin typeface="Arial MT"/>
                <a:cs typeface="Arial MT"/>
              </a:rPr>
              <a:t>A?</a:t>
            </a:r>
            <a:endParaRPr sz="1850">
              <a:latin typeface="Arial MT"/>
              <a:cs typeface="Arial MT"/>
            </a:endParaRPr>
          </a:p>
          <a:p>
            <a:pPr marL="382905" indent="-370205">
              <a:lnSpc>
                <a:spcPct val="100000"/>
              </a:lnSpc>
              <a:spcBef>
                <a:spcPts val="330"/>
              </a:spcBef>
              <a:buClr>
                <a:srgbClr val="000000"/>
              </a:buClr>
              <a:buChar char="○"/>
              <a:tabLst>
                <a:tab pos="382905" algn="l"/>
              </a:tabLst>
            </a:pPr>
            <a:r>
              <a:rPr sz="1850" dirty="0">
                <a:solidFill>
                  <a:srgbClr val="0000FF"/>
                </a:solidFill>
                <a:latin typeface="Arial MT"/>
                <a:cs typeface="Arial MT"/>
              </a:rPr>
              <a:t>Null</a:t>
            </a:r>
            <a:r>
              <a:rPr sz="1850" spc="-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0000FF"/>
                </a:solidFill>
                <a:latin typeface="Arial MT"/>
                <a:cs typeface="Arial MT"/>
              </a:rPr>
              <a:t>hypothesis</a:t>
            </a:r>
            <a:r>
              <a:rPr sz="1850" spc="-10" dirty="0">
                <a:latin typeface="Arial MT"/>
                <a:cs typeface="Arial MT"/>
              </a:rPr>
              <a:t>:</a:t>
            </a:r>
            <a:endParaRPr sz="1850">
              <a:latin typeface="Arial MT"/>
              <a:cs typeface="Arial MT"/>
            </a:endParaRPr>
          </a:p>
          <a:p>
            <a:pPr marL="382905" indent="-370205">
              <a:lnSpc>
                <a:spcPct val="100000"/>
              </a:lnSpc>
              <a:spcBef>
                <a:spcPts val="335"/>
              </a:spcBef>
              <a:buClr>
                <a:srgbClr val="000000"/>
              </a:buClr>
              <a:buChar char="○"/>
              <a:tabLst>
                <a:tab pos="382905" algn="l"/>
              </a:tabLst>
            </a:pPr>
            <a:r>
              <a:rPr sz="1850" dirty="0">
                <a:solidFill>
                  <a:srgbClr val="0000FF"/>
                </a:solidFill>
                <a:latin typeface="Arial MT"/>
                <a:cs typeface="Arial MT"/>
              </a:rPr>
              <a:t>Alternative</a:t>
            </a:r>
            <a:r>
              <a:rPr sz="1850" spc="-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0000FF"/>
                </a:solidFill>
                <a:latin typeface="Arial MT"/>
                <a:cs typeface="Arial MT"/>
              </a:rPr>
              <a:t>hypothesis</a:t>
            </a:r>
            <a:r>
              <a:rPr sz="1850" spc="-10" dirty="0">
                <a:latin typeface="Arial MT"/>
                <a:cs typeface="Arial MT"/>
              </a:rPr>
              <a:t>: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8550" y="3521009"/>
            <a:ext cx="4493895" cy="674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50" dirty="0">
                <a:latin typeface="Arial MT"/>
                <a:cs typeface="Arial MT"/>
              </a:rPr>
              <a:t>There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is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no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difference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in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their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effectiveness </a:t>
            </a:r>
            <a:r>
              <a:rPr sz="1850" dirty="0">
                <a:latin typeface="Arial MT"/>
                <a:cs typeface="Arial MT"/>
              </a:rPr>
              <a:t>There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is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difference</a:t>
            </a:r>
            <a:endParaRPr sz="1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1642" y="60223"/>
            <a:ext cx="241998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Significance</a:t>
            </a:r>
            <a:r>
              <a:rPr sz="2500" spc="30" dirty="0"/>
              <a:t> </a:t>
            </a:r>
            <a:r>
              <a:rPr sz="2500" spc="-45" dirty="0"/>
              <a:t>Test</a:t>
            </a:r>
            <a:endParaRPr sz="25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733556"/>
            <a:ext cx="6973570" cy="738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dirty="0">
                <a:latin typeface="Arial MT"/>
                <a:cs typeface="Arial MT"/>
              </a:rPr>
              <a:t>Significance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30" dirty="0">
                <a:latin typeface="Arial MT"/>
                <a:cs typeface="Arial MT"/>
              </a:rPr>
              <a:t>Test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enables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reject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null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hypothesis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(or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not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reject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it)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700" dirty="0">
                <a:latin typeface="Arial MT"/>
                <a:cs typeface="Arial MT"/>
              </a:rPr>
              <a:t>May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produce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two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types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errors: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2550" y="1599065"/>
            <a:ext cx="5168900" cy="625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95"/>
              </a:spcBef>
              <a:tabLst>
                <a:tab pos="3669665" algn="l"/>
              </a:tabLst>
            </a:pPr>
            <a:r>
              <a:rPr sz="1700" dirty="0">
                <a:latin typeface="Arial MT"/>
                <a:cs typeface="Arial MT"/>
              </a:rPr>
              <a:t>We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reject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null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hypothesis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by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mistake</a:t>
            </a:r>
            <a:r>
              <a:rPr sz="1700" dirty="0">
                <a:latin typeface="Arial MT"/>
                <a:cs typeface="Arial MT"/>
              </a:rPr>
              <a:t>	(false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positive) </a:t>
            </a:r>
            <a:r>
              <a:rPr sz="1700" dirty="0">
                <a:latin typeface="Arial MT"/>
                <a:cs typeface="Arial MT"/>
              </a:rPr>
              <a:t>We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accept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null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hypothesis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by</a:t>
            </a:r>
            <a:r>
              <a:rPr sz="1700" spc="-10" dirty="0">
                <a:latin typeface="Arial MT"/>
                <a:cs typeface="Arial MT"/>
              </a:rPr>
              <a:t> mistake</a:t>
            </a:r>
            <a:r>
              <a:rPr sz="1700" spc="-1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(false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negative)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306" y="1599065"/>
            <a:ext cx="8535670" cy="15252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Char char="●"/>
              <a:tabLst>
                <a:tab pos="372110" algn="l"/>
              </a:tabLst>
            </a:pPr>
            <a:r>
              <a:rPr sz="1700" dirty="0">
                <a:solidFill>
                  <a:srgbClr val="0000FF"/>
                </a:solidFill>
                <a:latin typeface="Arial MT"/>
                <a:cs typeface="Arial MT"/>
              </a:rPr>
              <a:t>Type</a:t>
            </a:r>
            <a:r>
              <a:rPr sz="1700" spc="-1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0000FF"/>
                </a:solidFill>
                <a:latin typeface="Arial MT"/>
                <a:cs typeface="Arial MT"/>
              </a:rPr>
              <a:t>I</a:t>
            </a:r>
            <a:r>
              <a:rPr sz="1700" spc="-25" dirty="0">
                <a:latin typeface="Arial MT"/>
                <a:cs typeface="Arial MT"/>
              </a:rPr>
              <a:t>:</a:t>
            </a:r>
            <a:endParaRPr sz="1700">
              <a:latin typeface="Arial MT"/>
              <a:cs typeface="Arial MT"/>
            </a:endParaRPr>
          </a:p>
          <a:p>
            <a:pPr marL="372110" indent="-35941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Char char="●"/>
              <a:tabLst>
                <a:tab pos="372110" algn="l"/>
              </a:tabLst>
            </a:pPr>
            <a:r>
              <a:rPr sz="1700" dirty="0">
                <a:solidFill>
                  <a:srgbClr val="0000FF"/>
                </a:solidFill>
                <a:latin typeface="Arial MT"/>
                <a:cs typeface="Arial MT"/>
              </a:rPr>
              <a:t>Type</a:t>
            </a:r>
            <a:r>
              <a:rPr sz="1700" spc="-1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0000FF"/>
                </a:solidFill>
                <a:latin typeface="Arial MT"/>
                <a:cs typeface="Arial MT"/>
              </a:rPr>
              <a:t>II</a:t>
            </a:r>
            <a:r>
              <a:rPr sz="1700" spc="-25" dirty="0">
                <a:latin typeface="Arial MT"/>
                <a:cs typeface="Arial MT"/>
              </a:rPr>
              <a:t>:</a:t>
            </a:r>
            <a:endParaRPr sz="1700">
              <a:latin typeface="Arial MT"/>
              <a:cs typeface="Arial MT"/>
            </a:endParaRPr>
          </a:p>
          <a:p>
            <a:pPr marL="372110" indent="-359410">
              <a:lnSpc>
                <a:spcPct val="100000"/>
              </a:lnSpc>
              <a:spcBef>
                <a:spcPts val="320"/>
              </a:spcBef>
              <a:buChar char="●"/>
              <a:tabLst>
                <a:tab pos="372110" algn="l"/>
              </a:tabLst>
            </a:pPr>
            <a:r>
              <a:rPr sz="1700" dirty="0">
                <a:latin typeface="Arial MT"/>
                <a:cs typeface="Arial MT"/>
              </a:rPr>
              <a:t>Increasing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number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instances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will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reduce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chance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Type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II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errors</a:t>
            </a:r>
            <a:endParaRPr sz="1700">
              <a:latin typeface="Arial MT"/>
              <a:cs typeface="Arial MT"/>
            </a:endParaRPr>
          </a:p>
          <a:p>
            <a:pPr marL="372110" marR="5080" indent="-360045">
              <a:lnSpc>
                <a:spcPct val="115799"/>
              </a:lnSpc>
              <a:buChar char="●"/>
              <a:tabLst>
                <a:tab pos="372110" algn="l"/>
              </a:tabLst>
            </a:pPr>
            <a:r>
              <a:rPr sz="17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Significance</a:t>
            </a:r>
            <a:r>
              <a:rPr sz="1700" u="heavy" spc="-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7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level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shows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probability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rejecting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null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hypothesis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when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it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true </a:t>
            </a:r>
            <a:r>
              <a:rPr sz="1700" dirty="0">
                <a:latin typeface="Arial MT"/>
                <a:cs typeface="Arial MT"/>
              </a:rPr>
              <a:t>(e.g.,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significance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level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0.05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indicates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5%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risk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Type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error)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949" y="3290152"/>
            <a:ext cx="7505700" cy="165671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spc="-10" dirty="0">
                <a:solidFill>
                  <a:srgbClr val="0000FF"/>
                </a:solidFill>
                <a:latin typeface="Arial MT"/>
                <a:cs typeface="Arial MT"/>
              </a:rPr>
              <a:t>One-</a:t>
            </a:r>
            <a:r>
              <a:rPr sz="1700" dirty="0">
                <a:solidFill>
                  <a:srgbClr val="0000FF"/>
                </a:solidFill>
                <a:latin typeface="Arial MT"/>
                <a:cs typeface="Arial MT"/>
              </a:rPr>
              <a:t>tailed</a:t>
            </a:r>
            <a:r>
              <a:rPr sz="1700" spc="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000FF"/>
                </a:solidFill>
                <a:latin typeface="Arial MT"/>
                <a:cs typeface="Arial MT"/>
              </a:rPr>
              <a:t>or</a:t>
            </a:r>
            <a:r>
              <a:rPr sz="1700" spc="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000FF"/>
                </a:solidFill>
                <a:latin typeface="Arial MT"/>
                <a:cs typeface="Arial MT"/>
              </a:rPr>
              <a:t>two-tailed</a:t>
            </a:r>
            <a:r>
              <a:rPr sz="1700" spc="-10" dirty="0">
                <a:latin typeface="Arial MT"/>
                <a:cs typeface="Arial MT"/>
              </a:rPr>
              <a:t>:</a:t>
            </a:r>
            <a:endParaRPr sz="1700">
              <a:latin typeface="Arial MT"/>
              <a:cs typeface="Arial MT"/>
            </a:endParaRPr>
          </a:p>
          <a:p>
            <a:pPr marL="469265" indent="-359410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sz="1700" spc="-35" dirty="0">
                <a:latin typeface="Arial MT"/>
                <a:cs typeface="Arial MT"/>
              </a:rPr>
              <a:t>Two-</a:t>
            </a:r>
            <a:r>
              <a:rPr sz="1700" dirty="0">
                <a:latin typeface="Arial MT"/>
                <a:cs typeface="Arial MT"/>
              </a:rPr>
              <a:t>tailed: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Whether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two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systems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different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from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one</a:t>
            </a:r>
            <a:r>
              <a:rPr sz="1700" spc="-10" dirty="0">
                <a:latin typeface="Arial MT"/>
                <a:cs typeface="Arial MT"/>
              </a:rPr>
              <a:t> another</a:t>
            </a:r>
            <a:endParaRPr sz="1700">
              <a:latin typeface="Arial MT"/>
              <a:cs typeface="Arial MT"/>
            </a:endParaRPr>
          </a:p>
          <a:p>
            <a:pPr marL="469265" indent="-359410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700" spc="-10" dirty="0">
                <a:latin typeface="Arial MT"/>
                <a:cs typeface="Arial MT"/>
              </a:rPr>
              <a:t>One-</a:t>
            </a:r>
            <a:r>
              <a:rPr sz="1700" dirty="0">
                <a:latin typeface="Arial MT"/>
                <a:cs typeface="Arial MT"/>
              </a:rPr>
              <a:t>tailed: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One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system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better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than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other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700">
              <a:latin typeface="Arial MT"/>
              <a:cs typeface="Arial MT"/>
            </a:endParaRPr>
          </a:p>
          <a:p>
            <a:pPr marL="1195070">
              <a:lnSpc>
                <a:spcPct val="100000"/>
              </a:lnSpc>
              <a:tabLst>
                <a:tab pos="3023870" algn="l"/>
              </a:tabLst>
            </a:pPr>
            <a:r>
              <a:rPr sz="1850" dirty="0">
                <a:solidFill>
                  <a:srgbClr val="0000FF"/>
                </a:solidFill>
                <a:latin typeface="Arial MT"/>
                <a:cs typeface="Arial MT"/>
              </a:rPr>
              <a:t>Null</a:t>
            </a:r>
            <a:r>
              <a:rPr sz="1850" spc="-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0000FF"/>
                </a:solidFill>
                <a:latin typeface="Arial MT"/>
                <a:cs typeface="Arial MT"/>
              </a:rPr>
              <a:t>hypothesis</a:t>
            </a:r>
            <a:r>
              <a:rPr sz="1850" spc="-10" dirty="0">
                <a:latin typeface="Arial MT"/>
                <a:cs typeface="Arial MT"/>
              </a:rPr>
              <a:t>:</a:t>
            </a:r>
            <a:r>
              <a:rPr sz="1850" dirty="0">
                <a:latin typeface="Arial MT"/>
                <a:cs typeface="Arial MT"/>
              </a:rPr>
              <a:t>	There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is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no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difference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in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their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effectiveness</a:t>
            </a:r>
            <a:endParaRPr sz="1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2655570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Paired</a:t>
            </a:r>
            <a:r>
              <a:rPr sz="2500" spc="-60" dirty="0"/>
              <a:t> </a:t>
            </a:r>
            <a:r>
              <a:rPr sz="2500" dirty="0"/>
              <a:t>Student’s</a:t>
            </a:r>
            <a:r>
              <a:rPr sz="2500" spc="-95" dirty="0"/>
              <a:t> </a:t>
            </a:r>
            <a:r>
              <a:rPr sz="2500" spc="-75" dirty="0"/>
              <a:t>T-</a:t>
            </a:r>
            <a:r>
              <a:rPr sz="2500" spc="-20" dirty="0"/>
              <a:t>Test</a:t>
            </a:r>
            <a:endParaRPr sz="2500"/>
          </a:p>
        </p:txBody>
      </p:sp>
      <p:grpSp>
        <p:nvGrpSpPr>
          <p:cNvPr id="3" name="object 3"/>
          <p:cNvGrpSpPr/>
          <p:nvPr/>
        </p:nvGrpSpPr>
        <p:grpSpPr>
          <a:xfrm>
            <a:off x="3892799" y="2368537"/>
            <a:ext cx="1511300" cy="837565"/>
            <a:chOff x="3892799" y="2368537"/>
            <a:chExt cx="1511300" cy="8375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2799" y="2460035"/>
              <a:ext cx="1510800" cy="56260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235849" y="2373299"/>
              <a:ext cx="752475" cy="828040"/>
            </a:xfrm>
            <a:custGeom>
              <a:avLst/>
              <a:gdLst/>
              <a:ahLst/>
              <a:cxnLst/>
              <a:rect l="l" t="t" r="r" b="b"/>
              <a:pathLst>
                <a:path w="752475" h="828039">
                  <a:moveTo>
                    <a:pt x="0" y="630849"/>
                  </a:moveTo>
                  <a:lnTo>
                    <a:pt x="4923" y="598928"/>
                  </a:lnTo>
                  <a:lnTo>
                    <a:pt x="19178" y="568645"/>
                  </a:lnTo>
                  <a:lnTo>
                    <a:pt x="72584" y="514622"/>
                  </a:lnTo>
                  <a:lnTo>
                    <a:pt x="110186" y="491691"/>
                  </a:lnTo>
                  <a:lnTo>
                    <a:pt x="154021" y="472020"/>
                  </a:lnTo>
                  <a:lnTo>
                    <a:pt x="203314" y="456016"/>
                  </a:lnTo>
                  <a:lnTo>
                    <a:pt x="257291" y="444082"/>
                  </a:lnTo>
                  <a:lnTo>
                    <a:pt x="315178" y="436625"/>
                  </a:lnTo>
                  <a:lnTo>
                    <a:pt x="376199" y="434049"/>
                  </a:lnTo>
                  <a:lnTo>
                    <a:pt x="437221" y="436625"/>
                  </a:lnTo>
                  <a:lnTo>
                    <a:pt x="495108" y="444082"/>
                  </a:lnTo>
                  <a:lnTo>
                    <a:pt x="549085" y="456016"/>
                  </a:lnTo>
                  <a:lnTo>
                    <a:pt x="598378" y="472020"/>
                  </a:lnTo>
                  <a:lnTo>
                    <a:pt x="642213" y="491691"/>
                  </a:lnTo>
                  <a:lnTo>
                    <a:pt x="679815" y="514622"/>
                  </a:lnTo>
                  <a:lnTo>
                    <a:pt x="710409" y="540409"/>
                  </a:lnTo>
                  <a:lnTo>
                    <a:pt x="747476" y="598928"/>
                  </a:lnTo>
                  <a:lnTo>
                    <a:pt x="752399" y="630849"/>
                  </a:lnTo>
                  <a:lnTo>
                    <a:pt x="733221" y="693054"/>
                  </a:lnTo>
                  <a:lnTo>
                    <a:pt x="679815" y="747077"/>
                  </a:lnTo>
                  <a:lnTo>
                    <a:pt x="642213" y="770008"/>
                  </a:lnTo>
                  <a:lnTo>
                    <a:pt x="598378" y="789679"/>
                  </a:lnTo>
                  <a:lnTo>
                    <a:pt x="549085" y="805683"/>
                  </a:lnTo>
                  <a:lnTo>
                    <a:pt x="495108" y="817617"/>
                  </a:lnTo>
                  <a:lnTo>
                    <a:pt x="437221" y="825074"/>
                  </a:lnTo>
                  <a:lnTo>
                    <a:pt x="376199" y="827649"/>
                  </a:lnTo>
                  <a:lnTo>
                    <a:pt x="315178" y="825074"/>
                  </a:lnTo>
                  <a:lnTo>
                    <a:pt x="257291" y="817617"/>
                  </a:lnTo>
                  <a:lnTo>
                    <a:pt x="203314" y="805683"/>
                  </a:lnTo>
                  <a:lnTo>
                    <a:pt x="154021" y="789679"/>
                  </a:lnTo>
                  <a:lnTo>
                    <a:pt x="110186" y="770008"/>
                  </a:lnTo>
                  <a:lnTo>
                    <a:pt x="72584" y="747077"/>
                  </a:lnTo>
                  <a:lnTo>
                    <a:pt x="41990" y="721290"/>
                  </a:lnTo>
                  <a:lnTo>
                    <a:pt x="4923" y="662771"/>
                  </a:lnTo>
                  <a:lnTo>
                    <a:pt x="0" y="630849"/>
                  </a:lnTo>
                  <a:close/>
                </a:path>
                <a:path w="752475" h="828039">
                  <a:moveTo>
                    <a:pt x="0" y="196799"/>
                  </a:moveTo>
                  <a:lnTo>
                    <a:pt x="4923" y="164878"/>
                  </a:lnTo>
                  <a:lnTo>
                    <a:pt x="19178" y="134595"/>
                  </a:lnTo>
                  <a:lnTo>
                    <a:pt x="72584" y="80572"/>
                  </a:lnTo>
                  <a:lnTo>
                    <a:pt x="110186" y="57641"/>
                  </a:lnTo>
                  <a:lnTo>
                    <a:pt x="154021" y="37970"/>
                  </a:lnTo>
                  <a:lnTo>
                    <a:pt x="203314" y="21966"/>
                  </a:lnTo>
                  <a:lnTo>
                    <a:pt x="257291" y="10032"/>
                  </a:lnTo>
                  <a:lnTo>
                    <a:pt x="315178" y="2575"/>
                  </a:lnTo>
                  <a:lnTo>
                    <a:pt x="376199" y="0"/>
                  </a:lnTo>
                  <a:lnTo>
                    <a:pt x="437221" y="2575"/>
                  </a:lnTo>
                  <a:lnTo>
                    <a:pt x="495108" y="10032"/>
                  </a:lnTo>
                  <a:lnTo>
                    <a:pt x="549085" y="21966"/>
                  </a:lnTo>
                  <a:lnTo>
                    <a:pt x="598378" y="37970"/>
                  </a:lnTo>
                  <a:lnTo>
                    <a:pt x="642213" y="57641"/>
                  </a:lnTo>
                  <a:lnTo>
                    <a:pt x="679815" y="80572"/>
                  </a:lnTo>
                  <a:lnTo>
                    <a:pt x="710409" y="106359"/>
                  </a:lnTo>
                  <a:lnTo>
                    <a:pt x="747476" y="164878"/>
                  </a:lnTo>
                  <a:lnTo>
                    <a:pt x="752399" y="196799"/>
                  </a:lnTo>
                  <a:lnTo>
                    <a:pt x="733221" y="259004"/>
                  </a:lnTo>
                  <a:lnTo>
                    <a:pt x="679815" y="313027"/>
                  </a:lnTo>
                  <a:lnTo>
                    <a:pt x="642213" y="335958"/>
                  </a:lnTo>
                  <a:lnTo>
                    <a:pt x="598378" y="355629"/>
                  </a:lnTo>
                  <a:lnTo>
                    <a:pt x="549085" y="371633"/>
                  </a:lnTo>
                  <a:lnTo>
                    <a:pt x="495108" y="383567"/>
                  </a:lnTo>
                  <a:lnTo>
                    <a:pt x="437221" y="391024"/>
                  </a:lnTo>
                  <a:lnTo>
                    <a:pt x="376199" y="393599"/>
                  </a:lnTo>
                  <a:lnTo>
                    <a:pt x="315178" y="391024"/>
                  </a:lnTo>
                  <a:lnTo>
                    <a:pt x="257291" y="383567"/>
                  </a:lnTo>
                  <a:lnTo>
                    <a:pt x="203314" y="371633"/>
                  </a:lnTo>
                  <a:lnTo>
                    <a:pt x="154021" y="355629"/>
                  </a:lnTo>
                  <a:lnTo>
                    <a:pt x="110186" y="335958"/>
                  </a:lnTo>
                  <a:lnTo>
                    <a:pt x="72584" y="313027"/>
                  </a:lnTo>
                  <a:lnTo>
                    <a:pt x="41990" y="287240"/>
                  </a:lnTo>
                  <a:lnTo>
                    <a:pt x="4923" y="228721"/>
                  </a:lnTo>
                  <a:lnTo>
                    <a:pt x="0" y="196799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6425" y="730885"/>
            <a:ext cx="8595360" cy="321246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57150" marR="84455">
              <a:lnSpc>
                <a:spcPts val="2110"/>
              </a:lnSpc>
              <a:spcBef>
                <a:spcPts val="260"/>
              </a:spcBef>
            </a:pPr>
            <a:r>
              <a:rPr sz="1850" dirty="0">
                <a:latin typeface="Arial MT"/>
                <a:cs typeface="Arial MT"/>
              </a:rPr>
              <a:t>Statistical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test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that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compares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</a:t>
            </a:r>
            <a:r>
              <a:rPr sz="1850" spc="-5" dirty="0">
                <a:latin typeface="Arial MT"/>
                <a:cs typeface="Arial MT"/>
              </a:rPr>
              <a:t> </a:t>
            </a:r>
            <a:r>
              <a:rPr sz="185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averages/means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and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standard</a:t>
            </a:r>
            <a:r>
              <a:rPr sz="1850" u="heavy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5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deviations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of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spc="-25" dirty="0">
                <a:latin typeface="Arial MT"/>
                <a:cs typeface="Arial MT"/>
              </a:rPr>
              <a:t>two </a:t>
            </a:r>
            <a:r>
              <a:rPr sz="1850" spc="-10" dirty="0">
                <a:latin typeface="Arial MT"/>
                <a:cs typeface="Arial MT"/>
              </a:rPr>
              <a:t>systems</a:t>
            </a:r>
            <a:endParaRPr sz="1850">
              <a:latin typeface="Arial MT"/>
              <a:cs typeface="Arial MT"/>
            </a:endParaRPr>
          </a:p>
          <a:p>
            <a:pPr marL="57150">
              <a:lnSpc>
                <a:spcPct val="100000"/>
              </a:lnSpc>
              <a:spcBef>
                <a:spcPts val="1035"/>
              </a:spcBef>
            </a:pPr>
            <a:r>
              <a:rPr sz="1850" dirty="0">
                <a:latin typeface="Arial MT"/>
                <a:cs typeface="Arial MT"/>
              </a:rPr>
              <a:t>Each</a:t>
            </a:r>
            <a:r>
              <a:rPr sz="1850" spc="-3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Significance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test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has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</a:t>
            </a:r>
            <a:r>
              <a:rPr sz="1850" spc="-10" dirty="0"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0000FF"/>
                </a:solidFill>
                <a:latin typeface="Arial MT"/>
                <a:cs typeface="Arial MT"/>
              </a:rPr>
              <a:t>test</a:t>
            </a:r>
            <a:r>
              <a:rPr sz="1850" spc="-2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0000FF"/>
                </a:solidFill>
                <a:latin typeface="Arial MT"/>
                <a:cs typeface="Arial MT"/>
              </a:rPr>
              <a:t>statistic</a:t>
            </a:r>
            <a:r>
              <a:rPr sz="1850" spc="-10" dirty="0">
                <a:latin typeface="Arial MT"/>
                <a:cs typeface="Arial MT"/>
              </a:rPr>
              <a:t>;</a:t>
            </a:r>
            <a:endParaRPr sz="1850">
              <a:latin typeface="Arial MT"/>
              <a:cs typeface="Arial MT"/>
            </a:endParaRPr>
          </a:p>
          <a:p>
            <a:pPr marL="514350" indent="-370840">
              <a:lnSpc>
                <a:spcPts val="2165"/>
              </a:lnSpc>
              <a:spcBef>
                <a:spcPts val="1090"/>
              </a:spcBef>
              <a:buChar char="●"/>
              <a:tabLst>
                <a:tab pos="514350" algn="l"/>
              </a:tabLst>
            </a:pPr>
            <a:r>
              <a:rPr sz="1850" dirty="0">
                <a:latin typeface="Arial MT"/>
                <a:cs typeface="Arial MT"/>
              </a:rPr>
              <a:t>A</a:t>
            </a:r>
            <a:r>
              <a:rPr sz="1850" spc="-1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quantity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calculated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to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decide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whether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null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hypothesis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should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be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rejected</a:t>
            </a:r>
            <a:endParaRPr sz="1850">
              <a:latin typeface="Arial MT"/>
              <a:cs typeface="Arial MT"/>
            </a:endParaRPr>
          </a:p>
          <a:p>
            <a:pPr marL="514350" indent="-370840">
              <a:lnSpc>
                <a:spcPts val="2165"/>
              </a:lnSpc>
              <a:buChar char="●"/>
              <a:tabLst>
                <a:tab pos="514350" algn="l"/>
              </a:tabLst>
            </a:pPr>
            <a:r>
              <a:rPr sz="1850" dirty="0">
                <a:latin typeface="Arial MT"/>
                <a:cs typeface="Arial MT"/>
              </a:rPr>
              <a:t>In</a:t>
            </a:r>
            <a:r>
              <a:rPr sz="1850" spc="-45" dirty="0">
                <a:latin typeface="Arial MT"/>
                <a:cs typeface="Arial MT"/>
              </a:rPr>
              <a:t> </a:t>
            </a:r>
            <a:r>
              <a:rPr sz="1850" spc="-55" dirty="0">
                <a:latin typeface="Arial MT"/>
                <a:cs typeface="Arial MT"/>
              </a:rPr>
              <a:t>T-</a:t>
            </a:r>
            <a:r>
              <a:rPr sz="1850" spc="-20" dirty="0">
                <a:latin typeface="Arial MT"/>
                <a:cs typeface="Arial MT"/>
              </a:rPr>
              <a:t>test</a:t>
            </a:r>
            <a:endParaRPr sz="1850">
              <a:latin typeface="Arial MT"/>
              <a:cs typeface="Arial MT"/>
            </a:endParaRPr>
          </a:p>
          <a:p>
            <a:pPr marL="841375">
              <a:lnSpc>
                <a:spcPct val="100000"/>
              </a:lnSpc>
              <a:spcBef>
                <a:spcPts val="360"/>
              </a:spcBef>
              <a:tabLst>
                <a:tab pos="5741670" algn="l"/>
              </a:tabLst>
            </a:pPr>
            <a:r>
              <a:rPr sz="1550" dirty="0">
                <a:latin typeface="Arial MT"/>
                <a:cs typeface="Arial MT"/>
              </a:rPr>
              <a:t>the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mean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of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the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differences</a:t>
            </a:r>
            <a:r>
              <a:rPr sz="1550" dirty="0">
                <a:latin typeface="Arial MT"/>
                <a:cs typeface="Arial MT"/>
              </a:rPr>
              <a:t>	N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is</a:t>
            </a:r>
            <a:r>
              <a:rPr sz="1550" spc="-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the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number</a:t>
            </a:r>
            <a:r>
              <a:rPr sz="1550" spc="-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of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instances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550" dirty="0">
                <a:latin typeface="Arial MT"/>
                <a:cs typeface="Arial MT"/>
              </a:rPr>
              <a:t>the</a:t>
            </a:r>
            <a:r>
              <a:rPr sz="1550" spc="-2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standard</a:t>
            </a:r>
            <a:r>
              <a:rPr sz="1550" spc="-2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deviation</a:t>
            </a:r>
            <a:r>
              <a:rPr sz="1550" spc="-2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of</a:t>
            </a:r>
            <a:r>
              <a:rPr sz="1550" spc="-2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the</a:t>
            </a:r>
            <a:r>
              <a:rPr sz="1550" spc="-2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differences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Arial MT"/>
              <a:cs typeface="Arial MT"/>
            </a:endParaRPr>
          </a:p>
          <a:p>
            <a:pPr marL="514350" marR="1038860" indent="-370840">
              <a:lnSpc>
                <a:spcPts val="2110"/>
              </a:lnSpc>
              <a:buChar char="●"/>
              <a:tabLst>
                <a:tab pos="514350" algn="l"/>
              </a:tabLst>
            </a:pPr>
            <a:r>
              <a:rPr sz="1850" dirty="0">
                <a:latin typeface="Arial MT"/>
                <a:cs typeface="Arial MT"/>
              </a:rPr>
              <a:t>The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t-</a:t>
            </a:r>
            <a:r>
              <a:rPr sz="1850" dirty="0">
                <a:latin typeface="Arial MT"/>
                <a:cs typeface="Arial MT"/>
              </a:rPr>
              <a:t>distribution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table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is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table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that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shows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critical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values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of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spc="-25" dirty="0">
                <a:latin typeface="Arial MT"/>
                <a:cs typeface="Arial MT"/>
              </a:rPr>
              <a:t>the </a:t>
            </a:r>
            <a:r>
              <a:rPr sz="1850" spc="-10" dirty="0">
                <a:latin typeface="Arial MT"/>
                <a:cs typeface="Arial MT"/>
              </a:rPr>
              <a:t>t-</a:t>
            </a:r>
            <a:r>
              <a:rPr sz="1850" dirty="0">
                <a:latin typeface="Arial MT"/>
                <a:cs typeface="Arial MT"/>
              </a:rPr>
              <a:t>distribution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to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get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i="1" spc="-10" dirty="0">
                <a:latin typeface="Arial"/>
                <a:cs typeface="Arial"/>
              </a:rPr>
              <a:t>p</a:t>
            </a:r>
            <a:r>
              <a:rPr sz="1850" spc="-10" dirty="0">
                <a:latin typeface="Arial MT"/>
                <a:cs typeface="Arial MT"/>
              </a:rPr>
              <a:t>-value</a:t>
            </a:r>
            <a:endParaRPr sz="18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60512" y="2551273"/>
            <a:ext cx="2305050" cy="523875"/>
            <a:chOff x="3460512" y="2551273"/>
            <a:chExt cx="2305050" cy="523875"/>
          </a:xfrm>
        </p:grpSpPr>
        <p:sp>
          <p:nvSpPr>
            <p:cNvPr id="8" name="object 8"/>
            <p:cNvSpPr/>
            <p:nvPr/>
          </p:nvSpPr>
          <p:spPr>
            <a:xfrm>
              <a:off x="5403600" y="2597603"/>
              <a:ext cx="318770" cy="163195"/>
            </a:xfrm>
            <a:custGeom>
              <a:avLst/>
              <a:gdLst/>
              <a:ahLst/>
              <a:cxnLst/>
              <a:rect l="l" t="t" r="r" b="b"/>
              <a:pathLst>
                <a:path w="318770" h="163194">
                  <a:moveTo>
                    <a:pt x="0" y="162696"/>
                  </a:moveTo>
                  <a:lnTo>
                    <a:pt x="318408" y="0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14850" y="2577935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14316" y="33677"/>
                  </a:moveTo>
                  <a:lnTo>
                    <a:pt x="0" y="5658"/>
                  </a:lnTo>
                  <a:lnTo>
                    <a:pt x="45650" y="0"/>
                  </a:lnTo>
                  <a:lnTo>
                    <a:pt x="14316" y="33677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14850" y="2577935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14316" y="33677"/>
                  </a:moveTo>
                  <a:lnTo>
                    <a:pt x="45650" y="0"/>
                  </a:lnTo>
                  <a:lnTo>
                    <a:pt x="0" y="5658"/>
                  </a:lnTo>
                  <a:lnTo>
                    <a:pt x="14316" y="33677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68873" y="3004149"/>
              <a:ext cx="367030" cy="50165"/>
            </a:xfrm>
            <a:custGeom>
              <a:avLst/>
              <a:gdLst/>
              <a:ahLst/>
              <a:cxnLst/>
              <a:rect l="l" t="t" r="r" b="b"/>
              <a:pathLst>
                <a:path w="367029" h="50164">
                  <a:moveTo>
                    <a:pt x="366976" y="0"/>
                  </a:moveTo>
                  <a:lnTo>
                    <a:pt x="0" y="50160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26046" y="3038722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4957" y="31175"/>
                  </a:moveTo>
                  <a:lnTo>
                    <a:pt x="0" y="21441"/>
                  </a:lnTo>
                  <a:lnTo>
                    <a:pt x="40696" y="0"/>
                  </a:lnTo>
                  <a:lnTo>
                    <a:pt x="44957" y="31175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26046" y="3038722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0696" y="0"/>
                  </a:moveTo>
                  <a:lnTo>
                    <a:pt x="0" y="21441"/>
                  </a:lnTo>
                  <a:lnTo>
                    <a:pt x="44957" y="31175"/>
                  </a:lnTo>
                  <a:lnTo>
                    <a:pt x="40696" y="0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8500" y="2570099"/>
              <a:ext cx="727710" cy="1905"/>
            </a:xfrm>
            <a:custGeom>
              <a:avLst/>
              <a:gdLst/>
              <a:ahLst/>
              <a:cxnLst/>
              <a:rect l="l" t="t" r="r" b="b"/>
              <a:pathLst>
                <a:path w="727710" h="1905">
                  <a:moveTo>
                    <a:pt x="727349" y="0"/>
                  </a:moveTo>
                  <a:lnTo>
                    <a:pt x="0" y="1668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65274" y="255603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61" y="31465"/>
                  </a:moveTo>
                  <a:lnTo>
                    <a:pt x="0" y="15831"/>
                  </a:lnTo>
                  <a:lnTo>
                    <a:pt x="43189" y="0"/>
                  </a:lnTo>
                  <a:lnTo>
                    <a:pt x="43261" y="31465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65274" y="255603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89" y="0"/>
                  </a:moveTo>
                  <a:lnTo>
                    <a:pt x="0" y="15831"/>
                  </a:lnTo>
                  <a:lnTo>
                    <a:pt x="43261" y="31465"/>
                  </a:lnTo>
                  <a:lnTo>
                    <a:pt x="43189" y="0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6523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722" y="21682"/>
            <a:ext cx="8608554" cy="877163"/>
          </a:xfrm>
        </p:spPr>
        <p:txBody>
          <a:bodyPr/>
          <a:lstStyle/>
          <a:p>
            <a:r>
              <a:rPr lang="en-US" b="1" dirty="0"/>
              <a:t>Paired t-test: Model B vs Model A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20855"/>
          <a:stretch/>
        </p:blipFill>
        <p:spPr>
          <a:xfrm>
            <a:off x="1143000" y="590550"/>
            <a:ext cx="6172200" cy="1606661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16733"/>
          <a:stretch/>
        </p:blipFill>
        <p:spPr>
          <a:xfrm>
            <a:off x="762000" y="2495550"/>
            <a:ext cx="7268589" cy="24193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843033"/>
              </p:ext>
            </p:extLst>
          </p:nvPr>
        </p:nvGraphicFramePr>
        <p:xfrm>
          <a:off x="7011212" y="991768"/>
          <a:ext cx="189627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139">
                  <a:extLst>
                    <a:ext uri="{9D8B030D-6E8A-4147-A177-3AD203B41FA5}">
                      <a16:colId xmlns:a16="http://schemas.microsoft.com/office/drawing/2014/main" val="2168523759"/>
                    </a:ext>
                  </a:extLst>
                </a:gridCol>
                <a:gridCol w="948139">
                  <a:extLst>
                    <a:ext uri="{9D8B030D-6E8A-4147-A177-3AD203B41FA5}">
                      <a16:colId xmlns:a16="http://schemas.microsoft.com/office/drawing/2014/main" val="19848867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r>
                        <a:rPr lang="en-US" baseline="0" dirty="0" smtClean="0"/>
                        <a:t> - </a:t>
                      </a:r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(d</a:t>
                      </a:r>
                      <a:r>
                        <a:rPr lang="en-US" baseline="0" dirty="0" smtClean="0"/>
                        <a:t> – </a:t>
                      </a:r>
                      <a:r>
                        <a:rPr lang="en-US" dirty="0" smtClean="0"/>
                        <a:t>d)</a:t>
                      </a:r>
                      <a:r>
                        <a:rPr lang="en-US" baseline="30000" dirty="0" smtClean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35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089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0.0025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101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-0.05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0.0025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21496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7391400" y="1047750"/>
            <a:ext cx="1524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8458200" y="1047750"/>
            <a:ext cx="1524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047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3681729">
              <a:lnSpc>
                <a:spcPct val="100000"/>
              </a:lnSpc>
              <a:spcBef>
                <a:spcPts val="120"/>
              </a:spcBef>
            </a:pPr>
            <a:r>
              <a:rPr sz="2500" spc="-10" dirty="0"/>
              <a:t>Example</a:t>
            </a:r>
            <a:endParaRPr sz="25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0" marR="551815">
              <a:lnSpc>
                <a:spcPct val="100000"/>
              </a:lnSpc>
              <a:spcBef>
                <a:spcPts val="100"/>
              </a:spcBef>
            </a:pPr>
            <a:r>
              <a:rPr dirty="0"/>
              <a:t>For</a:t>
            </a:r>
            <a:r>
              <a:rPr spc="-4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20" dirty="0"/>
              <a:t>one-</a:t>
            </a:r>
            <a:r>
              <a:rPr dirty="0"/>
              <a:t>tailed</a:t>
            </a:r>
            <a:r>
              <a:rPr spc="-35" dirty="0"/>
              <a:t> </a:t>
            </a:r>
            <a:r>
              <a:rPr dirty="0"/>
              <a:t>test,</a:t>
            </a:r>
            <a:r>
              <a:rPr spc="-35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gives</a:t>
            </a:r>
            <a:r>
              <a:rPr spc="-4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20" dirty="0"/>
              <a:t>P-</a:t>
            </a:r>
            <a:r>
              <a:rPr dirty="0"/>
              <a:t>value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0.02, </a:t>
            </a:r>
            <a:r>
              <a:rPr dirty="0"/>
              <a:t>which</a:t>
            </a:r>
            <a:r>
              <a:rPr spc="-65" dirty="0"/>
              <a:t> </a:t>
            </a:r>
            <a:r>
              <a:rPr dirty="0"/>
              <a:t>would</a:t>
            </a:r>
            <a:r>
              <a:rPr spc="-35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significant</a:t>
            </a:r>
            <a:r>
              <a:rPr spc="-35" dirty="0"/>
              <a:t> </a:t>
            </a:r>
            <a:r>
              <a:rPr dirty="0"/>
              <a:t>at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level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755" dirty="0"/>
              <a:t>α</a:t>
            </a:r>
            <a:r>
              <a:rPr spc="-5" dirty="0"/>
              <a:t> </a:t>
            </a:r>
            <a:r>
              <a:rPr dirty="0"/>
              <a:t>=</a:t>
            </a:r>
            <a:r>
              <a:rPr spc="-35" dirty="0"/>
              <a:t> </a:t>
            </a:r>
            <a:r>
              <a:rPr spc="-20" dirty="0"/>
              <a:t>0.05</a:t>
            </a:r>
          </a:p>
          <a:p>
            <a:pPr marL="12700" marR="5080">
              <a:lnSpc>
                <a:spcPct val="114999"/>
              </a:lnSpc>
              <a:spcBef>
                <a:spcPts val="1850"/>
              </a:spcBef>
            </a:pPr>
            <a:r>
              <a:rPr sz="1700" dirty="0"/>
              <a:t>The</a:t>
            </a:r>
            <a:r>
              <a:rPr sz="1700" spc="-50" dirty="0"/>
              <a:t> </a:t>
            </a:r>
            <a:r>
              <a:rPr sz="1700" spc="-20" dirty="0"/>
              <a:t>t-</a:t>
            </a:r>
            <a:r>
              <a:rPr sz="1700" dirty="0"/>
              <a:t>test</a:t>
            </a:r>
            <a:r>
              <a:rPr sz="1700" spc="-45" dirty="0"/>
              <a:t> </a:t>
            </a:r>
            <a:r>
              <a:rPr sz="1700" dirty="0"/>
              <a:t>enables</a:t>
            </a:r>
            <a:r>
              <a:rPr sz="1700" spc="-50" dirty="0"/>
              <a:t> </a:t>
            </a:r>
            <a:r>
              <a:rPr sz="1700" dirty="0"/>
              <a:t>us</a:t>
            </a:r>
            <a:r>
              <a:rPr sz="1700" spc="-50" dirty="0"/>
              <a:t> </a:t>
            </a:r>
            <a:r>
              <a:rPr sz="1700" dirty="0"/>
              <a:t>to</a:t>
            </a:r>
            <a:r>
              <a:rPr sz="1700" spc="-45" dirty="0"/>
              <a:t> </a:t>
            </a:r>
            <a:r>
              <a:rPr sz="1700" dirty="0"/>
              <a:t>reject</a:t>
            </a:r>
            <a:r>
              <a:rPr sz="1700" spc="-50" dirty="0"/>
              <a:t> </a:t>
            </a:r>
            <a:r>
              <a:rPr sz="1700" dirty="0"/>
              <a:t>the</a:t>
            </a:r>
            <a:r>
              <a:rPr sz="1700" spc="-45" dirty="0"/>
              <a:t> </a:t>
            </a:r>
            <a:r>
              <a:rPr sz="1700" dirty="0"/>
              <a:t>null</a:t>
            </a:r>
            <a:r>
              <a:rPr sz="1700" spc="-50" dirty="0"/>
              <a:t> </a:t>
            </a:r>
            <a:r>
              <a:rPr sz="1700" dirty="0"/>
              <a:t>hypothesis</a:t>
            </a:r>
            <a:r>
              <a:rPr sz="1700" spc="-45" dirty="0"/>
              <a:t> </a:t>
            </a:r>
            <a:r>
              <a:rPr sz="1700" spc="-25" dirty="0"/>
              <a:t>and </a:t>
            </a:r>
            <a:r>
              <a:rPr sz="1700" dirty="0"/>
              <a:t>conclude</a:t>
            </a:r>
            <a:r>
              <a:rPr sz="1700" spc="-85" dirty="0"/>
              <a:t> </a:t>
            </a:r>
            <a:r>
              <a:rPr sz="1700" dirty="0"/>
              <a:t>that</a:t>
            </a:r>
            <a:r>
              <a:rPr sz="1700" spc="-50" dirty="0"/>
              <a:t> </a:t>
            </a:r>
            <a:r>
              <a:rPr sz="1700" dirty="0"/>
              <a:t>ranking</a:t>
            </a:r>
            <a:r>
              <a:rPr sz="1700" spc="-55" dirty="0"/>
              <a:t> </a:t>
            </a:r>
            <a:r>
              <a:rPr sz="1700" dirty="0"/>
              <a:t>algorithm</a:t>
            </a:r>
            <a:r>
              <a:rPr sz="1700" spc="-50" dirty="0"/>
              <a:t> </a:t>
            </a:r>
            <a:r>
              <a:rPr sz="1700" dirty="0"/>
              <a:t>B</a:t>
            </a:r>
            <a:r>
              <a:rPr sz="1700" spc="-55" dirty="0"/>
              <a:t> </a:t>
            </a:r>
            <a:r>
              <a:rPr sz="1700" dirty="0"/>
              <a:t>is</a:t>
            </a:r>
            <a:r>
              <a:rPr sz="1700" spc="-55" dirty="0"/>
              <a:t> </a:t>
            </a:r>
            <a:r>
              <a:rPr sz="1700" dirty="0"/>
              <a:t>more</a:t>
            </a:r>
            <a:r>
              <a:rPr sz="1700" spc="-50" dirty="0"/>
              <a:t> </a:t>
            </a:r>
            <a:r>
              <a:rPr sz="1700" spc="-10" dirty="0"/>
              <a:t>effective</a:t>
            </a:r>
            <a:r>
              <a:rPr sz="1700" spc="-55" dirty="0"/>
              <a:t> </a:t>
            </a:r>
            <a:r>
              <a:rPr sz="1700" spc="-10" dirty="0"/>
              <a:t>than</a:t>
            </a:r>
            <a:r>
              <a:rPr sz="1700" spc="-105" dirty="0"/>
              <a:t> </a:t>
            </a:r>
            <a:r>
              <a:rPr sz="1700" spc="-50" dirty="0"/>
              <a:t>A</a:t>
            </a:r>
            <a:endParaRPr sz="17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600" y="1392012"/>
            <a:ext cx="2166306" cy="227284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63974" y="1666860"/>
            <a:ext cx="3994249" cy="26825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65500" y="4461263"/>
            <a:ext cx="4721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https://www.sjsu.edu/faculty/gerstman/StatPrimer/t-table.pdf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209209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727200">
              <a:lnSpc>
                <a:spcPct val="100000"/>
              </a:lnSpc>
              <a:spcBef>
                <a:spcPts val="120"/>
              </a:spcBef>
            </a:pPr>
            <a:r>
              <a:rPr sz="2500" spc="-10" dirty="0"/>
              <a:t>Summary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160949" y="733104"/>
            <a:ext cx="2514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Today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about: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3619500">
              <a:lnSpc>
                <a:spcPct val="100000"/>
              </a:lnSpc>
              <a:spcBef>
                <a:spcPts val="120"/>
              </a:spcBef>
            </a:pPr>
            <a:r>
              <a:rPr sz="2500" spc="-10" dirty="0"/>
              <a:t>Summary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160949" y="733104"/>
            <a:ext cx="4102735" cy="1729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Today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about:</a:t>
            </a:r>
            <a:endParaRPr sz="1800">
              <a:latin typeface="Arial MT"/>
              <a:cs typeface="Arial MT"/>
            </a:endParaRPr>
          </a:p>
          <a:p>
            <a:pPr marL="596265" marR="1193800" indent="-4445">
              <a:lnSpc>
                <a:spcPct val="170300"/>
              </a:lnSpc>
              <a:spcBef>
                <a:spcPts val="5"/>
              </a:spcBef>
            </a:pPr>
            <a:r>
              <a:rPr sz="1800" spc="-35" dirty="0">
                <a:latin typeface="Arial MT"/>
                <a:cs typeface="Arial MT"/>
              </a:rPr>
              <a:t>Text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Classification </a:t>
            </a:r>
            <a:r>
              <a:rPr sz="1800" dirty="0">
                <a:latin typeface="Arial MT"/>
                <a:cs typeface="Arial MT"/>
              </a:rPr>
              <a:t>Na</a:t>
            </a:r>
            <a:r>
              <a:rPr sz="1950" dirty="0">
                <a:latin typeface="Arial MT"/>
                <a:cs typeface="Arial MT"/>
              </a:rPr>
              <a:t>ï</a:t>
            </a:r>
            <a:r>
              <a:rPr sz="1800" dirty="0">
                <a:latin typeface="Arial MT"/>
                <a:cs typeface="Arial MT"/>
              </a:rPr>
              <a:t>ve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Bayes</a:t>
            </a:r>
            <a:r>
              <a:rPr sz="1800" spc="-10" dirty="0">
                <a:latin typeface="Arial MT"/>
                <a:cs typeface="Arial MT"/>
              </a:rPr>
              <a:t> Classifier</a:t>
            </a:r>
            <a:endParaRPr sz="1800">
              <a:latin typeface="Arial MT"/>
              <a:cs typeface="Arial MT"/>
            </a:endParaRPr>
          </a:p>
          <a:p>
            <a:pPr marL="584200">
              <a:lnSpc>
                <a:spcPct val="100000"/>
              </a:lnSpc>
              <a:spcBef>
                <a:spcPts val="1555"/>
              </a:spcBef>
            </a:pPr>
            <a:r>
              <a:rPr sz="1800" dirty="0">
                <a:latin typeface="Arial MT"/>
                <a:cs typeface="Arial MT"/>
              </a:rPr>
              <a:t>Evaluation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significance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testing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749" y="1191000"/>
            <a:ext cx="331799" cy="3317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749" y="1646750"/>
            <a:ext cx="331799" cy="3317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749" y="2141100"/>
            <a:ext cx="331799" cy="3317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EA04D33E482A4BA12D40215DDD827E" ma:contentTypeVersion="3" ma:contentTypeDescription="Create a new document." ma:contentTypeScope="" ma:versionID="dbcfff18694569661796f1ccd994738f">
  <xsd:schema xmlns:xsd="http://www.w3.org/2001/XMLSchema" xmlns:xs="http://www.w3.org/2001/XMLSchema" xmlns:p="http://schemas.microsoft.com/office/2006/metadata/properties" xmlns:ns2="6ccbcca3-9c48-4d51-affd-7f500234a31c" targetNamespace="http://schemas.microsoft.com/office/2006/metadata/properties" ma:root="true" ma:fieldsID="7c1a1658f5b2498d87a9b8295f17185d" ns2:_="">
    <xsd:import namespace="6ccbcca3-9c48-4d51-affd-7f500234a3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cbcca3-9c48-4d51-affd-7f500234a3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A09A08-E75F-4CEA-9E02-3BDACD6D8909}"/>
</file>

<file path=customXml/itemProps2.xml><?xml version="1.0" encoding="utf-8"?>
<ds:datastoreItem xmlns:ds="http://schemas.openxmlformats.org/officeDocument/2006/customXml" ds:itemID="{679FF607-80E2-46E3-9BCC-FD5FBE2DA526}"/>
</file>

<file path=customXml/itemProps3.xml><?xml version="1.0" encoding="utf-8"?>
<ds:datastoreItem xmlns:ds="http://schemas.openxmlformats.org/officeDocument/2006/customXml" ds:itemID="{05EA4004-6D10-4168-9636-495A9618942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1374</TotalTime>
  <Words>720</Words>
  <Application>Microsoft Office PowerPoint</Application>
  <PresentationFormat>On-screen Show (16:9)</PresentationFormat>
  <Paragraphs>116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 MT</vt:lpstr>
      <vt:lpstr>Calibri</vt:lpstr>
      <vt:lpstr>Office Theme</vt:lpstr>
      <vt:lpstr>Natural Language Processing</vt:lpstr>
      <vt:lpstr>Evaluation of Classifiers</vt:lpstr>
      <vt:lpstr>Contingency Table, Precision, Recall, F-measure</vt:lpstr>
      <vt:lpstr>Confusion Matrix</vt:lpstr>
      <vt:lpstr>Evaluation for more than Two Classes</vt:lpstr>
      <vt:lpstr>Example: Precision</vt:lpstr>
      <vt:lpstr>Test sets and Cross-validation</vt:lpstr>
      <vt:lpstr>Cross-Validation</vt:lpstr>
      <vt:lpstr>Cross-Validation</vt:lpstr>
      <vt:lpstr>Significance Test</vt:lpstr>
      <vt:lpstr>Why Significance Test</vt:lpstr>
      <vt:lpstr>Significance Test</vt:lpstr>
      <vt:lpstr>Paired Student’s T-Test</vt:lpstr>
      <vt:lpstr>Paired t-test: Model B vs Model A </vt:lpstr>
      <vt:lpstr>Example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-- Session 6 - Naïve Bayes and Sentiment Classification.pptx</dc:title>
  <dc:creator>Pc</dc:creator>
  <cp:lastModifiedBy>Dr</cp:lastModifiedBy>
  <cp:revision>11</cp:revision>
  <dcterms:created xsi:type="dcterms:W3CDTF">2026-04-06T14:53:19Z</dcterms:created>
  <dcterms:modified xsi:type="dcterms:W3CDTF">2026-04-09T05:26:03Z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2026-04-06T00:00:00Z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2026-04-06T00:00:00Z</vt:filetime>
  </property>
  <property fmtid="{D5CDD505-2E9C-101B-9397-08002B2CF9AE}" pid="5" name="ContentTypeId">
    <vt:lpwstr>0x010100E0EA04D33E482A4BA12D40215DDD827E</vt:lpwstr>
  </property>
</Properties>
</file>