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1" r:id="rId1"/>
  </p:sldMasterIdLst>
  <p:notesMasterIdLst>
    <p:notesMasterId r:id="rId40"/>
  </p:notesMasterIdLst>
  <p:sldIdLst>
    <p:sldId id="256" r:id="rId2"/>
    <p:sldId id="506" r:id="rId3"/>
    <p:sldId id="264" r:id="rId4"/>
    <p:sldId id="300" r:id="rId5"/>
    <p:sldId id="299" r:id="rId6"/>
    <p:sldId id="280" r:id="rId7"/>
    <p:sldId id="281" r:id="rId8"/>
    <p:sldId id="415" r:id="rId9"/>
    <p:sldId id="303" r:id="rId10"/>
    <p:sldId id="416" r:id="rId11"/>
    <p:sldId id="417" r:id="rId12"/>
    <p:sldId id="304" r:id="rId13"/>
    <p:sldId id="305" r:id="rId14"/>
    <p:sldId id="301" r:id="rId15"/>
    <p:sldId id="306" r:id="rId16"/>
    <p:sldId id="284" r:id="rId17"/>
    <p:sldId id="418" r:id="rId18"/>
    <p:sldId id="319" r:id="rId19"/>
    <p:sldId id="419" r:id="rId20"/>
    <p:sldId id="286" r:id="rId21"/>
    <p:sldId id="287" r:id="rId22"/>
    <p:sldId id="288" r:id="rId23"/>
    <p:sldId id="310" r:id="rId24"/>
    <p:sldId id="312" r:id="rId25"/>
    <p:sldId id="314" r:id="rId26"/>
    <p:sldId id="316" r:id="rId27"/>
    <p:sldId id="309" r:id="rId28"/>
    <p:sldId id="317" r:id="rId29"/>
    <p:sldId id="420" r:id="rId30"/>
    <p:sldId id="421" r:id="rId31"/>
    <p:sldId id="320" r:id="rId32"/>
    <p:sldId id="291" r:id="rId33"/>
    <p:sldId id="308" r:id="rId34"/>
    <p:sldId id="292" r:id="rId35"/>
    <p:sldId id="293" r:id="rId36"/>
    <p:sldId id="302" r:id="rId37"/>
    <p:sldId id="294" r:id="rId38"/>
    <p:sldId id="296" r:id="rId39"/>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2"/>
    <p:restoredTop sz="94760"/>
  </p:normalViewPr>
  <p:slideViewPr>
    <p:cSldViewPr>
      <p:cViewPr varScale="1">
        <p:scale>
          <a:sx n="105" d="100"/>
          <a:sy n="105" d="100"/>
        </p:scale>
        <p:origin x="56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7ED5D45-5B62-34AB-4F30-21D809ADCE2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fontAlgn="auto" hangingPunct="1">
              <a:spcBef>
                <a:spcPts val="0"/>
              </a:spcBef>
              <a:spcAft>
                <a:spcPts val="0"/>
              </a:spcAft>
              <a:defRPr sz="1200">
                <a:latin typeface="+mn-lt"/>
              </a:defRPr>
            </a:lvl1pPr>
          </a:lstStyle>
          <a:p>
            <a:pPr>
              <a:defRPr/>
            </a:pPr>
            <a:endParaRPr lang="en-US"/>
          </a:p>
        </p:txBody>
      </p:sp>
      <p:sp>
        <p:nvSpPr>
          <p:cNvPr id="22531" name="Rectangle 3">
            <a:extLst>
              <a:ext uri="{FF2B5EF4-FFF2-40B4-BE49-F238E27FC236}">
                <a16:creationId xmlns:a16="http://schemas.microsoft.com/office/drawing/2014/main" id="{A1D4B545-3D11-EE53-CE46-D998148F805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US"/>
          </a:p>
        </p:txBody>
      </p:sp>
      <p:sp>
        <p:nvSpPr>
          <p:cNvPr id="3076" name="Rectangle 4">
            <a:extLst>
              <a:ext uri="{FF2B5EF4-FFF2-40B4-BE49-F238E27FC236}">
                <a16:creationId xmlns:a16="http://schemas.microsoft.com/office/drawing/2014/main" id="{4F395808-7DFD-DBA3-8556-98D410CA3D3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80C12286-32B2-F866-7AF5-3105C75F431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534" name="Rectangle 6">
            <a:extLst>
              <a:ext uri="{FF2B5EF4-FFF2-40B4-BE49-F238E27FC236}">
                <a16:creationId xmlns:a16="http://schemas.microsoft.com/office/drawing/2014/main" id="{A358A893-3ADF-EAB4-42A8-1F8D0C46F76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fontAlgn="auto" hangingPunct="1">
              <a:spcBef>
                <a:spcPts val="0"/>
              </a:spcBef>
              <a:spcAft>
                <a:spcPts val="0"/>
              </a:spcAft>
              <a:defRPr sz="1200">
                <a:latin typeface="+mn-lt"/>
              </a:defRPr>
            </a:lvl1pPr>
          </a:lstStyle>
          <a:p>
            <a:pPr>
              <a:defRPr/>
            </a:pPr>
            <a:endParaRPr lang="en-US"/>
          </a:p>
        </p:txBody>
      </p:sp>
      <p:sp>
        <p:nvSpPr>
          <p:cNvPr id="22535" name="Rectangle 7">
            <a:extLst>
              <a:ext uri="{FF2B5EF4-FFF2-40B4-BE49-F238E27FC236}">
                <a16:creationId xmlns:a16="http://schemas.microsoft.com/office/drawing/2014/main" id="{307CAA13-B9F5-28A6-8D9B-12926F69A19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100E19AE-B914-CD44-8D98-DEF52FF4E0F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a:extLst>
              <a:ext uri="{FF2B5EF4-FFF2-40B4-BE49-F238E27FC236}">
                <a16:creationId xmlns:a16="http://schemas.microsoft.com/office/drawing/2014/main" id="{C527AA0B-F759-3141-874E-2DFD5B72AA5E}"/>
              </a:ext>
            </a:extLst>
          </p:cNvPr>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Notes Placeholder 2">
            <a:extLst>
              <a:ext uri="{FF2B5EF4-FFF2-40B4-BE49-F238E27FC236}">
                <a16:creationId xmlns:a16="http://schemas.microsoft.com/office/drawing/2014/main" id="{4B21C02C-F354-244B-85D9-87846652985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896938"/>
            <a:r>
              <a:rPr lang="en-US" altLang="en-US"/>
              <a:t>Updated on: 20/11/2016</a:t>
            </a:r>
          </a:p>
          <a:p>
            <a:pPr defTabSz="896938" eaLnBrk="1" hangingPunct="1"/>
            <a:endParaRPr lang="en-US" altLang="en-US"/>
          </a:p>
        </p:txBody>
      </p:sp>
      <p:sp>
        <p:nvSpPr>
          <p:cNvPr id="41987" name="Slide Number Placeholder 3">
            <a:extLst>
              <a:ext uri="{FF2B5EF4-FFF2-40B4-BE49-F238E27FC236}">
                <a16:creationId xmlns:a16="http://schemas.microsoft.com/office/drawing/2014/main" id="{8E4AA63C-8D86-6D44-9D7B-392770C6A34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9A48E8D4-C7EF-A845-BADD-478DEC373C64}" type="slidenum">
              <a:rPr lang="en-US" altLang="en-US" smtClean="0">
                <a:solidFill>
                  <a:srgbClr val="000000"/>
                </a:solidFill>
              </a:rPr>
              <a:pPr/>
              <a:t>2</a:t>
            </a:fld>
            <a:endParaRPr lang="en-US" altLang="en-US">
              <a:solidFill>
                <a:srgbClr val="000000"/>
              </a:solidFill>
            </a:endParaRPr>
          </a:p>
        </p:txBody>
      </p:sp>
    </p:spTree>
    <p:extLst>
      <p:ext uri="{BB962C8B-B14F-4D97-AF65-F5344CB8AC3E}">
        <p14:creationId xmlns:p14="http://schemas.microsoft.com/office/powerpoint/2010/main" val="3748071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a:extLst>
              <a:ext uri="{FF2B5EF4-FFF2-40B4-BE49-F238E27FC236}">
                <a16:creationId xmlns:a16="http://schemas.microsoft.com/office/drawing/2014/main" id="{D582AC35-B1BD-8356-C109-55B525038A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3E57059F-9D74-664F-80EF-A3A3C94267E5}" type="slidenum">
              <a:rPr lang="en-US" altLang="en-US" smtClean="0">
                <a:latin typeface="Arial" panose="020B0604020202020204" pitchFamily="34" charset="0"/>
              </a:rPr>
              <a:pPr fontAlgn="base">
                <a:spcBef>
                  <a:spcPct val="0"/>
                </a:spcBef>
                <a:spcAft>
                  <a:spcPct val="0"/>
                </a:spcAft>
              </a:pPr>
              <a:t>6</a:t>
            </a:fld>
            <a:endParaRPr lang="en-US" altLang="en-US">
              <a:latin typeface="Arial" panose="020B0604020202020204" pitchFamily="34" charset="0"/>
            </a:endParaRPr>
          </a:p>
        </p:txBody>
      </p:sp>
      <p:sp>
        <p:nvSpPr>
          <p:cNvPr id="11266" name="Rectangle 2">
            <a:extLst>
              <a:ext uri="{FF2B5EF4-FFF2-40B4-BE49-F238E27FC236}">
                <a16:creationId xmlns:a16="http://schemas.microsoft.com/office/drawing/2014/main" id="{61814DF0-7D2F-8D70-4471-B269ACFE7D8B}"/>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F8876C08-F685-5468-60B3-CADF90F33D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requirements of information security within an organization have undergone two major changes in the last several decades. Before the widespread use of data processing equipment,the security of information felt to be valuable to an organization was provided primarily by physical </a:t>
            </a:r>
            <a:r>
              <a:rPr lang="en-US" altLang="en-US"/>
              <a:t>(eg. rugged filing cabinets with locks) and administrative mechanisms (eg. Personnel screening procedures during hiring process).</a:t>
            </a:r>
          </a:p>
          <a:p>
            <a:pPr eaLnBrk="1" hangingPunct="1"/>
            <a:r>
              <a:rPr lang="en-US" altLang="en-US"/>
              <a:t>Growing computer use implies a need for automated tools for protecting files and other information stored on it. This is especially the case for a shared system, such as a time-sharing system, and even more so for systems that can be accessed over a public telephone network, data network, or the Internet.</a:t>
            </a:r>
          </a:p>
          <a:p>
            <a:pPr eaLnBrk="1" hangingPunct="1"/>
            <a:r>
              <a:rPr lang="en-US" altLang="en-US">
                <a:latin typeface="Times-Roman" charset="0"/>
              </a:rPr>
              <a:t>The second major change that affected security is the introduction of distributed systems and the use of networks and communications facilities for carrying data between terminal user and computer and between computer and computer. Network security measures are needed to protect data during their transmission.</a:t>
            </a:r>
            <a:endParaRPr lang="en-US" altLang="en-US"/>
          </a:p>
          <a:p>
            <a:pPr eaLnBrk="1" hangingPunct="1"/>
            <a:endParaRPr lang="en-US" altLang="en-US"/>
          </a:p>
          <a:p>
            <a:pPr eaLnBrk="1" hangingPunct="1"/>
            <a:endParaRPr lang="en-AU"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a:extLst>
              <a:ext uri="{FF2B5EF4-FFF2-40B4-BE49-F238E27FC236}">
                <a16:creationId xmlns:a16="http://schemas.microsoft.com/office/drawing/2014/main" id="{6625DF64-BBF6-02C5-A8B7-4ADCA1A723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193F4DD3-CE4B-0243-B15D-5FBDA78194BA}" type="slidenum">
              <a:rPr lang="en-US" altLang="en-US" smtClean="0">
                <a:latin typeface="Arial" panose="020B0604020202020204" pitchFamily="34" charset="0"/>
              </a:rPr>
              <a:pPr fontAlgn="base">
                <a:spcBef>
                  <a:spcPct val="0"/>
                </a:spcBef>
                <a:spcAft>
                  <a:spcPct val="0"/>
                </a:spcAft>
              </a:pPr>
              <a:t>7</a:t>
            </a:fld>
            <a:endParaRPr lang="en-US" altLang="en-US">
              <a:latin typeface="Arial" panose="020B0604020202020204" pitchFamily="34" charset="0"/>
            </a:endParaRPr>
          </a:p>
        </p:txBody>
      </p:sp>
      <p:sp>
        <p:nvSpPr>
          <p:cNvPr id="13314" name="Rectangle 2">
            <a:extLst>
              <a:ext uri="{FF2B5EF4-FFF2-40B4-BE49-F238E27FC236}">
                <a16:creationId xmlns:a16="http://schemas.microsoft.com/office/drawing/2014/main" id="{C779E93F-D738-7270-C71F-108E3A6855F2}"/>
              </a:ext>
            </a:extLst>
          </p:cNvPr>
          <p:cNvSpPr>
            <a:spLocks noGrp="1" noRot="1" noChangeAspect="1" noChangeArrowheads="1" noTextEdit="1"/>
          </p:cNvSpPr>
          <p:nvPr>
            <p:ph type="sldImg"/>
          </p:nvPr>
        </p:nvSpPr>
        <p:spPr>
          <a:ln/>
        </p:spPr>
      </p:sp>
      <p:sp>
        <p:nvSpPr>
          <p:cNvPr id="13315" name="Rectangle 3">
            <a:extLst>
              <a:ext uri="{FF2B5EF4-FFF2-40B4-BE49-F238E27FC236}">
                <a16:creationId xmlns:a16="http://schemas.microsoft.com/office/drawing/2014/main" id="{D8EA46CB-455D-00D7-14F4-E623DBFD06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Here are some key definitions, note boundaries between them are blurred.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F49AA17-58E8-194C-6106-567A99EBB0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A3A06894-6A09-D642-A3DA-E5241FA39111}" type="slidenum">
              <a:rPr lang="en-US" altLang="en-US" smtClean="0">
                <a:latin typeface="Arial" panose="020B0604020202020204" pitchFamily="34" charset="0"/>
              </a:rPr>
              <a:pPr fontAlgn="base">
                <a:spcBef>
                  <a:spcPct val="0"/>
                </a:spcBef>
                <a:spcAft>
                  <a:spcPct val="0"/>
                </a:spcAft>
              </a:pPr>
              <a:t>9</a:t>
            </a:fld>
            <a:endParaRPr lang="en-US" altLang="en-US">
              <a:latin typeface="Arial" panose="020B0604020202020204" pitchFamily="34" charset="0"/>
            </a:endParaRPr>
          </a:p>
        </p:txBody>
      </p:sp>
      <p:sp>
        <p:nvSpPr>
          <p:cNvPr id="16386" name="Rectangle 2">
            <a:extLst>
              <a:ext uri="{FF2B5EF4-FFF2-40B4-BE49-F238E27FC236}">
                <a16:creationId xmlns:a16="http://schemas.microsoft.com/office/drawing/2014/main" id="{E3B0E962-020A-06E8-9CD6-053DA2BD763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6266D5FB-CDCC-0783-C0A9-366140A8C6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Briefly review some terminology used throughout the course.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15D7DFB-186B-B9C5-EC35-060942C41F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055E6CC5-549E-C240-B645-52D0159FD672}" type="slidenum">
              <a:rPr lang="en-US" altLang="en-US" smtClean="0">
                <a:latin typeface="Arial" panose="020B0604020202020204" pitchFamily="34" charset="0"/>
              </a:rPr>
              <a:pPr fontAlgn="base">
                <a:spcBef>
                  <a:spcPct val="0"/>
                </a:spcBef>
                <a:spcAft>
                  <a:spcPct val="0"/>
                </a:spcAft>
              </a:pPr>
              <a:t>12</a:t>
            </a:fld>
            <a:endParaRPr lang="en-US" altLang="en-US">
              <a:latin typeface="Arial" panose="020B0604020202020204" pitchFamily="34" charset="0"/>
            </a:endParaRPr>
          </a:p>
        </p:txBody>
      </p:sp>
      <p:sp>
        <p:nvSpPr>
          <p:cNvPr id="20482" name="Rectangle 2">
            <a:extLst>
              <a:ext uri="{FF2B5EF4-FFF2-40B4-BE49-F238E27FC236}">
                <a16:creationId xmlns:a16="http://schemas.microsoft.com/office/drawing/2014/main" id="{418D5676-C789-1B35-BA38-EBF59C42372B}"/>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6A476E85-5566-57F9-3545-05787B06B3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Here are some key definitions, note boundaries between them are blurred.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809921EA-24DB-B1B3-C898-65C36F1630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9AA5D36-62B9-3E4B-9A74-1C092BA74A47}" type="slidenum">
              <a:rPr lang="en-US" altLang="en-US" smtClean="0">
                <a:latin typeface="Arial" panose="020B0604020202020204" pitchFamily="34" charset="0"/>
              </a:rPr>
              <a:pPr fontAlgn="base">
                <a:spcBef>
                  <a:spcPct val="0"/>
                </a:spcBef>
                <a:spcAft>
                  <a:spcPct val="0"/>
                </a:spcAft>
              </a:pPr>
              <a:t>13</a:t>
            </a:fld>
            <a:endParaRPr lang="en-US" altLang="en-US">
              <a:latin typeface="Arial" panose="020B0604020202020204" pitchFamily="34" charset="0"/>
            </a:endParaRPr>
          </a:p>
        </p:txBody>
      </p:sp>
      <p:sp>
        <p:nvSpPr>
          <p:cNvPr id="22530" name="Rectangle 2">
            <a:extLst>
              <a:ext uri="{FF2B5EF4-FFF2-40B4-BE49-F238E27FC236}">
                <a16:creationId xmlns:a16="http://schemas.microsoft.com/office/drawing/2014/main" id="{BDC88269-F42D-DA0B-363F-1CACB28994AD}"/>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8C6C762-84CD-E7D7-85E3-FEA4267ECF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Here are some key definitions, note boundaries between them are blurred.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83E84B42-79D1-C907-FB77-A43B40618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9B2486DD-1CA0-A247-92F0-4272B1CAB58C}" type="slidenum">
              <a:rPr lang="en-US" altLang="en-US" smtClean="0">
                <a:latin typeface="Arial" panose="020B0604020202020204" pitchFamily="34" charset="0"/>
              </a:rPr>
              <a:pPr fontAlgn="base">
                <a:spcBef>
                  <a:spcPct val="0"/>
                </a:spcBef>
                <a:spcAft>
                  <a:spcPct val="0"/>
                </a:spcAft>
              </a:pPr>
              <a:t>14</a:t>
            </a:fld>
            <a:endParaRPr lang="en-US" altLang="en-US">
              <a:latin typeface="Arial" panose="020B0604020202020204" pitchFamily="34" charset="0"/>
            </a:endParaRPr>
          </a:p>
        </p:txBody>
      </p:sp>
      <p:sp>
        <p:nvSpPr>
          <p:cNvPr id="24579" name="Rectangle 2">
            <a:extLst>
              <a:ext uri="{FF2B5EF4-FFF2-40B4-BE49-F238E27FC236}">
                <a16:creationId xmlns:a16="http://schemas.microsoft.com/office/drawing/2014/main" id="{C25717A3-CB31-95C0-532D-C6B9F3B0BBEC}"/>
              </a:ext>
            </a:extLst>
          </p:cNvPr>
          <p:cNvSpPr>
            <a:spLocks noGrp="1" noRot="1" noChangeAspect="1" noChangeArrowheads="1" noTextEdit="1"/>
          </p:cNvSpPr>
          <p:nvPr>
            <p:ph type="sldImg"/>
          </p:nvPr>
        </p:nvSpPr>
        <p:spPr>
          <a:xfrm>
            <a:off x="0" y="0"/>
            <a:ext cx="1588" cy="1588"/>
          </a:xfrm>
          <a:solidFill>
            <a:srgbClr val="FFFFFF"/>
          </a:solidFill>
          <a:ln/>
        </p:spPr>
      </p:sp>
      <p:sp>
        <p:nvSpPr>
          <p:cNvPr id="24580" name="Rectangle 3">
            <a:extLst>
              <a:ext uri="{FF2B5EF4-FFF2-40B4-BE49-F238E27FC236}">
                <a16:creationId xmlns:a16="http://schemas.microsoft.com/office/drawing/2014/main" id="{6443159B-2166-A560-A4D9-3DDD80D0155B}"/>
              </a:ext>
            </a:extLst>
          </p:cNvPr>
          <p:cNvSpPr>
            <a:spLocks noGrp="1" noChangeArrowheads="1"/>
          </p:cNvSpPr>
          <p:nvPr>
            <p:ph type="body" idx="1"/>
          </p:nvPr>
        </p:nvSpPr>
        <p:spPr>
          <a:xfrm>
            <a:off x="503238" y="4316413"/>
            <a:ext cx="5857875"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3A3F183D-F9F4-1EE5-B55C-61EC7E8F9C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E6C6A467-9670-174C-BFB2-18949FD7443F}" type="slidenum">
              <a:rPr lang="en-US" altLang="en-US" smtClean="0">
                <a:latin typeface="Arial" panose="020B0604020202020204" pitchFamily="34" charset="0"/>
              </a:rPr>
              <a:pPr fontAlgn="base">
                <a:spcBef>
                  <a:spcPct val="0"/>
                </a:spcBef>
                <a:spcAft>
                  <a:spcPct val="0"/>
                </a:spcAft>
              </a:pPr>
              <a:t>15</a:t>
            </a:fld>
            <a:endParaRPr lang="en-US" altLang="en-US">
              <a:latin typeface="Arial" panose="020B0604020202020204" pitchFamily="34" charset="0"/>
            </a:endParaRPr>
          </a:p>
        </p:txBody>
      </p:sp>
      <p:sp>
        <p:nvSpPr>
          <p:cNvPr id="26626" name="Rectangle 2">
            <a:extLst>
              <a:ext uri="{FF2B5EF4-FFF2-40B4-BE49-F238E27FC236}">
                <a16:creationId xmlns:a16="http://schemas.microsoft.com/office/drawing/2014/main" id="{D268FA78-14EB-6D83-4810-2CD2A52053C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17AED86-C722-5502-6C3D-33CBCF1410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Discuss observed security trends (Stallings section 1.1 &amp; Figure 1.2 above), noting growth in sophistication of attacks contrasting with decrease in skill &amp; knowledge needed to mount an attack.</a:t>
            </a:r>
          </a:p>
          <a:p>
            <a:pPr eaLnBrk="1" hangingPunct="1"/>
            <a:endParaRPr lang="en-US" altLang="en-US"/>
          </a:p>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B35850F-B0D1-3ED8-23E7-7F3738D74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35F2451D-6EE1-7D4B-8241-B228AA24F2EA}" type="slidenum">
              <a:rPr lang="en-US" altLang="en-US" smtClean="0">
                <a:latin typeface="Arial" panose="020B0604020202020204" pitchFamily="34" charset="0"/>
              </a:rPr>
              <a:pPr fontAlgn="base">
                <a:spcBef>
                  <a:spcPct val="0"/>
                </a:spcBef>
                <a:spcAft>
                  <a:spcPct val="0"/>
                </a:spcAft>
              </a:pPr>
              <a:t>16</a:t>
            </a:fld>
            <a:endParaRPr lang="en-US" altLang="en-US">
              <a:latin typeface="Arial" panose="020B0604020202020204" pitchFamily="34" charset="0"/>
            </a:endParaRPr>
          </a:p>
        </p:txBody>
      </p:sp>
      <p:sp>
        <p:nvSpPr>
          <p:cNvPr id="28674" name="Rectangle 2">
            <a:extLst>
              <a:ext uri="{FF2B5EF4-FFF2-40B4-BE49-F238E27FC236}">
                <a16:creationId xmlns:a16="http://schemas.microsoft.com/office/drawing/2014/main" id="{A6959ED3-10F4-D414-7EB8-CE9669BDC29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6D404C02-1D25-A65A-59E6-FA04988ACD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To assess effectively the security needs of an organization and to evaluate and choose various security products and policies, the manager responsible for security needs some systematic way of defining the requirements for security and characterizing the approaches to satisfying those requirements. This is difficult enough in a centralized data processing environment; with the use of local and wide area networks,the problems are compounded. ITU-T Recommendation X.800, Security Architecture for OSI, defines such a systematic approach. The OSI security architecture is useful to managers as a way of organizing the task of providing security.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122D6EE-FC2B-33F5-EAD6-2BD038D67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0AAEE852-5212-AB4B-9C13-D515DA00410E}" type="slidenum">
              <a:rPr lang="en-US" altLang="en-US" smtClean="0">
                <a:latin typeface="Arial" panose="020B0604020202020204" pitchFamily="34" charset="0"/>
              </a:rPr>
              <a:pPr fontAlgn="base">
                <a:spcBef>
                  <a:spcPct val="0"/>
                </a:spcBef>
                <a:spcAft>
                  <a:spcPct val="0"/>
                </a:spcAft>
              </a:pPr>
              <a:t>18</a:t>
            </a:fld>
            <a:endParaRPr lang="en-US" altLang="en-US">
              <a:latin typeface="Arial" panose="020B0604020202020204" pitchFamily="34" charset="0"/>
            </a:endParaRPr>
          </a:p>
        </p:txBody>
      </p:sp>
      <p:sp>
        <p:nvSpPr>
          <p:cNvPr id="31746" name="Rectangle 2">
            <a:extLst>
              <a:ext uri="{FF2B5EF4-FFF2-40B4-BE49-F238E27FC236}">
                <a16:creationId xmlns:a16="http://schemas.microsoft.com/office/drawing/2014/main" id="{B36AE5BE-BFBB-D08C-83E1-D64669DD2042}"/>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EE74D4AC-17DD-7D10-09C2-326F34F3F5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Expand on definition and use of “security attack”, as detailed above.</a:t>
            </a:r>
          </a:p>
          <a:p>
            <a:pPr eaLnBrk="1" hangingPunct="1"/>
            <a:r>
              <a:rPr lang="en-US" altLang="en-US"/>
              <a:t>See Stallings Table 1.1 for definitions of threat and attack.</a:t>
            </a:r>
            <a:endParaRPr lang="en-AU"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D5D1210C-1657-F4E4-C445-4514D36687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F2893501-DA9D-044B-A56B-726C82C60467}" type="slidenum">
              <a:rPr lang="en-US" altLang="en-US" smtClean="0">
                <a:latin typeface="Arial" panose="020B0604020202020204" pitchFamily="34" charset="0"/>
              </a:rPr>
              <a:pPr fontAlgn="base">
                <a:spcBef>
                  <a:spcPct val="0"/>
                </a:spcBef>
                <a:spcAft>
                  <a:spcPct val="0"/>
                </a:spcAft>
              </a:pPr>
              <a:t>20</a:t>
            </a:fld>
            <a:endParaRPr lang="en-US" altLang="en-US">
              <a:latin typeface="Arial" panose="020B0604020202020204" pitchFamily="34" charset="0"/>
            </a:endParaRPr>
          </a:p>
        </p:txBody>
      </p:sp>
      <p:sp>
        <p:nvSpPr>
          <p:cNvPr id="34818" name="Rectangle 2">
            <a:extLst>
              <a:ext uri="{FF2B5EF4-FFF2-40B4-BE49-F238E27FC236}">
                <a16:creationId xmlns:a16="http://schemas.microsoft.com/office/drawing/2014/main" id="{641E373A-F22C-B223-6C4D-05A85BA4356F}"/>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890E2DF1-5867-2D3D-0E79-C297326516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Expand on definition and use of “security attack”, as detailed above.</a:t>
            </a:r>
          </a:p>
          <a:p>
            <a:pPr eaLnBrk="1" hangingPunct="1"/>
            <a:r>
              <a:rPr lang="en-US" altLang="en-US"/>
              <a:t>See Stallings Table 1.1 for definitions of threat and attack.</a:t>
            </a:r>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B7276254-7CA1-406D-A7CC-7D6D0AB5E5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06C62E03-E021-D346-BD88-87589F4EF5E6}" type="slidenum">
              <a:rPr lang="en-US" altLang="en-US" smtClean="0">
                <a:latin typeface="Arial" panose="020B0604020202020204" pitchFamily="34" charset="0"/>
              </a:rPr>
              <a:pPr fontAlgn="base">
                <a:spcBef>
                  <a:spcPct val="0"/>
                </a:spcBef>
                <a:spcAft>
                  <a:spcPct val="0"/>
                </a:spcAft>
              </a:pPr>
              <a:t>21</a:t>
            </a:fld>
            <a:endParaRPr lang="en-US" altLang="en-US">
              <a:latin typeface="Arial" panose="020B0604020202020204" pitchFamily="34" charset="0"/>
            </a:endParaRPr>
          </a:p>
        </p:txBody>
      </p:sp>
      <p:sp>
        <p:nvSpPr>
          <p:cNvPr id="36866" name="Rectangle 2">
            <a:extLst>
              <a:ext uri="{FF2B5EF4-FFF2-40B4-BE49-F238E27FC236}">
                <a16:creationId xmlns:a16="http://schemas.microsoft.com/office/drawing/2014/main" id="{0509D2E7-CB0D-F0DD-5BA2-48C789D9ED49}"/>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6EEAC82E-1D2C-5DBF-CAE7-F8A5A18336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t>Have “passive attacks” which </a:t>
            </a:r>
            <a:r>
              <a:rPr lang="en-US" altLang="en-US">
                <a:latin typeface="Times-Roman" charset="0"/>
              </a:rPr>
              <a:t>attempt to learn or make use of information from the system but does not affect system resources.</a:t>
            </a:r>
          </a:p>
          <a:p>
            <a:pPr eaLnBrk="1" hangingPunct="1"/>
            <a:r>
              <a:rPr lang="en-US" altLang="en-US">
                <a:latin typeface="Times-Roman" charset="0"/>
              </a:rPr>
              <a:t>By </a:t>
            </a:r>
            <a:r>
              <a:rPr lang="en-AU" altLang="en-US"/>
              <a:t>eavesdropping on, or monitoring of, transmissions to:</a:t>
            </a:r>
          </a:p>
          <a:p>
            <a:pPr lvl="1" eaLnBrk="1" hangingPunct="1"/>
            <a:r>
              <a:rPr lang="en-US" altLang="en-US"/>
              <a:t>+ obtain message contents (as shown above in Stallings Figure 1.3a), or</a:t>
            </a:r>
          </a:p>
          <a:p>
            <a:pPr lvl="1" eaLnBrk="1" hangingPunct="1"/>
            <a:r>
              <a:rPr lang="en-US" altLang="en-US"/>
              <a:t>+ monitor traffic flows</a:t>
            </a:r>
          </a:p>
          <a:p>
            <a:pPr eaLnBrk="1" hangingPunct="1"/>
            <a:r>
              <a:rPr lang="en-US" altLang="en-US"/>
              <a:t>Are difficult to detect </a:t>
            </a:r>
            <a:r>
              <a:rPr lang="en-US" altLang="en-US">
                <a:latin typeface="Times-Roman" charset="0"/>
              </a:rPr>
              <a:t>because they do not involve any alteration of the data.</a:t>
            </a:r>
            <a:endParaRPr lang="en-US" altLang="en-US"/>
          </a:p>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6115D0D2-C427-5CC2-420D-1FC9BEE064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0FA5EC73-C767-BC48-A56E-CE16113C3768}" type="slidenum">
              <a:rPr lang="en-US" altLang="en-US" smtClean="0">
                <a:latin typeface="Arial" panose="020B0604020202020204" pitchFamily="34" charset="0"/>
              </a:rPr>
              <a:pPr fontAlgn="base">
                <a:spcBef>
                  <a:spcPct val="0"/>
                </a:spcBef>
                <a:spcAft>
                  <a:spcPct val="0"/>
                </a:spcAft>
              </a:pPr>
              <a:t>22</a:t>
            </a:fld>
            <a:endParaRPr lang="en-US" altLang="en-US">
              <a:latin typeface="Arial" panose="020B0604020202020204" pitchFamily="34" charset="0"/>
            </a:endParaRPr>
          </a:p>
        </p:txBody>
      </p:sp>
      <p:sp>
        <p:nvSpPr>
          <p:cNvPr id="38914" name="Rectangle 2">
            <a:extLst>
              <a:ext uri="{FF2B5EF4-FFF2-40B4-BE49-F238E27FC236}">
                <a16:creationId xmlns:a16="http://schemas.microsoft.com/office/drawing/2014/main" id="{11AE1DDA-FBA7-765B-E885-12E0F264F759}"/>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5EDE03DC-5B48-5D71-1027-B9B3BA7D93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AU" altLang="en-US" sz="1000" b="1"/>
              <a:t>Also have “active attacks”</a:t>
            </a:r>
            <a:r>
              <a:rPr lang="en-AU" altLang="en-US" sz="1000"/>
              <a:t> which </a:t>
            </a:r>
            <a:r>
              <a:rPr lang="en-US" altLang="en-US">
                <a:latin typeface="Times-Roman" charset="0"/>
              </a:rPr>
              <a:t>attempt to alter system resources or affect their operation.</a:t>
            </a:r>
          </a:p>
          <a:p>
            <a:pPr eaLnBrk="1" hangingPunct="1">
              <a:lnSpc>
                <a:spcPct val="90000"/>
              </a:lnSpc>
            </a:pPr>
            <a:r>
              <a:rPr lang="en-US" altLang="en-US">
                <a:latin typeface="Times-Roman" charset="0"/>
              </a:rPr>
              <a:t>By </a:t>
            </a:r>
            <a:r>
              <a:rPr lang="en-AU" altLang="en-US" sz="1000"/>
              <a:t>modification of data stream to:</a:t>
            </a:r>
          </a:p>
          <a:p>
            <a:pPr lvl="1" eaLnBrk="1" hangingPunct="1">
              <a:lnSpc>
                <a:spcPct val="90000"/>
              </a:lnSpc>
            </a:pPr>
            <a:r>
              <a:rPr lang="en-US" altLang="en-US" sz="1000"/>
              <a:t>+ masquerade of one entity as some other</a:t>
            </a:r>
            <a:endParaRPr lang="en-AU" altLang="en-US" sz="1000"/>
          </a:p>
          <a:p>
            <a:pPr lvl="1" eaLnBrk="1" hangingPunct="1">
              <a:lnSpc>
                <a:spcPct val="90000"/>
              </a:lnSpc>
            </a:pPr>
            <a:r>
              <a:rPr lang="en-US" altLang="en-US" sz="1000"/>
              <a:t>+ replay previous messages (as shown above in </a:t>
            </a:r>
            <a:r>
              <a:rPr lang="en-US" altLang="en-US"/>
              <a:t>Stallings </a:t>
            </a:r>
            <a:r>
              <a:rPr lang="en-US" altLang="en-US" sz="1000"/>
              <a:t>Figure 1.4b)</a:t>
            </a:r>
          </a:p>
          <a:p>
            <a:pPr lvl="1" eaLnBrk="1" hangingPunct="1">
              <a:lnSpc>
                <a:spcPct val="90000"/>
              </a:lnSpc>
            </a:pPr>
            <a:r>
              <a:rPr lang="en-US" altLang="en-US" sz="1000"/>
              <a:t>+ modify messages in transit</a:t>
            </a:r>
          </a:p>
          <a:p>
            <a:pPr lvl="1" eaLnBrk="1" hangingPunct="1">
              <a:lnSpc>
                <a:spcPct val="90000"/>
              </a:lnSpc>
            </a:pPr>
            <a:r>
              <a:rPr lang="en-US" altLang="en-US" sz="1000"/>
              <a:t>+ denial of service</a:t>
            </a:r>
            <a:endParaRPr lang="en-US" altLang="en-US">
              <a:latin typeface="Times-Roman" charset="0"/>
            </a:endParaRPr>
          </a:p>
          <a:p>
            <a:pPr eaLnBrk="1" hangingPunct="1">
              <a:lnSpc>
                <a:spcPct val="90000"/>
              </a:lnSpc>
            </a:pPr>
            <a:r>
              <a:rPr lang="en-US" altLang="en-US">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physical,software,and network vulnerabilities. Instead, the goal is to detect active attacks and to recover from any disruption or delays caused by them.</a:t>
            </a:r>
          </a:p>
          <a:p>
            <a:pPr lvl="1" eaLnBrk="1" hangingPunct="1">
              <a:lnSpc>
                <a:spcPct val="90000"/>
              </a:lnSpc>
            </a:pPr>
            <a:endParaRPr lang="en-US" altLang="en-US">
              <a:latin typeface="Times-Roman"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4AEB713B-DA6B-8F21-E02F-5EF1E7B06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8BE483EB-959D-6D40-8000-9874D8C35D12}" type="slidenum">
              <a:rPr lang="en-US" altLang="en-US" smtClean="0">
                <a:latin typeface="Arial" panose="020B0604020202020204" pitchFamily="34" charset="0"/>
              </a:rPr>
              <a:pPr fontAlgn="base">
                <a:spcBef>
                  <a:spcPct val="0"/>
                </a:spcBef>
                <a:spcAft>
                  <a:spcPct val="0"/>
                </a:spcAft>
              </a:pPr>
              <a:t>32</a:t>
            </a:fld>
            <a:endParaRPr lang="en-US" altLang="en-US">
              <a:latin typeface="Arial" panose="020B0604020202020204" pitchFamily="34" charset="0"/>
            </a:endParaRPr>
          </a:p>
        </p:txBody>
      </p:sp>
      <p:sp>
        <p:nvSpPr>
          <p:cNvPr id="50178" name="Rectangle 2">
            <a:extLst>
              <a:ext uri="{FF2B5EF4-FFF2-40B4-BE49-F238E27FC236}">
                <a16:creationId xmlns:a16="http://schemas.microsoft.com/office/drawing/2014/main" id="{3D092E64-9EE8-67E3-92E6-F1F862BA3927}"/>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F145AA71-BC4E-30FF-B624-EFF53CF9BD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i="1">
                <a:solidFill>
                  <a:srgbClr val="0000FF"/>
                </a:solidFill>
                <a:latin typeface="Times-Italic" charset="0"/>
              </a:rPr>
              <a:t>This list includes the various "classic" security services which are traditionally discussed. </a:t>
            </a:r>
          </a:p>
          <a:p>
            <a:pPr eaLnBrk="1" hangingPunct="1"/>
            <a:r>
              <a:rPr lang="en-US" altLang="en-US" i="1">
                <a:solidFill>
                  <a:srgbClr val="0000FF"/>
                </a:solidFill>
                <a:latin typeface="Times-Italic" charset="0"/>
              </a:rPr>
              <a:t>Note there is a degree of ambiguity as to the meaning of these terms, and overlap in their use.</a:t>
            </a:r>
          </a:p>
          <a:p>
            <a:pPr eaLnBrk="1" hangingPunct="1"/>
            <a:r>
              <a:rPr lang="en-US" altLang="en-US"/>
              <a:t>See Stallings Table 1.2 for details of the 5 Security Service categories and the 14 specific services given in X.800.</a:t>
            </a:r>
            <a:endParaRPr lang="en-AU"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DDC9563-FD2D-08DC-C4F1-9FBFC2142C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48A2616A-4C4A-6F44-982C-AB2A76F6BD54}" type="slidenum">
              <a:rPr lang="en-US" altLang="en-US" smtClean="0">
                <a:latin typeface="Arial" panose="020B0604020202020204" pitchFamily="34" charset="0"/>
              </a:rPr>
              <a:pPr fontAlgn="base">
                <a:spcBef>
                  <a:spcPct val="0"/>
                </a:spcBef>
                <a:spcAft>
                  <a:spcPct val="0"/>
                </a:spcAft>
              </a:pPr>
              <a:t>34</a:t>
            </a:fld>
            <a:endParaRPr lang="en-US" altLang="en-US">
              <a:latin typeface="Arial" panose="020B0604020202020204" pitchFamily="34" charset="0"/>
            </a:endParaRPr>
          </a:p>
        </p:txBody>
      </p:sp>
      <p:sp>
        <p:nvSpPr>
          <p:cNvPr id="53250" name="Rectangle 2">
            <a:extLst>
              <a:ext uri="{FF2B5EF4-FFF2-40B4-BE49-F238E27FC236}">
                <a16:creationId xmlns:a16="http://schemas.microsoft.com/office/drawing/2014/main" id="{F988B398-5AB3-3AE0-AFDA-1E4BD8E9BDE5}"/>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E9EC16E9-91DA-B89B-4BEE-6234AE6DA2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Now introduce “Security Mechanism” which are the specific means of implementing one or more security services.</a:t>
            </a:r>
          </a:p>
          <a:p>
            <a:pPr eaLnBrk="1" hangingPunct="1"/>
            <a:r>
              <a:rPr lang="en-US" altLang="en-US"/>
              <a:t>Note these mechanisms span a wide range of technical components, but one aspect seen in many is the use of cryptographic techniques.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2488296F-FFC4-2634-E7B6-E6ACB7D9D8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C4862D5A-75E1-774E-8FD9-B0C26B064048}" type="slidenum">
              <a:rPr lang="en-US" altLang="en-US" smtClean="0">
                <a:latin typeface="Arial" panose="020B0604020202020204" pitchFamily="34" charset="0"/>
              </a:rPr>
              <a:pPr fontAlgn="base">
                <a:spcBef>
                  <a:spcPct val="0"/>
                </a:spcBef>
                <a:spcAft>
                  <a:spcPct val="0"/>
                </a:spcAft>
              </a:pPr>
              <a:t>35</a:t>
            </a:fld>
            <a:endParaRPr lang="en-US" altLang="en-US">
              <a:latin typeface="Arial" panose="020B0604020202020204" pitchFamily="34" charset="0"/>
            </a:endParaRPr>
          </a:p>
        </p:txBody>
      </p:sp>
      <p:sp>
        <p:nvSpPr>
          <p:cNvPr id="55298" name="Rectangle 2">
            <a:extLst>
              <a:ext uri="{FF2B5EF4-FFF2-40B4-BE49-F238E27FC236}">
                <a16:creationId xmlns:a16="http://schemas.microsoft.com/office/drawing/2014/main" id="{8CB0B512-2937-0469-23A1-99865FA927C6}"/>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927D2DC8-DBA6-98BD-EAD6-1C69AD0B1F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Some examples of mechanisms from X.800. Note that the “</a:t>
            </a:r>
            <a:r>
              <a:rPr lang="en-AU" altLang="en-US"/>
              <a:t>specific security mechanisms” are protocol layer specific, whilst the “pervasive security mechanisms” are not. </a:t>
            </a:r>
            <a:r>
              <a:rPr lang="en-US" altLang="en-US"/>
              <a:t>We will meet some of these mechanisms in much greater detail later.</a:t>
            </a:r>
          </a:p>
          <a:p>
            <a:pPr eaLnBrk="1" hangingPunct="1"/>
            <a:r>
              <a:rPr lang="en-US" altLang="en-US"/>
              <a:t>See Stallings Table 1.3 for details of these mechanisms in X.800, and Table 1.4 for the relationship between services and mechanisms.</a:t>
            </a:r>
            <a:endParaRPr lang="en-AU"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C72C41E9-4591-33FE-AE37-58DD6A4CE6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DE381E48-FBFD-5145-98E4-1666AB5E5D58}" type="slidenum">
              <a:rPr lang="en-US" altLang="en-US" smtClean="0">
                <a:latin typeface="Arial" panose="020B0604020202020204" pitchFamily="34" charset="0"/>
              </a:rPr>
              <a:pPr fontAlgn="base">
                <a:spcBef>
                  <a:spcPct val="0"/>
                </a:spcBef>
                <a:spcAft>
                  <a:spcPct val="0"/>
                </a:spcAft>
              </a:pPr>
              <a:t>36</a:t>
            </a:fld>
            <a:endParaRPr lang="en-US" altLang="en-US">
              <a:latin typeface="Arial" panose="020B0604020202020204" pitchFamily="34" charset="0"/>
            </a:endParaRPr>
          </a:p>
        </p:txBody>
      </p:sp>
      <p:sp>
        <p:nvSpPr>
          <p:cNvPr id="57347" name="Rectangle 2">
            <a:extLst>
              <a:ext uri="{FF2B5EF4-FFF2-40B4-BE49-F238E27FC236}">
                <a16:creationId xmlns:a16="http://schemas.microsoft.com/office/drawing/2014/main" id="{338D94C6-00C4-8362-AB87-B4B5C087C66C}"/>
              </a:ext>
            </a:extLst>
          </p:cNvPr>
          <p:cNvSpPr>
            <a:spLocks noGrp="1" noRot="1" noChangeAspect="1" noChangeArrowheads="1" noTextEdit="1"/>
          </p:cNvSpPr>
          <p:nvPr>
            <p:ph type="sldImg"/>
          </p:nvPr>
        </p:nvSpPr>
        <p:spPr>
          <a:xfrm>
            <a:off x="0" y="0"/>
            <a:ext cx="1588" cy="1588"/>
          </a:xfrm>
          <a:solidFill>
            <a:srgbClr val="FFFFFF"/>
          </a:solidFill>
          <a:ln/>
        </p:spPr>
      </p:sp>
      <p:sp>
        <p:nvSpPr>
          <p:cNvPr id="57348" name="Rectangle 3">
            <a:extLst>
              <a:ext uri="{FF2B5EF4-FFF2-40B4-BE49-F238E27FC236}">
                <a16:creationId xmlns:a16="http://schemas.microsoft.com/office/drawing/2014/main" id="{7BDAD79F-D9C3-51AE-035B-F75A27D6369A}"/>
              </a:ext>
            </a:extLst>
          </p:cNvPr>
          <p:cNvSpPr>
            <a:spLocks noGrp="1" noChangeArrowheads="1"/>
          </p:cNvSpPr>
          <p:nvPr>
            <p:ph type="body" idx="1"/>
          </p:nvPr>
        </p:nvSpPr>
        <p:spPr>
          <a:xfrm>
            <a:off x="503238" y="4316413"/>
            <a:ext cx="5857875" cy="4060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5FD5122E-3902-000F-1833-2E2875B7D1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A5223D10-228F-3045-9D21-A745E1C2C5E4}" type="slidenum">
              <a:rPr lang="en-US" altLang="en-US" smtClean="0">
                <a:latin typeface="Arial" panose="020B0604020202020204" pitchFamily="34" charset="0"/>
              </a:rPr>
              <a:pPr fontAlgn="base">
                <a:spcBef>
                  <a:spcPct val="0"/>
                </a:spcBef>
                <a:spcAft>
                  <a:spcPct val="0"/>
                </a:spcAft>
              </a:pPr>
              <a:t>37</a:t>
            </a:fld>
            <a:endParaRPr lang="en-US" altLang="en-US">
              <a:latin typeface="Arial" panose="020B0604020202020204" pitchFamily="34" charset="0"/>
            </a:endParaRPr>
          </a:p>
        </p:txBody>
      </p:sp>
      <p:sp>
        <p:nvSpPr>
          <p:cNvPr id="59394" name="Rectangle 2">
            <a:extLst>
              <a:ext uri="{FF2B5EF4-FFF2-40B4-BE49-F238E27FC236}">
                <a16:creationId xmlns:a16="http://schemas.microsoft.com/office/drawing/2014/main" id="{A378B1C7-9166-8B74-2792-504DCED1DB25}"/>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52FE4D11-D734-AF31-5616-0DB7823C6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In considering the place of encryption, its useful to use the following two models from Stallings section 1.6.</a:t>
            </a:r>
          </a:p>
          <a:p>
            <a:pPr eaLnBrk="1" hangingPunct="1"/>
            <a:r>
              <a:rPr lang="en-AU" altLang="en-US"/>
              <a:t>The first, illustrated in Figure 1.5, models information flowing over an insecure communications channel, in the presence of possible opponents. Hence an appropriate </a:t>
            </a:r>
            <a:r>
              <a:rPr lang="en-AU" altLang="en-US" b="1"/>
              <a:t>security transform (encryption algorithm)</a:t>
            </a:r>
            <a:r>
              <a:rPr lang="en-AU" altLang="en-US"/>
              <a:t> can be used, with suitable </a:t>
            </a:r>
            <a:r>
              <a:rPr lang="en-AU" altLang="en-US" b="1"/>
              <a:t>keys</a:t>
            </a:r>
            <a:r>
              <a:rPr lang="en-AU" altLang="en-US"/>
              <a:t>, possibly negotiated using the presence of a </a:t>
            </a:r>
            <a:r>
              <a:rPr lang="en-AU" altLang="en-US" b="1"/>
              <a:t>trusted third party</a:t>
            </a:r>
            <a:r>
              <a:rPr lang="en-AU" altLang="en-US"/>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E3FEA3BD-AA4F-41FF-C005-6A71CD341C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fontAlgn="base">
              <a:spcBef>
                <a:spcPct val="0"/>
              </a:spcBef>
              <a:spcAft>
                <a:spcPct val="0"/>
              </a:spcAft>
              <a:defRPr>
                <a:solidFill>
                  <a:schemeClr val="tx1"/>
                </a:solidFill>
                <a:latin typeface="Aptos" panose="020B0004020202020204" pitchFamily="34" charset="0"/>
              </a:defRPr>
            </a:lvl6pPr>
            <a:lvl7pPr marL="2971800" indent="-228600" defTabSz="457200" fontAlgn="base">
              <a:spcBef>
                <a:spcPct val="0"/>
              </a:spcBef>
              <a:spcAft>
                <a:spcPct val="0"/>
              </a:spcAft>
              <a:defRPr>
                <a:solidFill>
                  <a:schemeClr val="tx1"/>
                </a:solidFill>
                <a:latin typeface="Aptos" panose="020B0004020202020204" pitchFamily="34" charset="0"/>
              </a:defRPr>
            </a:lvl7pPr>
            <a:lvl8pPr marL="3429000" indent="-228600" defTabSz="457200" fontAlgn="base">
              <a:spcBef>
                <a:spcPct val="0"/>
              </a:spcBef>
              <a:spcAft>
                <a:spcPct val="0"/>
              </a:spcAft>
              <a:defRPr>
                <a:solidFill>
                  <a:schemeClr val="tx1"/>
                </a:solidFill>
                <a:latin typeface="Aptos" panose="020B0004020202020204" pitchFamily="34" charset="0"/>
              </a:defRPr>
            </a:lvl8pPr>
            <a:lvl9pPr marL="3886200" indent="-228600" defTabSz="4572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FDEE69F7-61DA-ED44-AEED-69880588AAD0}" type="slidenum">
              <a:rPr lang="en-US" altLang="en-US" smtClean="0">
                <a:latin typeface="Arial" panose="020B0604020202020204" pitchFamily="34" charset="0"/>
              </a:rPr>
              <a:pPr fontAlgn="base">
                <a:spcBef>
                  <a:spcPct val="0"/>
                </a:spcBef>
                <a:spcAft>
                  <a:spcPct val="0"/>
                </a:spcAft>
              </a:pPr>
              <a:t>38</a:t>
            </a:fld>
            <a:endParaRPr lang="en-US" altLang="en-US">
              <a:latin typeface="Arial" panose="020B0604020202020204" pitchFamily="34" charset="0"/>
            </a:endParaRPr>
          </a:p>
        </p:txBody>
      </p:sp>
      <p:sp>
        <p:nvSpPr>
          <p:cNvPr id="61442" name="Rectangle 2">
            <a:extLst>
              <a:ext uri="{FF2B5EF4-FFF2-40B4-BE49-F238E27FC236}">
                <a16:creationId xmlns:a16="http://schemas.microsoft.com/office/drawing/2014/main" id="{A83B0525-9FC8-6622-4F63-DEDC9DDA020E}"/>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E43D14D4-44E4-B632-53DC-619E88077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second, illustrated in Figure 1.6, model is concerned with controlled access to information or resources on a computer system, in the presence of possible opponents. Here appropriate controls are needed on the access and within the system, to provide suitable security. Some cryptographic techniques are useful here also.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15EFC2D-171D-95FA-B578-0C03D922233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DDF37EA-4079-6E29-572D-B7871E2645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1D0F633-825D-4D75-5CEF-13734F8FC80F}"/>
              </a:ext>
            </a:extLst>
          </p:cNvPr>
          <p:cNvSpPr>
            <a:spLocks noGrp="1"/>
          </p:cNvSpPr>
          <p:nvPr>
            <p:ph type="sldNum" sz="quarter" idx="12"/>
          </p:nvPr>
        </p:nvSpPr>
        <p:spPr/>
        <p:txBody>
          <a:bodyPr/>
          <a:lstStyle>
            <a:lvl1pPr>
              <a:defRPr/>
            </a:lvl1pPr>
          </a:lstStyle>
          <a:p>
            <a:pPr>
              <a:defRPr/>
            </a:pPr>
            <a:fld id="{1C9DDC72-1989-294C-B718-F4A126899A4F}" type="slidenum">
              <a:rPr lang="en-US" altLang="en-US"/>
              <a:pPr>
                <a:defRPr/>
              </a:pPr>
              <a:t>‹#›</a:t>
            </a:fld>
            <a:endParaRPr lang="en-US" altLang="en-US"/>
          </a:p>
        </p:txBody>
      </p:sp>
    </p:spTree>
    <p:extLst>
      <p:ext uri="{BB962C8B-B14F-4D97-AF65-F5344CB8AC3E}">
        <p14:creationId xmlns:p14="http://schemas.microsoft.com/office/powerpoint/2010/main" val="3560822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A5443-FF62-EF39-6EDE-57ED162DFFD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4CD4C36-D15C-9A07-C632-A0BC66FCC2C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21DF4D-DD75-BAC2-B042-0AA8DCC11B03}"/>
              </a:ext>
            </a:extLst>
          </p:cNvPr>
          <p:cNvSpPr>
            <a:spLocks noGrp="1"/>
          </p:cNvSpPr>
          <p:nvPr>
            <p:ph type="sldNum" sz="quarter" idx="12"/>
          </p:nvPr>
        </p:nvSpPr>
        <p:spPr/>
        <p:txBody>
          <a:bodyPr/>
          <a:lstStyle>
            <a:lvl1pPr>
              <a:defRPr/>
            </a:lvl1pPr>
          </a:lstStyle>
          <a:p>
            <a:pPr>
              <a:defRPr/>
            </a:pPr>
            <a:fld id="{BA16ACC9-284D-E744-96DB-440E17E65EFA}" type="slidenum">
              <a:rPr lang="en-US" altLang="en-US"/>
              <a:pPr>
                <a:defRPr/>
              </a:pPr>
              <a:t>‹#›</a:t>
            </a:fld>
            <a:endParaRPr lang="en-US" altLang="en-US"/>
          </a:p>
        </p:txBody>
      </p:sp>
    </p:spTree>
    <p:extLst>
      <p:ext uri="{BB962C8B-B14F-4D97-AF65-F5344CB8AC3E}">
        <p14:creationId xmlns:p14="http://schemas.microsoft.com/office/powerpoint/2010/main" val="2734396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085855-C91C-D5F8-AEE0-633436D0E15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7E68D63-9CFE-3482-FDEE-A05A70FEACE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9CDA9A9-12E3-6AEA-F637-020F74F54EA1}"/>
              </a:ext>
            </a:extLst>
          </p:cNvPr>
          <p:cNvSpPr>
            <a:spLocks noGrp="1"/>
          </p:cNvSpPr>
          <p:nvPr>
            <p:ph type="sldNum" sz="quarter" idx="12"/>
          </p:nvPr>
        </p:nvSpPr>
        <p:spPr/>
        <p:txBody>
          <a:bodyPr/>
          <a:lstStyle>
            <a:lvl1pPr>
              <a:defRPr/>
            </a:lvl1pPr>
          </a:lstStyle>
          <a:p>
            <a:pPr>
              <a:defRPr/>
            </a:pPr>
            <a:fld id="{6B65D00C-70DE-9046-81E1-1CFDFEE32A6E}" type="slidenum">
              <a:rPr lang="en-US" altLang="en-US"/>
              <a:pPr>
                <a:defRPr/>
              </a:pPr>
              <a:t>‹#›</a:t>
            </a:fld>
            <a:endParaRPr lang="en-US" altLang="en-US"/>
          </a:p>
        </p:txBody>
      </p:sp>
    </p:spTree>
    <p:extLst>
      <p:ext uri="{BB962C8B-B14F-4D97-AF65-F5344CB8AC3E}">
        <p14:creationId xmlns:p14="http://schemas.microsoft.com/office/powerpoint/2010/main" val="3734555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366C6FF-1066-D7CB-0157-CBC1AADEE4CA}"/>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69C5AC4-F7B4-1BE1-DD80-EAE25C95774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FB96942-8498-6734-6F63-8EE98820B658}"/>
              </a:ext>
            </a:extLst>
          </p:cNvPr>
          <p:cNvSpPr>
            <a:spLocks noGrp="1"/>
          </p:cNvSpPr>
          <p:nvPr>
            <p:ph type="sldNum" sz="quarter" idx="12"/>
          </p:nvPr>
        </p:nvSpPr>
        <p:spPr/>
        <p:txBody>
          <a:bodyPr/>
          <a:lstStyle>
            <a:lvl1pPr>
              <a:defRPr/>
            </a:lvl1pPr>
          </a:lstStyle>
          <a:p>
            <a:pPr>
              <a:defRPr/>
            </a:pPr>
            <a:fld id="{AFE033E5-9C23-5C42-ADF4-0EDCBB7AB035}" type="slidenum">
              <a:rPr lang="en-US" altLang="en-US"/>
              <a:pPr>
                <a:defRPr/>
              </a:pPr>
              <a:t>‹#›</a:t>
            </a:fld>
            <a:endParaRPr lang="en-US" altLang="en-US"/>
          </a:p>
        </p:txBody>
      </p:sp>
    </p:spTree>
    <p:extLst>
      <p:ext uri="{BB962C8B-B14F-4D97-AF65-F5344CB8AC3E}">
        <p14:creationId xmlns:p14="http://schemas.microsoft.com/office/powerpoint/2010/main" val="650687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01455E3D-E6C9-DAEC-2FF1-E25A3865AA63}"/>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40BB17F8-3C2A-BC66-F975-049734F3A37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F2FF948-A2F2-91FA-FCFA-BA14FE7AD79D}"/>
              </a:ext>
            </a:extLst>
          </p:cNvPr>
          <p:cNvSpPr>
            <a:spLocks noGrp="1"/>
          </p:cNvSpPr>
          <p:nvPr>
            <p:ph type="sldNum" sz="quarter" idx="12"/>
          </p:nvPr>
        </p:nvSpPr>
        <p:spPr/>
        <p:txBody>
          <a:bodyPr/>
          <a:lstStyle>
            <a:lvl1pPr>
              <a:defRPr/>
            </a:lvl1pPr>
          </a:lstStyle>
          <a:p>
            <a:pPr>
              <a:defRPr/>
            </a:pPr>
            <a:fld id="{1F155EF1-6DA7-DB4D-B3E5-5F6D554706F5}" type="slidenum">
              <a:rPr lang="en-US" altLang="en-US"/>
              <a:pPr>
                <a:defRPr/>
              </a:pPr>
              <a:t>‹#›</a:t>
            </a:fld>
            <a:endParaRPr lang="en-US" altLang="en-US"/>
          </a:p>
        </p:txBody>
      </p:sp>
    </p:spTree>
    <p:extLst>
      <p:ext uri="{BB962C8B-B14F-4D97-AF65-F5344CB8AC3E}">
        <p14:creationId xmlns:p14="http://schemas.microsoft.com/office/powerpoint/2010/main" val="1227021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D9D5C312-55EE-578A-86B3-A134F1485278}"/>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40F7C5A5-391D-4DB8-0786-38C63F07593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F3E7A9F-649E-DD41-F3E8-FD6DEE378859}"/>
              </a:ext>
            </a:extLst>
          </p:cNvPr>
          <p:cNvSpPr>
            <a:spLocks noGrp="1"/>
          </p:cNvSpPr>
          <p:nvPr>
            <p:ph type="sldNum" sz="quarter" idx="12"/>
          </p:nvPr>
        </p:nvSpPr>
        <p:spPr/>
        <p:txBody>
          <a:bodyPr/>
          <a:lstStyle>
            <a:lvl1pPr>
              <a:defRPr/>
            </a:lvl1pPr>
          </a:lstStyle>
          <a:p>
            <a:pPr>
              <a:defRPr/>
            </a:pPr>
            <a:fld id="{588453EA-A9C8-314F-9B0B-B4321574220F}" type="slidenum">
              <a:rPr lang="en-US" altLang="en-US"/>
              <a:pPr>
                <a:defRPr/>
              </a:pPr>
              <a:t>‹#›</a:t>
            </a:fld>
            <a:endParaRPr lang="en-US" altLang="en-US"/>
          </a:p>
        </p:txBody>
      </p:sp>
    </p:spTree>
    <p:extLst>
      <p:ext uri="{BB962C8B-B14F-4D97-AF65-F5344CB8AC3E}">
        <p14:creationId xmlns:p14="http://schemas.microsoft.com/office/powerpoint/2010/main" val="4292629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443DA37-C1EA-661C-C958-EAEC1D0B6A46}"/>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D700B207-C27C-FAB6-C849-748447AFA8B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0C61197-3110-CB23-4C76-C5840AE69E3C}"/>
              </a:ext>
            </a:extLst>
          </p:cNvPr>
          <p:cNvSpPr>
            <a:spLocks noGrp="1"/>
          </p:cNvSpPr>
          <p:nvPr>
            <p:ph type="sldNum" sz="quarter" idx="12"/>
          </p:nvPr>
        </p:nvSpPr>
        <p:spPr/>
        <p:txBody>
          <a:bodyPr/>
          <a:lstStyle>
            <a:lvl1pPr>
              <a:defRPr/>
            </a:lvl1pPr>
          </a:lstStyle>
          <a:p>
            <a:pPr>
              <a:defRPr/>
            </a:pPr>
            <a:fld id="{F5A2BB06-F8EE-9B4F-BEB5-47E344C40BE2}" type="slidenum">
              <a:rPr lang="en-US" altLang="en-US"/>
              <a:pPr>
                <a:defRPr/>
              </a:pPr>
              <a:t>‹#›</a:t>
            </a:fld>
            <a:endParaRPr lang="en-US" altLang="en-US"/>
          </a:p>
        </p:txBody>
      </p:sp>
    </p:spTree>
    <p:extLst>
      <p:ext uri="{BB962C8B-B14F-4D97-AF65-F5344CB8AC3E}">
        <p14:creationId xmlns:p14="http://schemas.microsoft.com/office/powerpoint/2010/main" val="497331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89DCB7DE-0F02-213B-F170-C06C33C0CD2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EFA0E8A-B553-03F6-EDBE-288279B4198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F31BCC7-7537-F64E-47A8-E056F0D56F2F}"/>
              </a:ext>
            </a:extLst>
          </p:cNvPr>
          <p:cNvSpPr>
            <a:spLocks noGrp="1"/>
          </p:cNvSpPr>
          <p:nvPr>
            <p:ph type="sldNum" sz="quarter" idx="12"/>
          </p:nvPr>
        </p:nvSpPr>
        <p:spPr/>
        <p:txBody>
          <a:bodyPr/>
          <a:lstStyle>
            <a:lvl1pPr>
              <a:defRPr/>
            </a:lvl1pPr>
          </a:lstStyle>
          <a:p>
            <a:pPr>
              <a:defRPr/>
            </a:pPr>
            <a:fld id="{8B2B66EE-B9AF-9F42-9247-23BD4E4F5E9D}" type="slidenum">
              <a:rPr lang="en-US" altLang="en-US"/>
              <a:pPr>
                <a:defRPr/>
              </a:pPr>
              <a:t>‹#›</a:t>
            </a:fld>
            <a:endParaRPr lang="en-US" altLang="en-US"/>
          </a:p>
        </p:txBody>
      </p:sp>
    </p:spTree>
    <p:extLst>
      <p:ext uri="{BB962C8B-B14F-4D97-AF65-F5344CB8AC3E}">
        <p14:creationId xmlns:p14="http://schemas.microsoft.com/office/powerpoint/2010/main" val="28383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C16B866-C0D5-2950-2A31-F5DDE9B29750}"/>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81B94DF-647C-A3B3-C9A9-90ED0510AD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C51B144-8580-E80E-E3C4-1B09452C64E1}"/>
              </a:ext>
            </a:extLst>
          </p:cNvPr>
          <p:cNvSpPr>
            <a:spLocks noGrp="1"/>
          </p:cNvSpPr>
          <p:nvPr>
            <p:ph type="sldNum" sz="quarter" idx="12"/>
          </p:nvPr>
        </p:nvSpPr>
        <p:spPr/>
        <p:txBody>
          <a:bodyPr/>
          <a:lstStyle>
            <a:lvl1pPr>
              <a:defRPr/>
            </a:lvl1pPr>
          </a:lstStyle>
          <a:p>
            <a:pPr>
              <a:defRPr/>
            </a:pPr>
            <a:fld id="{220953AF-897F-3C4F-8138-E3252D2CE8FB}" type="slidenum">
              <a:rPr lang="en-US" altLang="en-US"/>
              <a:pPr>
                <a:defRPr/>
              </a:pPr>
              <a:t>‹#›</a:t>
            </a:fld>
            <a:endParaRPr lang="en-US" altLang="en-US"/>
          </a:p>
        </p:txBody>
      </p:sp>
    </p:spTree>
    <p:extLst>
      <p:ext uri="{BB962C8B-B14F-4D97-AF65-F5344CB8AC3E}">
        <p14:creationId xmlns:p14="http://schemas.microsoft.com/office/powerpoint/2010/main" val="3105945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CBFD415-4B4A-5631-ABD4-A90D0AB8CB5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DD33BC54-C7CA-891C-A89F-B60FF5C551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9488210-5FE7-77A0-7F65-0F942CC3DD39}"/>
              </a:ext>
            </a:extLst>
          </p:cNvPr>
          <p:cNvSpPr>
            <a:spLocks noGrp="1"/>
          </p:cNvSpPr>
          <p:nvPr>
            <p:ph type="sldNum" sz="quarter" idx="12"/>
          </p:nvPr>
        </p:nvSpPr>
        <p:spPr/>
        <p:txBody>
          <a:bodyPr/>
          <a:lstStyle>
            <a:lvl1pPr>
              <a:defRPr/>
            </a:lvl1pPr>
          </a:lstStyle>
          <a:p>
            <a:pPr>
              <a:defRPr/>
            </a:pPr>
            <a:fld id="{7510AB95-0016-2A46-A861-7FD9F25BFBAF}" type="slidenum">
              <a:rPr lang="en-US" altLang="en-US"/>
              <a:pPr>
                <a:defRPr/>
              </a:pPr>
              <a:t>‹#›</a:t>
            </a:fld>
            <a:endParaRPr lang="en-US" altLang="en-US"/>
          </a:p>
        </p:txBody>
      </p:sp>
    </p:spTree>
    <p:extLst>
      <p:ext uri="{BB962C8B-B14F-4D97-AF65-F5344CB8AC3E}">
        <p14:creationId xmlns:p14="http://schemas.microsoft.com/office/powerpoint/2010/main" val="3762518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FD103CD-5355-6C08-2A47-631DBFDC4CC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8629E1F-16EA-275B-3477-AAA2FF93271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B0149D7-867C-FAE1-9A57-1D6C88B66E9F}"/>
              </a:ext>
            </a:extLst>
          </p:cNvPr>
          <p:cNvSpPr>
            <a:spLocks noGrp="1"/>
          </p:cNvSpPr>
          <p:nvPr>
            <p:ph type="sldNum" sz="quarter" idx="12"/>
          </p:nvPr>
        </p:nvSpPr>
        <p:spPr/>
        <p:txBody>
          <a:bodyPr/>
          <a:lstStyle>
            <a:lvl1pPr>
              <a:defRPr/>
            </a:lvl1pPr>
          </a:lstStyle>
          <a:p>
            <a:pPr>
              <a:defRPr/>
            </a:pPr>
            <a:fld id="{EDB0DAC6-BBE2-F04C-8447-1850F1D8479C}" type="slidenum">
              <a:rPr lang="en-US" altLang="en-US"/>
              <a:pPr>
                <a:defRPr/>
              </a:pPr>
              <a:t>‹#›</a:t>
            </a:fld>
            <a:endParaRPr lang="en-US" altLang="en-US"/>
          </a:p>
        </p:txBody>
      </p:sp>
    </p:spTree>
    <p:extLst>
      <p:ext uri="{BB962C8B-B14F-4D97-AF65-F5344CB8AC3E}">
        <p14:creationId xmlns:p14="http://schemas.microsoft.com/office/powerpoint/2010/main" val="996499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76200"/>
            <a:ext cx="7924800" cy="838200"/>
          </a:xfrm>
        </p:spPr>
        <p:txBody>
          <a:bodyPr/>
          <a:lstStyle/>
          <a:p>
            <a:r>
              <a:rPr lang="en-US"/>
              <a:t>Click to edit Master title style</a:t>
            </a:r>
          </a:p>
        </p:txBody>
      </p:sp>
      <p:sp>
        <p:nvSpPr>
          <p:cNvPr id="3" name="Text Placeholder 2"/>
          <p:cNvSpPr>
            <a:spLocks noGrp="1"/>
          </p:cNvSpPr>
          <p:nvPr>
            <p:ph type="body" sz="half" idx="1"/>
          </p:nvPr>
        </p:nvSpPr>
        <p:spPr>
          <a:xfrm>
            <a:off x="838200" y="1295400"/>
            <a:ext cx="4000500" cy="4791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1100" y="1295400"/>
            <a:ext cx="4000500" cy="4791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1F404E6-CF63-C17C-99B0-21A208DED5B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883428A8-1A1D-C31F-1456-656E3691083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A06D74E-6F4C-B2E0-454B-1B39B29A8893}"/>
              </a:ext>
            </a:extLst>
          </p:cNvPr>
          <p:cNvSpPr>
            <a:spLocks noGrp="1"/>
          </p:cNvSpPr>
          <p:nvPr>
            <p:ph type="sldNum" sz="quarter" idx="12"/>
          </p:nvPr>
        </p:nvSpPr>
        <p:spPr/>
        <p:txBody>
          <a:bodyPr/>
          <a:lstStyle>
            <a:lvl1pPr>
              <a:defRPr/>
            </a:lvl1pPr>
          </a:lstStyle>
          <a:p>
            <a:pPr>
              <a:defRPr/>
            </a:pPr>
            <a:fld id="{5A10002F-4153-6548-BD02-928A14A02606}" type="slidenum">
              <a:rPr lang="en-US" altLang="en-US"/>
              <a:pPr>
                <a:defRPr/>
              </a:pPr>
              <a:t>‹#›</a:t>
            </a:fld>
            <a:endParaRPr lang="en-US" altLang="en-US"/>
          </a:p>
        </p:txBody>
      </p:sp>
    </p:spTree>
    <p:extLst>
      <p:ext uri="{BB962C8B-B14F-4D97-AF65-F5344CB8AC3E}">
        <p14:creationId xmlns:p14="http://schemas.microsoft.com/office/powerpoint/2010/main" val="662827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B8B8F3A-0EFE-DBAC-2BC6-206A2525266A}"/>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E31102F-BC6E-BD86-FF1B-F2BACE16BFAE}"/>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E465CF6-363F-D443-9417-0F1E2274E04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82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70022F51-3AB0-C1DC-1B98-855ABC424E9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82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F5332CBF-8EFF-5147-9E16-20D332195EA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82000"/>
                  </a:schemeClr>
                </a:solidFill>
                <a:latin typeface="+mn-lt"/>
              </a:defRPr>
            </a:lvl1pPr>
          </a:lstStyle>
          <a:p>
            <a:pPr>
              <a:defRPr/>
            </a:pPr>
            <a:fld id="{7DC528AC-CFDC-8C48-A4CC-733EBED1D27C}" type="slidenum">
              <a:rPr lang="en-US" altLang="en-US"/>
              <a:pPr>
                <a:defRPr/>
              </a:pPr>
              <a:t>‹#›</a:t>
            </a:fld>
            <a:endParaRPr lang="en-US" altLang="en-US"/>
          </a:p>
        </p:txBody>
      </p:sp>
      <p:sp>
        <p:nvSpPr>
          <p:cNvPr id="7" name="Rectangle 4">
            <a:extLst>
              <a:ext uri="{FF2B5EF4-FFF2-40B4-BE49-F238E27FC236}">
                <a16:creationId xmlns:a16="http://schemas.microsoft.com/office/drawing/2014/main" id="{F8868DEF-CD7B-C265-6990-F864F560014E}"/>
              </a:ext>
            </a:extLst>
          </p:cNvPr>
          <p:cNvSpPr>
            <a:spLocks noChangeArrowheads="1"/>
          </p:cNvSpPr>
          <p:nvPr userDrawn="1"/>
        </p:nvSpPr>
        <p:spPr bwMode="auto">
          <a:xfrm>
            <a:off x="0" y="0"/>
            <a:ext cx="609600" cy="6858000"/>
          </a:xfrm>
          <a:prstGeom prst="rect">
            <a:avLst/>
          </a:prstGeom>
          <a:solidFill>
            <a:schemeClr val="accent2"/>
          </a:solidFill>
          <a:ln>
            <a:noFill/>
          </a:ln>
        </p:spPr>
        <p:txBody>
          <a:bodyPr wrap="none" anchor="ctr"/>
          <a:lstStyle>
            <a:lvl1pPr algn="ctr">
              <a:defRPr>
                <a:solidFill>
                  <a:schemeClr val="tx1"/>
                </a:solidFill>
                <a:latin typeface="Arial" panose="020B0604020202020204" pitchFamily="34" charset="0"/>
              </a:defRPr>
            </a:lvl1pPr>
            <a:lvl2pPr marL="742950" indent="-285750" algn="ctr">
              <a:defRPr>
                <a:solidFill>
                  <a:schemeClr val="tx1"/>
                </a:solidFill>
                <a:latin typeface="Arial" panose="020B0604020202020204" pitchFamily="34" charset="0"/>
              </a:defRPr>
            </a:lvl2pPr>
            <a:lvl3pPr marL="1143000" indent="-228600" algn="ctr">
              <a:defRPr>
                <a:solidFill>
                  <a:schemeClr val="tx1"/>
                </a:solidFill>
                <a:latin typeface="Arial" panose="020B0604020202020204" pitchFamily="34" charset="0"/>
              </a:defRPr>
            </a:lvl3pPr>
            <a:lvl4pPr marL="1600200" indent="-228600" algn="ctr">
              <a:defRPr>
                <a:solidFill>
                  <a:schemeClr val="tx1"/>
                </a:solidFill>
                <a:latin typeface="Arial" panose="020B0604020202020204" pitchFamily="34" charset="0"/>
              </a:defRPr>
            </a:lvl4pPr>
            <a:lvl5pPr marL="2057400" indent="-228600" algn="ctr">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a:p>
        </p:txBody>
      </p:sp>
    </p:spTree>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 id="2147484003" r:id="rId1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ptos Display" panose="020B0004020202020204" pitchFamily="34" charset="0"/>
        </a:defRPr>
      </a:lvl2pPr>
      <a:lvl3pPr algn="l" rtl="0" fontAlgn="base">
        <a:lnSpc>
          <a:spcPct val="90000"/>
        </a:lnSpc>
        <a:spcBef>
          <a:spcPct val="0"/>
        </a:spcBef>
        <a:spcAft>
          <a:spcPct val="0"/>
        </a:spcAft>
        <a:defRPr sz="4400">
          <a:solidFill>
            <a:schemeClr val="tx1"/>
          </a:solidFill>
          <a:latin typeface="Aptos Display" panose="020B0004020202020204" pitchFamily="34" charset="0"/>
        </a:defRPr>
      </a:lvl3pPr>
      <a:lvl4pPr algn="l" rtl="0" fontAlgn="base">
        <a:lnSpc>
          <a:spcPct val="90000"/>
        </a:lnSpc>
        <a:spcBef>
          <a:spcPct val="0"/>
        </a:spcBef>
        <a:spcAft>
          <a:spcPct val="0"/>
        </a:spcAft>
        <a:defRPr sz="4400">
          <a:solidFill>
            <a:schemeClr val="tx1"/>
          </a:solidFill>
          <a:latin typeface="Aptos Display" panose="020B0004020202020204" pitchFamily="34" charset="0"/>
        </a:defRPr>
      </a:lvl4pPr>
      <a:lvl5pPr algn="l" rtl="0" fontAlgn="base">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m.sher@iiu.edu.pk" TargetMode="Externa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jpeg"/><Relationship Id="rId18" Type="http://schemas.openxmlformats.org/officeDocument/2006/relationships/image" Target="../media/image18.png"/><Relationship Id="rId3" Type="http://schemas.openxmlformats.org/officeDocument/2006/relationships/image" Target="../media/image3.jpe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1.xml"/><Relationship Id="rId16"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jpeg"/><Relationship Id="rId9" Type="http://schemas.openxmlformats.org/officeDocument/2006/relationships/image" Target="../media/image9.jpe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researchgate.net/figure/Major-security-aspects-in-a-collaboration-system_fig1_221237343"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0.emf"/></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AutoShape 2">
            <a:extLst>
              <a:ext uri="{FF2B5EF4-FFF2-40B4-BE49-F238E27FC236}">
                <a16:creationId xmlns:a16="http://schemas.microsoft.com/office/drawing/2014/main" id="{B637F5A3-11B5-DF82-C527-CCB646C91D62}"/>
              </a:ext>
            </a:extLst>
          </p:cNvPr>
          <p:cNvSpPr>
            <a:spLocks noGrp="1" noChangeArrowheads="1"/>
          </p:cNvSpPr>
          <p:nvPr>
            <p:ph type="ctrTitle"/>
          </p:nvPr>
        </p:nvSpPr>
        <p:spPr>
          <a:xfrm>
            <a:off x="685800" y="990600"/>
            <a:ext cx="8229600" cy="1676400"/>
          </a:xfrm>
        </p:spPr>
        <p:txBody>
          <a:bodyPr/>
          <a:lstStyle/>
          <a:p>
            <a:r>
              <a:rPr lang="en-US" altLang="en-US"/>
              <a:t>Information Security </a:t>
            </a:r>
          </a:p>
        </p:txBody>
      </p:sp>
      <p:sp>
        <p:nvSpPr>
          <p:cNvPr id="4098" name="Rectangle 3">
            <a:extLst>
              <a:ext uri="{FF2B5EF4-FFF2-40B4-BE49-F238E27FC236}">
                <a16:creationId xmlns:a16="http://schemas.microsoft.com/office/drawing/2014/main" id="{57C29E7D-6040-9D3D-0300-F5E240E2C45A}"/>
              </a:ext>
            </a:extLst>
          </p:cNvPr>
          <p:cNvSpPr>
            <a:spLocks noGrp="1" noChangeArrowheads="1"/>
          </p:cNvSpPr>
          <p:nvPr>
            <p:ph type="subTitle" idx="1"/>
          </p:nvPr>
        </p:nvSpPr>
        <p:spPr>
          <a:xfrm>
            <a:off x="4572000" y="4495800"/>
            <a:ext cx="4572000" cy="2133600"/>
          </a:xfrm>
        </p:spPr>
        <p:txBody>
          <a:bodyPr/>
          <a:lstStyle/>
          <a:p>
            <a:pPr>
              <a:lnSpc>
                <a:spcPct val="80000"/>
              </a:lnSpc>
            </a:pPr>
            <a:r>
              <a:rPr lang="en-US" altLang="en-US" b="1"/>
              <a:t>Dr. Muazzam Ali Khan Khattak</a:t>
            </a:r>
          </a:p>
          <a:p>
            <a:pPr>
              <a:lnSpc>
                <a:spcPct val="80000"/>
              </a:lnSpc>
            </a:pPr>
            <a:r>
              <a:rPr lang="en-US" altLang="en-US" sz="1800" b="1"/>
              <a:t>Professor</a:t>
            </a:r>
          </a:p>
          <a:p>
            <a:pPr>
              <a:lnSpc>
                <a:spcPct val="80000"/>
              </a:lnSpc>
            </a:pPr>
            <a:r>
              <a:rPr lang="en-US" altLang="en-US" sz="1800" b="1"/>
              <a:t>Department of Computer Science</a:t>
            </a:r>
          </a:p>
          <a:p>
            <a:pPr>
              <a:lnSpc>
                <a:spcPct val="80000"/>
              </a:lnSpc>
            </a:pPr>
            <a:r>
              <a:rPr lang="en-US" altLang="en-US" sz="1800" b="1"/>
              <a:t>QAU, Islamabad</a:t>
            </a:r>
          </a:p>
          <a:p>
            <a:pPr>
              <a:lnSpc>
                <a:spcPct val="80000"/>
              </a:lnSpc>
            </a:pPr>
            <a:r>
              <a:rPr lang="en-US" altLang="en-US" sz="1800" b="1"/>
              <a:t>Email: </a:t>
            </a:r>
            <a:r>
              <a:rPr lang="en-US" altLang="en-US" sz="1800" b="1">
                <a:hlinkClick r:id="rId2"/>
              </a:rPr>
              <a:t>muazzam.khattak@qau.edu.pk</a:t>
            </a:r>
            <a:r>
              <a:rPr lang="en-US" altLang="en-US" sz="1800" b="1"/>
              <a:t> </a:t>
            </a:r>
          </a:p>
        </p:txBody>
      </p:sp>
      <p:sp>
        <p:nvSpPr>
          <p:cNvPr id="4099" name="Rectangle 7">
            <a:extLst>
              <a:ext uri="{FF2B5EF4-FFF2-40B4-BE49-F238E27FC236}">
                <a16:creationId xmlns:a16="http://schemas.microsoft.com/office/drawing/2014/main" id="{FD1674F6-2113-5756-E868-6A41F2CFF48F}"/>
              </a:ext>
            </a:extLst>
          </p:cNvPr>
          <p:cNvSpPr>
            <a:spLocks noChangeArrowheads="1"/>
          </p:cNvSpPr>
          <p:nvPr/>
        </p:nvSpPr>
        <p:spPr bwMode="auto">
          <a:xfrm>
            <a:off x="4572000" y="2895600"/>
            <a:ext cx="457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20000"/>
              </a:spcBef>
              <a:buClr>
                <a:schemeClr val="tx1"/>
              </a:buClr>
              <a:buSzPct val="75000"/>
              <a:buFont typeface="Wingdings" pitchFamily="2" charset="2"/>
              <a:buNone/>
            </a:pPr>
            <a:r>
              <a:rPr lang="en-US" altLang="en-US" b="1">
                <a:solidFill>
                  <a:schemeClr val="tx2"/>
                </a:solidFill>
                <a:latin typeface="Arial" panose="020B0604020202020204" pitchFamily="34" charset="0"/>
              </a:rPr>
              <a:t>Lecture 1  </a:t>
            </a:r>
          </a:p>
          <a:p>
            <a:pPr algn="ctr" eaLnBrk="1" hangingPunct="1">
              <a:lnSpc>
                <a:spcPct val="100000"/>
              </a:lnSpc>
              <a:spcBef>
                <a:spcPct val="20000"/>
              </a:spcBef>
              <a:buClr>
                <a:schemeClr val="tx1"/>
              </a:buClr>
              <a:buSzPct val="75000"/>
              <a:buFont typeface="Wingdings" pitchFamily="2" charset="2"/>
              <a:buNone/>
            </a:pPr>
            <a:r>
              <a:rPr lang="en-US" altLang="en-US" sz="2400" b="1">
                <a:latin typeface="Arial" panose="020B0604020202020204" pitchFamily="34" charset="0"/>
              </a:rPr>
              <a:t>Basic Security Concepts</a:t>
            </a:r>
          </a:p>
        </p:txBody>
      </p:sp>
      <p:pic>
        <p:nvPicPr>
          <p:cNvPr id="4100" name="Picture 8" descr="What Is Information Security - NBKomputer">
            <a:extLst>
              <a:ext uri="{FF2B5EF4-FFF2-40B4-BE49-F238E27FC236}">
                <a16:creationId xmlns:a16="http://schemas.microsoft.com/office/drawing/2014/main" id="{818772CC-DC93-A931-C9AE-9C218A145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2895600"/>
            <a:ext cx="45593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0" descr="Information Security">
            <a:extLst>
              <a:ext uri="{FF2B5EF4-FFF2-40B4-BE49-F238E27FC236}">
                <a16:creationId xmlns:a16="http://schemas.microsoft.com/office/drawing/2014/main" id="{920285AB-CDBD-5B1C-7D8A-8C693F98C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0"/>
            <a:ext cx="45593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tx2">
                <a:lumMod val="60000"/>
                <a:lumOff val="40000"/>
              </a:schemeClr>
            </a:gs>
            <a:gs pos="3000">
              <a:schemeClr val="tx2">
                <a:lumMod val="60000"/>
                <a:lumOff val="40000"/>
              </a:schemeClr>
            </a:gs>
            <a:gs pos="9000">
              <a:schemeClr val="tx2">
                <a:lumMod val="60000"/>
                <a:lumOff val="40000"/>
              </a:schemeClr>
            </a:gs>
          </a:gsLst>
          <a:lin ang="5400000" scaled="0"/>
        </a:gradFill>
        <a:effectLst/>
      </p:bgPr>
    </p:bg>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05DD76D-9A73-E545-A64D-6CE020D0B37C}"/>
              </a:ext>
            </a:extLst>
          </p:cNvPr>
          <p:cNvSpPr>
            <a:spLocks noGrp="1"/>
          </p:cNvSpPr>
          <p:nvPr>
            <p:ph type="title"/>
          </p:nvPr>
        </p:nvSpPr>
        <p:spPr>
          <a:xfrm>
            <a:off x="15678" y="1007102"/>
            <a:ext cx="7476168" cy="1184829"/>
          </a:xfrm>
          <a:solidFill>
            <a:schemeClr val="bg1"/>
          </a:solidFill>
        </p:spPr>
        <p:txBody>
          <a:bodyPr>
            <a:noAutofit/>
          </a:bodyPr>
          <a:lstStyle/>
          <a:p>
            <a:pPr>
              <a:lnSpc>
                <a:spcPct val="100000"/>
              </a:lnSpc>
              <a:defRPr/>
            </a:pPr>
            <a:r>
              <a:rPr lang="en-GB" sz="1950" b="1" dirty="0">
                <a:cs typeface="Arial" panose="020B0604020202020204" pitchFamily="34" charset="0"/>
              </a:rPr>
              <a:t>Prof. Dr. Muazzam A. Khan Khattak </a:t>
            </a:r>
            <a:r>
              <a:rPr lang="en-GB" sz="1725" b="1" dirty="0">
                <a:cs typeface="Arial" panose="020B0604020202020204" pitchFamily="34" charset="0"/>
              </a:rPr>
              <a:t>(SM NADRA/IEEE/PAS/AAAI)</a:t>
            </a:r>
            <a:br>
              <a:rPr lang="en-GB" sz="1875" b="1" dirty="0">
                <a:cs typeface="Arial" panose="020B0604020202020204" pitchFamily="34" charset="0"/>
              </a:rPr>
            </a:br>
            <a:r>
              <a:rPr lang="en-GB" sz="1575" b="1" dirty="0">
                <a:cs typeface="Arial" panose="020B0604020202020204" pitchFamily="34" charset="0"/>
              </a:rPr>
              <a:t>Listed in Top 2% Scientists of The World 2024, 25/Gold Medal PAS </a:t>
            </a:r>
            <a:br>
              <a:rPr lang="en-GB" sz="1575" b="1" dirty="0">
                <a:cs typeface="Arial" panose="020B0604020202020204" pitchFamily="34" charset="0"/>
              </a:rPr>
            </a:br>
            <a:r>
              <a:rPr lang="en-GB" sz="1575" dirty="0">
                <a:cs typeface="Arial" panose="020B0604020202020204" pitchFamily="34" charset="0"/>
              </a:rPr>
              <a:t>Director </a:t>
            </a:r>
            <a:r>
              <a:rPr lang="en-GB" sz="1575" dirty="0" err="1">
                <a:cs typeface="Arial" panose="020B0604020202020204" pitchFamily="34" charset="0"/>
              </a:rPr>
              <a:t>Farabi</a:t>
            </a:r>
            <a:r>
              <a:rPr lang="en-GB" sz="1575" dirty="0">
                <a:cs typeface="Arial" panose="020B0604020202020204" pitchFamily="34" charset="0"/>
              </a:rPr>
              <a:t> Centre AI &amp; CS, S&amp;T, ICESCO Chair.</a:t>
            </a:r>
            <a:br>
              <a:rPr lang="en-GB" sz="1575" dirty="0">
                <a:cs typeface="Arial" panose="020B0604020202020204" pitchFamily="34" charset="0"/>
              </a:rPr>
            </a:br>
            <a:r>
              <a:rPr lang="en-GB" sz="1575" dirty="0">
                <a:cs typeface="Arial" panose="020B0604020202020204" pitchFamily="34" charset="0"/>
              </a:rPr>
              <a:t>Chairperson UNESCO IFAP National Committee, Pakistan.</a:t>
            </a:r>
            <a:endParaRPr lang="en-US" sz="1575" dirty="0">
              <a:cs typeface="Arial" panose="020B0604020202020204" pitchFamily="34" charset="0"/>
            </a:endParaRPr>
          </a:p>
        </p:txBody>
      </p:sp>
      <p:pic>
        <p:nvPicPr>
          <p:cNvPr id="40968" name="Picture 2">
            <a:extLst>
              <a:ext uri="{FF2B5EF4-FFF2-40B4-BE49-F238E27FC236}">
                <a16:creationId xmlns:a16="http://schemas.microsoft.com/office/drawing/2014/main" id="{9CAE5794-7A7A-8541-8125-6D84477F4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767" y="1007103"/>
            <a:ext cx="1735556" cy="1907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615B6249-5DD0-90F9-8AE5-D19AA989CD84}"/>
              </a:ext>
            </a:extLst>
          </p:cNvPr>
          <p:cNvSpPr txBox="1">
            <a:spLocks/>
          </p:cNvSpPr>
          <p:nvPr/>
        </p:nvSpPr>
        <p:spPr bwMode="auto">
          <a:xfrm>
            <a:off x="4567300" y="2881752"/>
            <a:ext cx="4576700" cy="2976629"/>
          </a:xfrm>
          <a:prstGeom prst="rect">
            <a:avLst/>
          </a:prstGeom>
          <a:solidFill>
            <a:schemeClr val="bg1"/>
          </a:solidFill>
          <a:ln>
            <a:headEnd/>
            <a:tailEnd/>
          </a:ln>
        </p:spPr>
        <p:style>
          <a:lnRef idx="0">
            <a:schemeClr val="accent6"/>
          </a:lnRef>
          <a:fillRef idx="3">
            <a:schemeClr val="accent6"/>
          </a:fillRef>
          <a:effectRef idx="3">
            <a:schemeClr val="accent6"/>
          </a:effectRef>
          <a:fontRef idx="minor">
            <a:schemeClr val="lt1"/>
          </a:fontRef>
        </p:style>
        <p:txBody>
          <a:bodyPr/>
          <a:lstStyle/>
          <a:p>
            <a:pPr marL="144661" indent="-144661">
              <a:spcBef>
                <a:spcPct val="20000"/>
              </a:spcBef>
              <a:defRPr/>
            </a:pPr>
            <a:r>
              <a:rPr lang="en-GB" sz="1238" b="1" kern="0" dirty="0">
                <a:solidFill>
                  <a:schemeClr val="bg2">
                    <a:lumMod val="10000"/>
                  </a:schemeClr>
                </a:solidFill>
                <a:latin typeface="+mj-lt"/>
              </a:rPr>
              <a:t>International Collaborations</a:t>
            </a:r>
            <a:endParaRPr lang="en-GB" sz="1050" kern="0" dirty="0">
              <a:solidFill>
                <a:schemeClr val="bg2">
                  <a:lumMod val="10000"/>
                </a:schemeClr>
              </a:solidFill>
              <a:latin typeface="+mj-lt"/>
            </a:endParaRPr>
          </a:p>
          <a:p>
            <a:pPr marL="669">
              <a:spcBef>
                <a:spcPct val="20000"/>
              </a:spcBef>
              <a:defRPr/>
            </a:pPr>
            <a:r>
              <a:rPr lang="en-GB" sz="1200" b="1" kern="0" dirty="0">
                <a:solidFill>
                  <a:schemeClr val="bg2">
                    <a:lumMod val="10000"/>
                  </a:schemeClr>
                </a:solidFill>
              </a:rPr>
              <a:t>China</a:t>
            </a:r>
          </a:p>
          <a:p>
            <a:pPr marL="129257" indent="-128588">
              <a:spcBef>
                <a:spcPct val="20000"/>
              </a:spcBef>
              <a:buFont typeface="Arial" panose="020B0604020202020204" pitchFamily="34" charset="0"/>
              <a:buChar char="•"/>
              <a:defRPr/>
            </a:pPr>
            <a:r>
              <a:rPr lang="en-US" sz="1050" dirty="0">
                <a:solidFill>
                  <a:schemeClr val="bg2">
                    <a:lumMod val="10000"/>
                  </a:schemeClr>
                </a:solidFill>
              </a:rPr>
              <a:t>Harbin Institute of Technology, Weihai, Northwest Polytech University, Uni of Electronic Sci &amp; Technology, China.</a:t>
            </a:r>
            <a:endParaRPr lang="en-GB" sz="1050" b="1" kern="0" dirty="0">
              <a:solidFill>
                <a:schemeClr val="bg2">
                  <a:lumMod val="10000"/>
                </a:schemeClr>
              </a:solidFill>
              <a:latin typeface="+mj-lt"/>
            </a:endParaRPr>
          </a:p>
          <a:p>
            <a:pPr marL="669">
              <a:spcBef>
                <a:spcPct val="20000"/>
              </a:spcBef>
              <a:defRPr/>
            </a:pPr>
            <a:r>
              <a:rPr lang="en-GB" sz="1050" b="1" kern="0" dirty="0">
                <a:solidFill>
                  <a:schemeClr val="bg2">
                    <a:lumMod val="10000"/>
                  </a:schemeClr>
                </a:solidFill>
                <a:latin typeface="+mj-lt"/>
              </a:rPr>
              <a:t>USA </a:t>
            </a:r>
          </a:p>
          <a:p>
            <a:pPr marL="46881" indent="-46212">
              <a:spcBef>
                <a:spcPct val="20000"/>
              </a:spcBef>
              <a:buFont typeface="Arial" panose="020B0604020202020204" pitchFamily="34" charset="0"/>
              <a:buChar char="•"/>
              <a:defRPr/>
            </a:pPr>
            <a:r>
              <a:rPr lang="en-GB" sz="1013" kern="0" dirty="0">
                <a:solidFill>
                  <a:schemeClr val="bg2">
                    <a:lumMod val="10000"/>
                  </a:schemeClr>
                </a:solidFill>
                <a:latin typeface="+mj-lt"/>
              </a:rPr>
              <a:t> University of Missouri, Kansas State Uni, UNC Charlotte,  TEXAM University.</a:t>
            </a:r>
          </a:p>
          <a:p>
            <a:pPr marL="669">
              <a:spcBef>
                <a:spcPct val="20000"/>
              </a:spcBef>
              <a:defRPr/>
            </a:pPr>
            <a:r>
              <a:rPr lang="en-GB" sz="1050" b="1" kern="0" dirty="0">
                <a:solidFill>
                  <a:schemeClr val="bg2">
                    <a:lumMod val="10000"/>
                  </a:schemeClr>
                </a:solidFill>
                <a:latin typeface="+mj-lt"/>
              </a:rPr>
              <a:t>UK &amp; Germany</a:t>
            </a:r>
          </a:p>
          <a:p>
            <a:pPr marL="46881" indent="-46212">
              <a:spcBef>
                <a:spcPct val="20000"/>
              </a:spcBef>
              <a:buFont typeface="Arial" panose="020B0604020202020204" pitchFamily="34" charset="0"/>
              <a:buChar char="•"/>
              <a:defRPr/>
            </a:pPr>
            <a:r>
              <a:rPr lang="en-GB" sz="1013" kern="0" dirty="0">
                <a:solidFill>
                  <a:schemeClr val="bg2">
                    <a:lumMod val="10000"/>
                  </a:schemeClr>
                </a:solidFill>
                <a:latin typeface="+mj-lt"/>
              </a:rPr>
              <a:t> Uni of West London , Uni of Glasgow, Uni of Edinburgh, Napier, </a:t>
            </a:r>
            <a:r>
              <a:rPr lang="en-US" sz="900" dirty="0">
                <a:solidFill>
                  <a:schemeClr val="bg2">
                    <a:lumMod val="10000"/>
                  </a:schemeClr>
                </a:solidFill>
                <a:latin typeface="+mj-lt"/>
              </a:rPr>
              <a:t>Uni of Ulm, Uni of Munich.  </a:t>
            </a:r>
            <a:endParaRPr lang="en-GB" sz="1013" kern="0" dirty="0">
              <a:solidFill>
                <a:schemeClr val="bg2">
                  <a:lumMod val="10000"/>
                </a:schemeClr>
              </a:solidFill>
              <a:latin typeface="+mj-lt"/>
            </a:endParaRPr>
          </a:p>
          <a:p>
            <a:pPr marL="669">
              <a:spcBef>
                <a:spcPct val="20000"/>
              </a:spcBef>
              <a:defRPr/>
            </a:pPr>
            <a:r>
              <a:rPr lang="en-US" sz="1013" b="1" dirty="0">
                <a:solidFill>
                  <a:schemeClr val="bg2">
                    <a:lumMod val="10000"/>
                  </a:schemeClr>
                </a:solidFill>
                <a:latin typeface="+mj-lt"/>
              </a:rPr>
              <a:t>Kazakhstan &amp; Saudi Arabia    </a:t>
            </a:r>
            <a:endParaRPr lang="en-GB" sz="1013" b="1" kern="0" dirty="0">
              <a:solidFill>
                <a:schemeClr val="bg2">
                  <a:lumMod val="10000"/>
                </a:schemeClr>
              </a:solidFill>
              <a:latin typeface="+mj-lt"/>
            </a:endParaRPr>
          </a:p>
          <a:p>
            <a:pPr marL="46881" indent="-46212">
              <a:spcBef>
                <a:spcPct val="20000"/>
              </a:spcBef>
              <a:buFont typeface="Arial" panose="020B0604020202020204" pitchFamily="34" charset="0"/>
              <a:buChar char="•"/>
              <a:defRPr/>
            </a:pPr>
            <a:r>
              <a:rPr lang="en-GB" sz="1013" kern="0" dirty="0">
                <a:solidFill>
                  <a:schemeClr val="bg2">
                    <a:lumMod val="10000"/>
                  </a:schemeClr>
                </a:solidFill>
                <a:latin typeface="+mj-lt"/>
              </a:rPr>
              <a:t> Prince Sultan Uni,</a:t>
            </a:r>
            <a:r>
              <a:rPr lang="en-US" sz="1013" dirty="0">
                <a:solidFill>
                  <a:schemeClr val="bg2">
                    <a:lumMod val="10000"/>
                  </a:schemeClr>
                </a:solidFill>
                <a:latin typeface="+mj-lt"/>
              </a:rPr>
              <a:t> Imam Uni, Prince Muqrin Uni,</a:t>
            </a:r>
          </a:p>
          <a:p>
            <a:pPr marL="669">
              <a:spcBef>
                <a:spcPct val="20000"/>
              </a:spcBef>
              <a:defRPr/>
            </a:pPr>
            <a:r>
              <a:rPr lang="en-US" sz="1013" b="1" dirty="0">
                <a:solidFill>
                  <a:schemeClr val="bg2">
                    <a:lumMod val="10000"/>
                  </a:schemeClr>
                </a:solidFill>
                <a:latin typeface="+mj-lt"/>
              </a:rPr>
              <a:t>Türkiye &amp; Malaysia</a:t>
            </a:r>
          </a:p>
          <a:p>
            <a:pPr marL="214982" indent="-214313">
              <a:spcBef>
                <a:spcPct val="20000"/>
              </a:spcBef>
              <a:buFont typeface="Arial" panose="020B0604020202020204" pitchFamily="34" charset="0"/>
              <a:buChar char="•"/>
              <a:defRPr/>
            </a:pPr>
            <a:r>
              <a:rPr lang="en-GB" sz="1013" kern="0" dirty="0">
                <a:solidFill>
                  <a:schemeClr val="bg2">
                    <a:lumMod val="10000"/>
                  </a:schemeClr>
                </a:solidFill>
                <a:latin typeface="+mj-lt"/>
              </a:rPr>
              <a:t>USAK Uni,</a:t>
            </a:r>
            <a:r>
              <a:rPr lang="en-US" sz="1013" kern="0" dirty="0">
                <a:solidFill>
                  <a:schemeClr val="bg2">
                    <a:lumMod val="10000"/>
                  </a:schemeClr>
                </a:solidFill>
                <a:latin typeface="+mj-lt"/>
              </a:rPr>
              <a:t> University of Malaya, Sunway Uni,</a:t>
            </a:r>
          </a:p>
          <a:p>
            <a:pPr marL="669">
              <a:spcBef>
                <a:spcPct val="20000"/>
              </a:spcBef>
              <a:defRPr/>
            </a:pPr>
            <a:r>
              <a:rPr lang="en-GB" sz="900" b="1" kern="0" dirty="0">
                <a:solidFill>
                  <a:schemeClr val="bg2">
                    <a:lumMod val="10000"/>
                  </a:schemeClr>
                </a:solidFill>
              </a:rPr>
              <a:t>Azerbaijan</a:t>
            </a:r>
          </a:p>
          <a:p>
            <a:pPr marL="669">
              <a:spcBef>
                <a:spcPct val="20000"/>
              </a:spcBef>
              <a:defRPr/>
            </a:pPr>
            <a:r>
              <a:rPr lang="en-GB" sz="900" kern="0" dirty="0">
                <a:solidFill>
                  <a:schemeClr val="bg2">
                    <a:lumMod val="10000"/>
                  </a:schemeClr>
                </a:solidFill>
              </a:rPr>
              <a:t>Baku State University,</a:t>
            </a:r>
            <a:r>
              <a:rPr lang="en-US" sz="1013" kern="0" dirty="0">
                <a:solidFill>
                  <a:schemeClr val="bg2">
                    <a:lumMod val="10000"/>
                  </a:schemeClr>
                </a:solidFill>
                <a:latin typeface="+mj-lt"/>
              </a:rPr>
              <a:t> </a:t>
            </a:r>
          </a:p>
          <a:p>
            <a:pPr marL="669">
              <a:spcBef>
                <a:spcPct val="20000"/>
              </a:spcBef>
              <a:defRPr/>
            </a:pPr>
            <a:endParaRPr lang="en-GB" sz="1013" kern="0" dirty="0">
              <a:solidFill>
                <a:schemeClr val="bg2">
                  <a:lumMod val="10000"/>
                </a:schemeClr>
              </a:solidFill>
              <a:latin typeface="Times" pitchFamily="2" charset="0"/>
            </a:endParaRPr>
          </a:p>
          <a:p>
            <a:pPr marL="670">
              <a:spcBef>
                <a:spcPct val="20000"/>
              </a:spcBef>
              <a:defRPr/>
            </a:pPr>
            <a:endParaRPr lang="en-GB" sz="844" dirty="0">
              <a:solidFill>
                <a:schemeClr val="bg2">
                  <a:lumMod val="10000"/>
                </a:schemeClr>
              </a:solidFill>
              <a:latin typeface="Times" pitchFamily="2" charset="0"/>
            </a:endParaRPr>
          </a:p>
        </p:txBody>
      </p:sp>
      <p:sp>
        <p:nvSpPr>
          <p:cNvPr id="4" name="TextBox 3">
            <a:extLst>
              <a:ext uri="{FF2B5EF4-FFF2-40B4-BE49-F238E27FC236}">
                <a16:creationId xmlns:a16="http://schemas.microsoft.com/office/drawing/2014/main" id="{758117C7-1A65-9B37-92BA-2F8A31F90D73}"/>
              </a:ext>
            </a:extLst>
          </p:cNvPr>
          <p:cNvSpPr txBox="1"/>
          <p:nvPr/>
        </p:nvSpPr>
        <p:spPr>
          <a:xfrm>
            <a:off x="0" y="4554050"/>
            <a:ext cx="4567301" cy="1304331"/>
          </a:xfrm>
          <a:prstGeom prst="rect">
            <a:avLst/>
          </a:prstGeom>
          <a:solidFill>
            <a:schemeClr val="bg1"/>
          </a:solidFill>
        </p:spPr>
        <p:txBody>
          <a:bodyPr wrap="square" rtlCol="0">
            <a:spAutoFit/>
          </a:bodyPr>
          <a:lstStyle/>
          <a:p>
            <a:r>
              <a:rPr lang="en-PK" sz="1238" b="1" dirty="0">
                <a:latin typeface="+mj-lt"/>
                <a:cs typeface="Times New Roman" panose="02020603050405020304" pitchFamily="18" charset="0"/>
              </a:rPr>
              <a:t>International Editorial and Organiser Roles</a:t>
            </a:r>
          </a:p>
          <a:p>
            <a:endParaRPr lang="en-PK" sz="1013" b="1" dirty="0">
              <a:latin typeface="+mj-lt"/>
              <a:cs typeface="Times New Roman" panose="02020603050405020304" pitchFamily="18" charset="0"/>
            </a:endParaRPr>
          </a:p>
          <a:p>
            <a:r>
              <a:rPr lang="en-PK" sz="1125" dirty="0">
                <a:latin typeface="+mj-lt"/>
                <a:cs typeface="Times New Roman" panose="02020603050405020304" pitchFamily="18" charset="0"/>
              </a:rPr>
              <a:t>Co-Chair HoNET-ICT 2018,19,20,21,22</a:t>
            </a:r>
            <a:r>
              <a:rPr lang="en-PK" sz="1125">
                <a:latin typeface="+mj-lt"/>
                <a:cs typeface="Times New Roman" panose="02020603050405020304" pitchFamily="18" charset="0"/>
              </a:rPr>
              <a:t>, 23,</a:t>
            </a:r>
            <a:r>
              <a:rPr lang="en-US" sz="1125" dirty="0">
                <a:latin typeface="+mj-lt"/>
                <a:cs typeface="Times New Roman" panose="02020603050405020304" pitchFamily="18" charset="0"/>
              </a:rPr>
              <a:t> 24,2025 </a:t>
            </a:r>
          </a:p>
          <a:p>
            <a:r>
              <a:rPr lang="en-PK" sz="1125">
                <a:latin typeface="+mj-lt"/>
                <a:cs typeface="Times New Roman" panose="02020603050405020304" pitchFamily="18" charset="0"/>
              </a:rPr>
              <a:t>C-CoDE-2019</a:t>
            </a:r>
            <a:r>
              <a:rPr lang="en-PK" sz="1125" dirty="0">
                <a:latin typeface="+mj-lt"/>
                <a:cs typeface="Times New Roman" panose="02020603050405020304" pitchFamily="18" charset="0"/>
              </a:rPr>
              <a:t>, 22. I-CoD-2 2022, </a:t>
            </a:r>
            <a:r>
              <a:rPr lang="en-PK" sz="1125">
                <a:latin typeface="+mj-lt"/>
                <a:cs typeface="Times New Roman" panose="02020603050405020304" pitchFamily="18" charset="0"/>
              </a:rPr>
              <a:t>2023,</a:t>
            </a:r>
            <a:r>
              <a:rPr lang="en-US" sz="1125" dirty="0">
                <a:latin typeface="+mj-lt"/>
                <a:cs typeface="Times New Roman" panose="02020603050405020304" pitchFamily="18" charset="0"/>
              </a:rPr>
              <a:t> 2025</a:t>
            </a:r>
            <a:endParaRPr lang="en-PK" sz="1125" dirty="0">
              <a:latin typeface="+mj-lt"/>
              <a:cs typeface="Times New Roman" panose="02020603050405020304" pitchFamily="18" charset="0"/>
            </a:endParaRPr>
          </a:p>
          <a:p>
            <a:r>
              <a:rPr lang="en-PK" sz="1125" dirty="0">
                <a:latin typeface="+mj-lt"/>
                <a:cs typeface="Times New Roman" panose="02020603050405020304" pitchFamily="18" charset="0"/>
              </a:rPr>
              <a:t>Associate Editor IEEE Access,  </a:t>
            </a:r>
          </a:p>
          <a:p>
            <a:r>
              <a:rPr lang="en-PK" sz="1125" dirty="0">
                <a:latin typeface="+mj-lt"/>
                <a:cs typeface="Times New Roman" panose="02020603050405020304" pitchFamily="18" charset="0"/>
              </a:rPr>
              <a:t>Guest Editior in Journal: Computer Material and Continoua. </a:t>
            </a:r>
          </a:p>
          <a:p>
            <a:r>
              <a:rPr lang="en-PK" sz="1125" dirty="0">
                <a:latin typeface="+mj-lt"/>
                <a:cs typeface="Times New Roman" panose="02020603050405020304" pitchFamily="18" charset="0"/>
              </a:rPr>
              <a:t>Reviewer in IEEE Transactions, Elsvier Journals, </a:t>
            </a:r>
            <a:r>
              <a:rPr lang="en-PK" sz="1125">
                <a:latin typeface="+mj-lt"/>
                <a:cs typeface="Times New Roman" panose="02020603050405020304" pitchFamily="18" charset="0"/>
              </a:rPr>
              <a:t>Springer </a:t>
            </a:r>
            <a:r>
              <a:rPr lang="en-US" sz="1125" dirty="0">
                <a:latin typeface="+mj-lt"/>
                <a:cs typeface="Times New Roman" panose="02020603050405020304" pitchFamily="18" charset="0"/>
              </a:rPr>
              <a:t>&amp;</a:t>
            </a:r>
            <a:r>
              <a:rPr lang="en-PK" sz="1125">
                <a:latin typeface="+mj-lt"/>
                <a:cs typeface="Times New Roman" panose="02020603050405020304" pitchFamily="18" charset="0"/>
              </a:rPr>
              <a:t> </a:t>
            </a:r>
            <a:r>
              <a:rPr lang="en-PK" sz="1125" dirty="0">
                <a:latin typeface="+mj-lt"/>
                <a:cs typeface="Times New Roman" panose="02020603050405020304" pitchFamily="18" charset="0"/>
              </a:rPr>
              <a:t>Wiley</a:t>
            </a:r>
          </a:p>
        </p:txBody>
      </p:sp>
      <p:sp>
        <p:nvSpPr>
          <p:cNvPr id="5" name="Content Placeholder 2">
            <a:extLst>
              <a:ext uri="{FF2B5EF4-FFF2-40B4-BE49-F238E27FC236}">
                <a16:creationId xmlns:a16="http://schemas.microsoft.com/office/drawing/2014/main" id="{6F8F19BF-8A89-D5D4-84E6-162AF049AB27}"/>
              </a:ext>
            </a:extLst>
          </p:cNvPr>
          <p:cNvSpPr txBox="1">
            <a:spLocks/>
          </p:cNvSpPr>
          <p:nvPr/>
        </p:nvSpPr>
        <p:spPr bwMode="auto">
          <a:xfrm>
            <a:off x="0" y="2881752"/>
            <a:ext cx="4567300" cy="1672298"/>
          </a:xfrm>
          <a:prstGeom prst="rect">
            <a:avLst/>
          </a:prstGeom>
          <a:solidFill>
            <a:schemeClr val="bg1"/>
          </a:solidFill>
          <a:ln>
            <a:headEnd/>
            <a:tailEnd/>
          </a:ln>
        </p:spPr>
        <p:style>
          <a:lnRef idx="0">
            <a:schemeClr val="accent1"/>
          </a:lnRef>
          <a:fillRef idx="3">
            <a:schemeClr val="accent1"/>
          </a:fillRef>
          <a:effectRef idx="3">
            <a:schemeClr val="accent1"/>
          </a:effectRef>
          <a:fontRef idx="minor">
            <a:schemeClr val="lt1"/>
          </a:fontRef>
        </p:style>
        <p:txBody>
          <a:bodyPr/>
          <a:lstStyle/>
          <a:p>
            <a:pPr>
              <a:spcBef>
                <a:spcPct val="20000"/>
              </a:spcBef>
              <a:defRPr/>
            </a:pPr>
            <a:r>
              <a:rPr lang="en-GB" sz="1238" b="1" kern="0" dirty="0">
                <a:solidFill>
                  <a:schemeClr val="tx1"/>
                </a:solidFill>
                <a:latin typeface="+mj-lt"/>
              </a:rPr>
              <a:t>Research Profile:</a:t>
            </a:r>
          </a:p>
          <a:p>
            <a:pPr>
              <a:spcBef>
                <a:spcPct val="20000"/>
              </a:spcBef>
              <a:defRPr/>
            </a:pPr>
            <a:r>
              <a:rPr lang="en-GB" sz="1125" kern="0" dirty="0">
                <a:solidFill>
                  <a:schemeClr val="tx1"/>
                </a:solidFill>
                <a:latin typeface="+mj-lt"/>
              </a:rPr>
              <a:t>International Grants:  350 M</a:t>
            </a:r>
          </a:p>
          <a:p>
            <a:pPr>
              <a:spcBef>
                <a:spcPct val="20000"/>
              </a:spcBef>
              <a:defRPr/>
            </a:pPr>
            <a:r>
              <a:rPr lang="en-GB" sz="1125" kern="0" dirty="0">
                <a:solidFill>
                  <a:schemeClr val="tx1"/>
                </a:solidFill>
                <a:latin typeface="+mj-lt"/>
              </a:rPr>
              <a:t>OIC, ICESCO, UMKC, PAS, CHINA,  </a:t>
            </a:r>
          </a:p>
          <a:p>
            <a:pPr>
              <a:spcBef>
                <a:spcPct val="20000"/>
              </a:spcBef>
              <a:defRPr/>
            </a:pPr>
            <a:r>
              <a:rPr lang="en-GB" sz="1125" kern="0" dirty="0">
                <a:solidFill>
                  <a:schemeClr val="tx1"/>
                </a:solidFill>
                <a:latin typeface="+mj-lt"/>
              </a:rPr>
              <a:t>International Publications: 230</a:t>
            </a:r>
          </a:p>
          <a:p>
            <a:pPr marL="120551" indent="-120551">
              <a:spcBef>
                <a:spcPct val="20000"/>
              </a:spcBef>
              <a:defRPr/>
            </a:pPr>
            <a:r>
              <a:rPr lang="en-GB" sz="1125" kern="0" dirty="0">
                <a:solidFill>
                  <a:schemeClr val="tx1"/>
                </a:solidFill>
                <a:latin typeface="+mj-lt"/>
              </a:rPr>
              <a:t>Impact Factor: 400+</a:t>
            </a:r>
          </a:p>
          <a:p>
            <a:pPr marL="120551" indent="-120551">
              <a:spcBef>
                <a:spcPct val="20000"/>
              </a:spcBef>
              <a:defRPr/>
            </a:pPr>
            <a:r>
              <a:rPr lang="en-GB" sz="1125" kern="0" dirty="0">
                <a:solidFill>
                  <a:schemeClr val="tx1"/>
                </a:solidFill>
                <a:latin typeface="+mj-lt"/>
              </a:rPr>
              <a:t>Citations: 6614+</a:t>
            </a:r>
          </a:p>
          <a:p>
            <a:pPr marL="120551" indent="-120551">
              <a:spcBef>
                <a:spcPct val="20000"/>
              </a:spcBef>
              <a:defRPr/>
            </a:pPr>
            <a:r>
              <a:rPr lang="en-GB" sz="1125" kern="0" dirty="0">
                <a:solidFill>
                  <a:schemeClr val="tx1"/>
                </a:solidFill>
                <a:latin typeface="+mj-lt"/>
              </a:rPr>
              <a:t>H-Index – 45</a:t>
            </a:r>
          </a:p>
          <a:p>
            <a:pPr marL="120551" indent="-120551">
              <a:spcBef>
                <a:spcPct val="20000"/>
              </a:spcBef>
              <a:defRPr/>
            </a:pPr>
            <a:r>
              <a:rPr lang="en-GB" sz="1125" b="1" kern="0" dirty="0">
                <a:solidFill>
                  <a:schemeClr val="tx1"/>
                </a:solidFill>
                <a:latin typeface="+mj-lt"/>
              </a:rPr>
              <a:t>Product Developed</a:t>
            </a:r>
            <a:r>
              <a:rPr lang="en-GB" sz="1125" kern="0" dirty="0">
                <a:solidFill>
                  <a:schemeClr val="tx1"/>
                </a:solidFill>
                <a:latin typeface="+mj-lt"/>
              </a:rPr>
              <a:t>: Safe Roam, Pollution </a:t>
            </a:r>
            <a:r>
              <a:rPr lang="en-GB" sz="1125" kern="0" dirty="0" err="1">
                <a:solidFill>
                  <a:schemeClr val="tx1"/>
                </a:solidFill>
                <a:latin typeface="+mj-lt"/>
              </a:rPr>
              <a:t>Moniter</a:t>
            </a:r>
            <a:r>
              <a:rPr lang="en-GB" sz="1125" kern="0" dirty="0">
                <a:solidFill>
                  <a:schemeClr val="tx1"/>
                </a:solidFill>
                <a:latin typeface="+mj-lt"/>
              </a:rPr>
              <a:t> </a:t>
            </a:r>
          </a:p>
          <a:p>
            <a:pPr marL="144661" indent="-144661">
              <a:spcBef>
                <a:spcPct val="20000"/>
              </a:spcBef>
              <a:buFont typeface="Wingdings" pitchFamily="2" charset="2"/>
              <a:buChar char="§"/>
              <a:defRPr/>
            </a:pPr>
            <a:endParaRPr lang="en-GB" sz="1013" b="1" kern="0" dirty="0">
              <a:solidFill>
                <a:schemeClr val="accent1">
                  <a:lumMod val="20000"/>
                  <a:lumOff val="80000"/>
                </a:schemeClr>
              </a:solidFill>
              <a:latin typeface="Times" pitchFamily="2" charset="0"/>
            </a:endParaRPr>
          </a:p>
        </p:txBody>
      </p:sp>
      <p:sp>
        <p:nvSpPr>
          <p:cNvPr id="6" name="Content Placeholder 2">
            <a:extLst>
              <a:ext uri="{FF2B5EF4-FFF2-40B4-BE49-F238E27FC236}">
                <a16:creationId xmlns:a16="http://schemas.microsoft.com/office/drawing/2014/main" id="{07825BA2-7377-8734-2312-3E1D898CD95B}"/>
              </a:ext>
            </a:extLst>
          </p:cNvPr>
          <p:cNvSpPr txBox="1">
            <a:spLocks/>
          </p:cNvSpPr>
          <p:nvPr/>
        </p:nvSpPr>
        <p:spPr bwMode="auto">
          <a:xfrm>
            <a:off x="0" y="2191931"/>
            <a:ext cx="7392766" cy="689821"/>
          </a:xfrm>
          <a:prstGeom prst="rect">
            <a:avLst/>
          </a:prstGeom>
          <a:solidFill>
            <a:schemeClr val="bg1"/>
          </a:solidFill>
          <a:ln w="9525">
            <a:noFill/>
            <a:miter lim="800000"/>
            <a:headEnd/>
            <a:tailEnd/>
          </a:ln>
        </p:spPr>
        <p:txBody>
          <a:bodyPr/>
          <a:lstStyle/>
          <a:p>
            <a:pPr indent="-144661">
              <a:spcBef>
                <a:spcPct val="20000"/>
              </a:spcBef>
              <a:defRPr/>
            </a:pPr>
            <a:r>
              <a:rPr lang="en-US" sz="1238" b="1" dirty="0">
                <a:solidFill>
                  <a:prstClr val="black"/>
                </a:solidFill>
                <a:latin typeface="+mj-lt"/>
              </a:rPr>
              <a:t>  Research Areas</a:t>
            </a:r>
          </a:p>
          <a:p>
            <a:pPr marL="144661" indent="-144661">
              <a:buFont typeface="Wingdings" pitchFamily="2" charset="2"/>
              <a:buChar char="§"/>
              <a:defRPr/>
            </a:pPr>
            <a:r>
              <a:rPr lang="en-US" sz="1238" kern="0" dirty="0">
                <a:solidFill>
                  <a:prstClr val="black"/>
                </a:solidFill>
                <a:latin typeface="+mj-lt"/>
              </a:rPr>
              <a:t>Artificial Intelligence (AI), Internet of Things (IoTs), Smart Cities, </a:t>
            </a:r>
          </a:p>
          <a:p>
            <a:pPr marL="144661" indent="-144661">
              <a:buFont typeface="Wingdings" pitchFamily="2" charset="2"/>
              <a:buChar char="§"/>
              <a:defRPr/>
            </a:pPr>
            <a:r>
              <a:rPr lang="en-US" sz="1238" kern="0" dirty="0">
                <a:solidFill>
                  <a:prstClr val="black"/>
                </a:solidFill>
                <a:latin typeface="+mj-lt"/>
              </a:rPr>
              <a:t>Intelligent Networks, Information Security.</a:t>
            </a:r>
          </a:p>
        </p:txBody>
      </p:sp>
      <p:sp>
        <p:nvSpPr>
          <p:cNvPr id="3" name="Date Placeholder 2">
            <a:extLst>
              <a:ext uri="{FF2B5EF4-FFF2-40B4-BE49-F238E27FC236}">
                <a16:creationId xmlns:a16="http://schemas.microsoft.com/office/drawing/2014/main" id="{74B17014-4ABF-C8E7-2C68-20285F52BF5F}"/>
              </a:ext>
            </a:extLst>
          </p:cNvPr>
          <p:cNvSpPr>
            <a:spLocks noGrp="1"/>
          </p:cNvSpPr>
          <p:nvPr>
            <p:ph type="dt" sz="half" idx="10"/>
          </p:nvPr>
        </p:nvSpPr>
        <p:spPr/>
        <p:txBody>
          <a:bodyPr/>
          <a:lstStyle/>
          <a:p>
            <a:fld id="{46663A47-7731-D748-B11C-B6536F60DB43}" type="datetime1">
              <a:rPr lang="en-US" smtClean="0"/>
              <a:t>2/16/26</a:t>
            </a:fld>
            <a:endParaRPr lang="en-US"/>
          </a:p>
        </p:txBody>
      </p:sp>
      <p:sp>
        <p:nvSpPr>
          <p:cNvPr id="8" name="Slide Number Placeholder 7">
            <a:extLst>
              <a:ext uri="{FF2B5EF4-FFF2-40B4-BE49-F238E27FC236}">
                <a16:creationId xmlns:a16="http://schemas.microsoft.com/office/drawing/2014/main" id="{2580D31D-F019-CF4C-CC85-75EEEF0705F6}"/>
              </a:ext>
            </a:extLst>
          </p:cNvPr>
          <p:cNvSpPr>
            <a:spLocks noGrp="1"/>
          </p:cNvSpPr>
          <p:nvPr>
            <p:ph type="sldNum" sz="quarter" idx="12"/>
          </p:nvPr>
        </p:nvSpPr>
        <p:spPr/>
        <p:txBody>
          <a:bodyPr/>
          <a:lstStyle/>
          <a:p>
            <a:fld id="{BE7849FC-8880-CF40-B89F-1DA9FA1F467D}" type="slidenum">
              <a:rPr lang="en-US" smtClean="0"/>
              <a:t>2</a:t>
            </a:fld>
            <a:endParaRPr lang="en-US" dirty="0"/>
          </a:p>
        </p:txBody>
      </p:sp>
      <p:pic>
        <p:nvPicPr>
          <p:cNvPr id="10242" name="Picture 2" descr="Flag of the United States of America | History, Meaning, Facts, &amp; Design |  Britannica">
            <a:extLst>
              <a:ext uri="{FF2B5EF4-FFF2-40B4-BE49-F238E27FC236}">
                <a16:creationId xmlns:a16="http://schemas.microsoft.com/office/drawing/2014/main" id="{59AC0D01-E4D5-E315-AA3A-0F0B72A17D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9790" y="4068503"/>
            <a:ext cx="613204" cy="34555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Britain, england, flag, great, kingdom, uk, united icon - Download on  Iconfinder">
            <a:extLst>
              <a:ext uri="{FF2B5EF4-FFF2-40B4-BE49-F238E27FC236}">
                <a16:creationId xmlns:a16="http://schemas.microsoft.com/office/drawing/2014/main" id="{C11FCB53-E26F-CEC5-7995-1E53944BA9D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8665" b="19582"/>
          <a:stretch>
            <a:fillRect/>
          </a:stretch>
        </p:blipFill>
        <p:spPr bwMode="auto">
          <a:xfrm>
            <a:off x="8181452" y="3515181"/>
            <a:ext cx="488286" cy="34555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Flag of Germany | History, Meaning, WW1, &amp; WW2 | Britannica">
            <a:extLst>
              <a:ext uri="{FF2B5EF4-FFF2-40B4-BE49-F238E27FC236}">
                <a16:creationId xmlns:a16="http://schemas.microsoft.com/office/drawing/2014/main" id="{D6CBD19A-0E92-CA12-C9CE-64F73CA1EC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36306" y="3525573"/>
            <a:ext cx="488286" cy="367922"/>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14,800+ China Flag Stock Photos, Pictures &amp; Royalty-Free Images - iStock |  American flag, Four seasons, China">
            <a:extLst>
              <a:ext uri="{FF2B5EF4-FFF2-40B4-BE49-F238E27FC236}">
                <a16:creationId xmlns:a16="http://schemas.microsoft.com/office/drawing/2014/main" id="{D8059C8E-F983-17F3-C44B-150DE6C2BA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7783" y="2877111"/>
            <a:ext cx="689528" cy="398536"/>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a:extLst>
              <a:ext uri="{FF2B5EF4-FFF2-40B4-BE49-F238E27FC236}">
                <a16:creationId xmlns:a16="http://schemas.microsoft.com/office/drawing/2014/main" id="{C2969394-A3C9-5474-52CF-834BA0F84D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40263" y="4585183"/>
            <a:ext cx="681548" cy="450900"/>
          </a:xfrm>
          <a:prstGeom prst="rect">
            <a:avLst/>
          </a:prstGeom>
          <a:noFill/>
          <a:extLst>
            <a:ext uri="{909E8E84-426E-40DD-AFC4-6F175D3DCCD1}">
              <a14:hiddenFill xmlns:a14="http://schemas.microsoft.com/office/drawing/2010/main">
                <a:solidFill>
                  <a:srgbClr val="FFFFFF"/>
                </a:solidFill>
              </a14:hiddenFill>
            </a:ext>
          </a:extLst>
        </p:spPr>
      </p:pic>
      <p:pic>
        <p:nvPicPr>
          <p:cNvPr id="10252" name="Picture 12" descr="Flag of Saudi Arabia | History, Symbolism &amp; Meaning | Britannica">
            <a:extLst>
              <a:ext uri="{FF2B5EF4-FFF2-40B4-BE49-F238E27FC236}">
                <a16:creationId xmlns:a16="http://schemas.microsoft.com/office/drawing/2014/main" id="{3F49BA21-74BC-A9F0-F975-85A2FF5382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0211" y="4583366"/>
            <a:ext cx="681548" cy="473367"/>
          </a:xfrm>
          <a:prstGeom prst="rect">
            <a:avLst/>
          </a:prstGeom>
          <a:noFill/>
          <a:extLst>
            <a:ext uri="{909E8E84-426E-40DD-AFC4-6F175D3DCCD1}">
              <a14:hiddenFill xmlns:a14="http://schemas.microsoft.com/office/drawing/2010/main">
                <a:solidFill>
                  <a:srgbClr val="FFFFFF"/>
                </a:solidFill>
              </a14:hiddenFill>
            </a:ext>
          </a:extLst>
        </p:spPr>
      </p:pic>
      <p:pic>
        <p:nvPicPr>
          <p:cNvPr id="10254" name="Picture 14" descr="Flag of Turkey - Wikipedia">
            <a:extLst>
              <a:ext uri="{FF2B5EF4-FFF2-40B4-BE49-F238E27FC236}">
                <a16:creationId xmlns:a16="http://schemas.microsoft.com/office/drawing/2014/main" id="{738CBF38-3E81-DC05-41BB-657F3D701A0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33750" y="5034133"/>
            <a:ext cx="694574" cy="398536"/>
          </a:xfrm>
          <a:prstGeom prst="rect">
            <a:avLst/>
          </a:prstGeom>
          <a:noFill/>
          <a:extLst>
            <a:ext uri="{909E8E84-426E-40DD-AFC4-6F175D3DCCD1}">
              <a14:hiddenFill xmlns:a14="http://schemas.microsoft.com/office/drawing/2010/main">
                <a:solidFill>
                  <a:srgbClr val="FFFFFF"/>
                </a:solidFill>
              </a14:hiddenFill>
            </a:ext>
          </a:extLst>
        </p:spPr>
      </p:pic>
      <p:pic>
        <p:nvPicPr>
          <p:cNvPr id="10256" name="Picture 16" descr="Flag of Malaysia - Wikipedia">
            <a:extLst>
              <a:ext uri="{FF2B5EF4-FFF2-40B4-BE49-F238E27FC236}">
                <a16:creationId xmlns:a16="http://schemas.microsoft.com/office/drawing/2014/main" id="{788309C7-556D-84C2-97FE-35CCBA7B57E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76599" y="5044525"/>
            <a:ext cx="654768" cy="3951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lag of Azerbaijan - Wikipedia">
            <a:extLst>
              <a:ext uri="{FF2B5EF4-FFF2-40B4-BE49-F238E27FC236}">
                <a16:creationId xmlns:a16="http://schemas.microsoft.com/office/drawing/2014/main" id="{0AFC7066-9E3A-FA04-A80B-F878353499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76650" y="5460234"/>
            <a:ext cx="694573" cy="512777"/>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CA0784D4-4C61-28B7-6A1F-80290453205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2131" y="4078759"/>
            <a:ext cx="620738" cy="345551"/>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British Council - Acted">
            <a:extLst>
              <a:ext uri="{FF2B5EF4-FFF2-40B4-BE49-F238E27FC236}">
                <a16:creationId xmlns:a16="http://schemas.microsoft.com/office/drawing/2014/main" id="{EE29FF3B-5EC1-04D5-9E25-590149D75C8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44666" y="2925113"/>
            <a:ext cx="852357" cy="24416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ICESCO AT COP 16 - ICESCO">
            <a:extLst>
              <a:ext uri="{FF2B5EF4-FFF2-40B4-BE49-F238E27FC236}">
                <a16:creationId xmlns:a16="http://schemas.microsoft.com/office/drawing/2014/main" id="{9186A811-4590-5D30-534A-C19418F69A1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39233" y="2893468"/>
            <a:ext cx="869879" cy="35139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Pakistan Academy of Sciences - Wikipedia">
            <a:extLst>
              <a:ext uri="{FF2B5EF4-FFF2-40B4-BE49-F238E27FC236}">
                <a16:creationId xmlns:a16="http://schemas.microsoft.com/office/drawing/2014/main" id="{37FA5DF6-E9B4-F1F3-0DAF-409A79EFD54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23923" y="3272285"/>
            <a:ext cx="692399" cy="681714"/>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University of Missouri–Kansas City ...">
            <a:extLst>
              <a:ext uri="{FF2B5EF4-FFF2-40B4-BE49-F238E27FC236}">
                <a16:creationId xmlns:a16="http://schemas.microsoft.com/office/drawing/2014/main" id="{A4D805D1-C22D-C7E6-110C-3CF74EDBD9A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25564" y="3312926"/>
            <a:ext cx="679510" cy="298664"/>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descr="IZhO">
            <a:extLst>
              <a:ext uri="{FF2B5EF4-FFF2-40B4-BE49-F238E27FC236}">
                <a16:creationId xmlns:a16="http://schemas.microsoft.com/office/drawing/2014/main" id="{751F427F-DC97-7077-3B80-D60DB8789CF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16067" y="3654275"/>
            <a:ext cx="1028700" cy="654297"/>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Ignite National Technology Fund - Wikipedia">
            <a:extLst>
              <a:ext uri="{FF2B5EF4-FFF2-40B4-BE49-F238E27FC236}">
                <a16:creationId xmlns:a16="http://schemas.microsoft.com/office/drawing/2014/main" id="{99251160-C13A-51DC-253F-77D6B6FEED0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22835" y="4019761"/>
            <a:ext cx="766397" cy="383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003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AutoShape 2">
            <a:extLst>
              <a:ext uri="{FF2B5EF4-FFF2-40B4-BE49-F238E27FC236}">
                <a16:creationId xmlns:a16="http://schemas.microsoft.com/office/drawing/2014/main" id="{5747C1E8-6C45-7A14-E3B7-D35F4ED808D4}"/>
              </a:ext>
            </a:extLst>
          </p:cNvPr>
          <p:cNvSpPr>
            <a:spLocks noGrp="1" noChangeArrowheads="1"/>
          </p:cNvSpPr>
          <p:nvPr>
            <p:ph type="title"/>
          </p:nvPr>
        </p:nvSpPr>
        <p:spPr>
          <a:xfrm>
            <a:off x="685800" y="76200"/>
            <a:ext cx="8382000" cy="838200"/>
          </a:xfrm>
        </p:spPr>
        <p:txBody>
          <a:bodyPr/>
          <a:lstStyle/>
          <a:p>
            <a:r>
              <a:rPr lang="en-US" altLang="en-US"/>
              <a:t>Course Outline</a:t>
            </a:r>
          </a:p>
        </p:txBody>
      </p:sp>
      <p:sp>
        <p:nvSpPr>
          <p:cNvPr id="7170" name="Rectangle 3">
            <a:extLst>
              <a:ext uri="{FF2B5EF4-FFF2-40B4-BE49-F238E27FC236}">
                <a16:creationId xmlns:a16="http://schemas.microsoft.com/office/drawing/2014/main" id="{E31CBBA4-AC7E-C6EE-A827-4D7FBAF26ADC}"/>
              </a:ext>
            </a:extLst>
          </p:cNvPr>
          <p:cNvSpPr>
            <a:spLocks noGrp="1" noChangeArrowheads="1"/>
          </p:cNvSpPr>
          <p:nvPr>
            <p:ph idx="1"/>
          </p:nvPr>
        </p:nvSpPr>
        <p:spPr>
          <a:xfrm>
            <a:off x="838200" y="1295400"/>
            <a:ext cx="8305800" cy="5334000"/>
          </a:xfrm>
        </p:spPr>
        <p:txBody>
          <a:bodyPr/>
          <a:lstStyle/>
          <a:p>
            <a:r>
              <a:rPr lang="en-US" altLang="en-US" b="1"/>
              <a:t>Intro to Security, Security Services (Authentication, integrity, confidentiality), </a:t>
            </a:r>
          </a:p>
          <a:p>
            <a:endParaRPr lang="en-US" altLang="en-US" b="1"/>
          </a:p>
          <a:p>
            <a:r>
              <a:rPr lang="en-US" altLang="en-US" b="1"/>
              <a:t>Threats and goals of network security</a:t>
            </a:r>
          </a:p>
          <a:p>
            <a:endParaRPr lang="en-US" altLang="en-US" b="1"/>
          </a:p>
          <a:p>
            <a:r>
              <a:rPr lang="en-US" altLang="en-US" b="1"/>
              <a:t>Security Assessment and planning, </a:t>
            </a:r>
          </a:p>
          <a:p>
            <a:r>
              <a:rPr lang="en-US" altLang="en-US" b="1"/>
              <a:t>Firewalls and access control lists</a:t>
            </a:r>
          </a:p>
          <a:p>
            <a:endParaRPr lang="en-US" altLang="en-US" b="1"/>
          </a:p>
          <a:p>
            <a:r>
              <a:rPr lang="en-US" altLang="en-US" b="1"/>
              <a:t>Cryptography Algorithms like DES, 3DES, RSA, MD5, SHA etc.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AutoShape 2">
            <a:extLst>
              <a:ext uri="{FF2B5EF4-FFF2-40B4-BE49-F238E27FC236}">
                <a16:creationId xmlns:a16="http://schemas.microsoft.com/office/drawing/2014/main" id="{EE1B4B8F-FEF0-8067-48E2-87B930920871}"/>
              </a:ext>
            </a:extLst>
          </p:cNvPr>
          <p:cNvSpPr>
            <a:spLocks noGrp="1" noChangeArrowheads="1"/>
          </p:cNvSpPr>
          <p:nvPr>
            <p:ph type="title"/>
          </p:nvPr>
        </p:nvSpPr>
        <p:spPr>
          <a:xfrm>
            <a:off x="685800" y="76200"/>
            <a:ext cx="8382000" cy="838200"/>
          </a:xfrm>
        </p:spPr>
        <p:txBody>
          <a:bodyPr/>
          <a:lstStyle/>
          <a:p>
            <a:r>
              <a:rPr lang="en-US" altLang="en-US"/>
              <a:t>Course Outline</a:t>
            </a:r>
          </a:p>
        </p:txBody>
      </p:sp>
      <p:sp>
        <p:nvSpPr>
          <p:cNvPr id="8194" name="Rectangle 3">
            <a:extLst>
              <a:ext uri="{FF2B5EF4-FFF2-40B4-BE49-F238E27FC236}">
                <a16:creationId xmlns:a16="http://schemas.microsoft.com/office/drawing/2014/main" id="{994A0E32-34B7-6824-618C-ABD31CAB03B8}"/>
              </a:ext>
            </a:extLst>
          </p:cNvPr>
          <p:cNvSpPr>
            <a:spLocks noGrp="1" noChangeArrowheads="1"/>
          </p:cNvSpPr>
          <p:nvPr>
            <p:ph idx="1"/>
          </p:nvPr>
        </p:nvSpPr>
        <p:spPr>
          <a:xfrm>
            <a:off x="838200" y="1295400"/>
            <a:ext cx="8153400" cy="5334000"/>
          </a:xfrm>
        </p:spPr>
        <p:txBody>
          <a:bodyPr/>
          <a:lstStyle/>
          <a:p>
            <a:r>
              <a:rPr lang="en-US" altLang="en-US" b="1"/>
              <a:t>Virtual private networks</a:t>
            </a:r>
          </a:p>
          <a:p>
            <a:endParaRPr lang="en-US" altLang="en-US" b="1"/>
          </a:p>
          <a:p>
            <a:r>
              <a:rPr lang="en-US" altLang="en-US" b="1"/>
              <a:t>Digital Signatures and Digital certificates, Certificate Authorities (PKI)</a:t>
            </a:r>
          </a:p>
          <a:p>
            <a:endParaRPr lang="en-US" altLang="en-US" b="1"/>
          </a:p>
          <a:p>
            <a:r>
              <a:rPr lang="en-US" altLang="en-US" b="1"/>
              <a:t>Security protocols like IPSEC, TLS/SSL</a:t>
            </a:r>
          </a:p>
          <a:p>
            <a:endParaRPr lang="en-US" altLang="en-US" b="1"/>
          </a:p>
          <a:p>
            <a:r>
              <a:rPr lang="en-US" altLang="en-US" b="1"/>
              <a:t>Authentication Protocols</a:t>
            </a:r>
          </a:p>
          <a:p>
            <a:endParaRPr lang="en-US" alt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AutoShape 2">
            <a:extLst>
              <a:ext uri="{FF2B5EF4-FFF2-40B4-BE49-F238E27FC236}">
                <a16:creationId xmlns:a16="http://schemas.microsoft.com/office/drawing/2014/main" id="{F5D2E103-6B82-7C60-F3CB-C5EC0AA320C2}"/>
              </a:ext>
            </a:extLst>
          </p:cNvPr>
          <p:cNvSpPr>
            <a:spLocks noGrp="1" noChangeArrowheads="1"/>
          </p:cNvSpPr>
          <p:nvPr>
            <p:ph type="title"/>
          </p:nvPr>
        </p:nvSpPr>
        <p:spPr>
          <a:xfrm>
            <a:off x="685800" y="76200"/>
            <a:ext cx="8382000" cy="838200"/>
          </a:xfrm>
        </p:spPr>
        <p:txBody>
          <a:bodyPr/>
          <a:lstStyle/>
          <a:p>
            <a:r>
              <a:rPr lang="en-US" altLang="en-US"/>
              <a:t>Recommended Books </a:t>
            </a:r>
          </a:p>
        </p:txBody>
      </p:sp>
      <p:sp>
        <p:nvSpPr>
          <p:cNvPr id="9218" name="Rectangle 3">
            <a:extLst>
              <a:ext uri="{FF2B5EF4-FFF2-40B4-BE49-F238E27FC236}">
                <a16:creationId xmlns:a16="http://schemas.microsoft.com/office/drawing/2014/main" id="{EE7C19F7-AC15-0F00-1140-FDBFFEACFABF}"/>
              </a:ext>
            </a:extLst>
          </p:cNvPr>
          <p:cNvSpPr>
            <a:spLocks noGrp="1" noChangeArrowheads="1"/>
          </p:cNvSpPr>
          <p:nvPr>
            <p:ph idx="1"/>
          </p:nvPr>
        </p:nvSpPr>
        <p:spPr>
          <a:xfrm>
            <a:off x="838200" y="1295400"/>
            <a:ext cx="8153400" cy="5334000"/>
          </a:xfrm>
        </p:spPr>
        <p:txBody>
          <a:bodyPr/>
          <a:lstStyle/>
          <a:p>
            <a:pPr marL="457200" indent="-457200">
              <a:buFont typeface="Wingdings" pitchFamily="2" charset="2"/>
              <a:buAutoNum type="arabicPeriod"/>
            </a:pPr>
            <a:r>
              <a:rPr lang="en-US" altLang="en-US" b="1"/>
              <a:t>Cryptography and Network Security</a:t>
            </a:r>
          </a:p>
          <a:p>
            <a:pPr marL="457200" indent="-457200">
              <a:buFont typeface="Wingdings" pitchFamily="2" charset="2"/>
              <a:buNone/>
            </a:pPr>
            <a:r>
              <a:rPr lang="en-US" altLang="en-US" b="1"/>
              <a:t>	</a:t>
            </a:r>
            <a:r>
              <a:rPr lang="en-US" altLang="en-US" sz="2400" b="1"/>
              <a:t>Principles and Practices By William Stallings</a:t>
            </a:r>
          </a:p>
          <a:p>
            <a:pPr marL="457200" indent="-457200">
              <a:buFont typeface="Wingdings" pitchFamily="2" charset="2"/>
              <a:buNone/>
            </a:pPr>
            <a:r>
              <a:rPr lang="en-US" altLang="en-US" sz="2400" b="1"/>
              <a:t>	Pearson Education – Prentice Hall</a:t>
            </a:r>
          </a:p>
          <a:p>
            <a:pPr marL="457200" indent="-457200">
              <a:buFont typeface="Wingdings" pitchFamily="2" charset="2"/>
              <a:buAutoNum type="arabicPeriod" startAt="2"/>
            </a:pPr>
            <a:endParaRPr lang="en-US" altLang="en-US" b="1"/>
          </a:p>
          <a:p>
            <a:pPr marL="457200" indent="-457200">
              <a:buFont typeface="Wingdings" pitchFamily="2" charset="2"/>
              <a:buAutoNum type="arabicPeriod" startAt="2"/>
            </a:pPr>
            <a:r>
              <a:rPr lang="en-US" altLang="en-US" b="1"/>
              <a:t>Cryptography and Network Security</a:t>
            </a:r>
          </a:p>
          <a:p>
            <a:pPr marL="457200" indent="-457200">
              <a:buFont typeface="Wingdings" pitchFamily="2" charset="2"/>
              <a:buNone/>
            </a:pPr>
            <a:r>
              <a:rPr lang="en-US" altLang="en-US" sz="2400" b="1"/>
              <a:t>	By Behrouz A. Forouzen, McGraw-Hill</a:t>
            </a:r>
          </a:p>
          <a:p>
            <a:pPr marL="457200" indent="-457200">
              <a:buFont typeface="Wingdings" pitchFamily="2" charset="2"/>
              <a:buAutoNum type="arabicPeriod" startAt="3"/>
            </a:pPr>
            <a:endParaRPr lang="en-US" altLang="en-US" b="1"/>
          </a:p>
          <a:p>
            <a:pPr marL="457200" indent="-457200">
              <a:buFont typeface="Wingdings" pitchFamily="2" charset="2"/>
              <a:buAutoNum type="arabicPeriod" startAt="3"/>
            </a:pPr>
            <a:r>
              <a:rPr lang="en-US" altLang="en-US" b="1"/>
              <a:t>Security Engineering </a:t>
            </a:r>
          </a:p>
          <a:p>
            <a:pPr marL="457200" indent="-457200">
              <a:buFont typeface="Wingdings" pitchFamily="2" charset="2"/>
              <a:buNone/>
            </a:pPr>
            <a:r>
              <a:rPr lang="en-US" altLang="en-US" sz="2400" b="1"/>
              <a:t>	A Guide to Building De Distributed Systems</a:t>
            </a:r>
          </a:p>
          <a:p>
            <a:pPr marL="457200" indent="-457200">
              <a:buFont typeface="Wingdings" pitchFamily="2" charset="2"/>
              <a:buNone/>
            </a:pPr>
            <a:r>
              <a:rPr lang="en-US" altLang="en-US" sz="2400" b="1"/>
              <a:t>	By Ross Anderson, John Wily &amp; Sons</a:t>
            </a:r>
          </a:p>
          <a:p>
            <a:pPr marL="457200" indent="-457200">
              <a:buFont typeface="Wingdings" pitchFamily="2" charset="2"/>
              <a:buNone/>
            </a:pPr>
            <a:endParaRPr lang="en-US" altLang="en-US" sz="24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AutoShape 2">
            <a:extLst>
              <a:ext uri="{FF2B5EF4-FFF2-40B4-BE49-F238E27FC236}">
                <a16:creationId xmlns:a16="http://schemas.microsoft.com/office/drawing/2014/main" id="{FED7ED7D-70B0-C1C6-C581-0E4E0137FDE7}"/>
              </a:ext>
            </a:extLst>
          </p:cNvPr>
          <p:cNvSpPr>
            <a:spLocks noGrp="1" noChangeArrowheads="1"/>
          </p:cNvSpPr>
          <p:nvPr>
            <p:ph type="title"/>
          </p:nvPr>
        </p:nvSpPr>
        <p:spPr/>
        <p:txBody>
          <a:bodyPr/>
          <a:lstStyle/>
          <a:p>
            <a:r>
              <a:rPr lang="en-US" altLang="en-US"/>
              <a:t>Background</a:t>
            </a:r>
            <a:endParaRPr lang="en-AU" altLang="en-US"/>
          </a:p>
        </p:txBody>
      </p:sp>
      <p:sp>
        <p:nvSpPr>
          <p:cNvPr id="10242" name="Rectangle 3">
            <a:extLst>
              <a:ext uri="{FF2B5EF4-FFF2-40B4-BE49-F238E27FC236}">
                <a16:creationId xmlns:a16="http://schemas.microsoft.com/office/drawing/2014/main" id="{9D6A610D-7A61-6017-F5A8-F8C028826C72}"/>
              </a:ext>
            </a:extLst>
          </p:cNvPr>
          <p:cNvSpPr>
            <a:spLocks noGrp="1" noChangeArrowheads="1"/>
          </p:cNvSpPr>
          <p:nvPr>
            <p:ph idx="1"/>
          </p:nvPr>
        </p:nvSpPr>
        <p:spPr>
          <a:xfrm>
            <a:off x="685800" y="1295400"/>
            <a:ext cx="8458200" cy="4791075"/>
          </a:xfrm>
        </p:spPr>
        <p:txBody>
          <a:bodyPr rtlCol="0">
            <a:normAutofit fontScale="92500"/>
          </a:bodyPr>
          <a:lstStyle/>
          <a:p>
            <a:pPr fontAlgn="auto">
              <a:spcAft>
                <a:spcPts val="0"/>
              </a:spcAft>
              <a:defRPr/>
            </a:pPr>
            <a:r>
              <a:rPr lang="en-US" altLang="en-US" b="1"/>
              <a:t>Info Security requirements have changed in recent times</a:t>
            </a:r>
          </a:p>
          <a:p>
            <a:pPr fontAlgn="auto">
              <a:spcAft>
                <a:spcPts val="0"/>
              </a:spcAft>
              <a:defRPr/>
            </a:pPr>
            <a:endParaRPr lang="en-US" altLang="en-US" b="1"/>
          </a:p>
          <a:p>
            <a:pPr fontAlgn="auto">
              <a:spcAft>
                <a:spcPts val="0"/>
              </a:spcAft>
              <a:defRPr/>
            </a:pPr>
            <a:r>
              <a:rPr lang="en-US" altLang="en-US" b="1"/>
              <a:t>Traditionally provided by physical and administrative mechanisms</a:t>
            </a:r>
          </a:p>
          <a:p>
            <a:pPr fontAlgn="auto">
              <a:spcAft>
                <a:spcPts val="0"/>
              </a:spcAft>
              <a:defRPr/>
            </a:pPr>
            <a:endParaRPr lang="en-US" altLang="en-US" b="1"/>
          </a:p>
          <a:p>
            <a:pPr fontAlgn="auto">
              <a:spcAft>
                <a:spcPts val="0"/>
              </a:spcAft>
              <a:defRPr/>
            </a:pPr>
            <a:r>
              <a:rPr lang="en-US" altLang="en-US" b="1"/>
              <a:t>Computer use requires </a:t>
            </a:r>
            <a:r>
              <a:rPr lang="en-AU" altLang="en-US" b="1"/>
              <a:t>automated tools to protect files and other stored information</a:t>
            </a:r>
          </a:p>
          <a:p>
            <a:pPr fontAlgn="auto">
              <a:spcAft>
                <a:spcPts val="0"/>
              </a:spcAft>
              <a:defRPr/>
            </a:pPr>
            <a:endParaRPr lang="en-AU" altLang="en-US" b="1"/>
          </a:p>
          <a:p>
            <a:pPr fontAlgn="auto">
              <a:spcAft>
                <a:spcPts val="0"/>
              </a:spcAft>
              <a:defRPr/>
            </a:pPr>
            <a:r>
              <a:rPr lang="en-AU" altLang="en-US" b="1"/>
              <a:t>Use of networks and communications links requires measures to protect data during transmission</a:t>
            </a:r>
          </a:p>
          <a:p>
            <a:pPr fontAlgn="auto">
              <a:spcAft>
                <a:spcPts val="0"/>
              </a:spcAft>
              <a:buFont typeface="Wingdings" pitchFamily="2" charset="2"/>
              <a:buNone/>
              <a:defRPr/>
            </a:pPr>
            <a:endParaRPr lang="en-AU" altLang="en-US" b="1"/>
          </a:p>
          <a:p>
            <a:pPr fontAlgn="auto">
              <a:spcAft>
                <a:spcPts val="0"/>
              </a:spcAft>
              <a:defRPr/>
            </a:pPr>
            <a:endParaRPr lang="en-AU" altLang="en-US" sz="2400"/>
          </a:p>
          <a:p>
            <a:pPr fontAlgn="auto">
              <a:spcAft>
                <a:spcPts val="0"/>
              </a:spcAft>
              <a:defRPr/>
            </a:pPr>
            <a:endParaRPr lang="en-AU" altLang="en-US" sz="2400"/>
          </a:p>
          <a:p>
            <a:pPr fontAlgn="auto">
              <a:spcAft>
                <a:spcPts val="0"/>
              </a:spcAft>
              <a:defRPr/>
            </a:pPr>
            <a:endParaRPr lang="en-AU" altLang="en-US" sz="2400"/>
          </a:p>
        </p:txBody>
      </p:sp>
      <p:pic>
        <p:nvPicPr>
          <p:cNvPr id="10243" name="Picture 4" descr="What Is Information Security? | Fortinet">
            <a:extLst>
              <a:ext uri="{FF2B5EF4-FFF2-40B4-BE49-F238E27FC236}">
                <a16:creationId xmlns:a16="http://schemas.microsoft.com/office/drawing/2014/main" id="{9CD88139-802E-E169-4FCB-D46B9D19B8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000"/>
          <a:stretch>
            <a:fillRect/>
          </a:stretch>
        </p:blipFill>
        <p:spPr bwMode="auto">
          <a:xfrm>
            <a:off x="26988" y="914400"/>
            <a:ext cx="9144000" cy="617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AutoShape 2">
            <a:extLst>
              <a:ext uri="{FF2B5EF4-FFF2-40B4-BE49-F238E27FC236}">
                <a16:creationId xmlns:a16="http://schemas.microsoft.com/office/drawing/2014/main" id="{0C212721-6E2C-0C41-C3F3-67FEC05081F7}"/>
              </a:ext>
            </a:extLst>
          </p:cNvPr>
          <p:cNvSpPr>
            <a:spLocks noGrp="1" noChangeArrowheads="1"/>
          </p:cNvSpPr>
          <p:nvPr>
            <p:ph type="title"/>
          </p:nvPr>
        </p:nvSpPr>
        <p:spPr/>
        <p:txBody>
          <a:bodyPr/>
          <a:lstStyle/>
          <a:p>
            <a:r>
              <a:rPr lang="en-US" altLang="en-US"/>
              <a:t>Focus of the Course </a:t>
            </a:r>
            <a:endParaRPr lang="en-AU" altLang="en-US"/>
          </a:p>
        </p:txBody>
      </p:sp>
      <p:sp>
        <p:nvSpPr>
          <p:cNvPr id="12290" name="Rectangle 3">
            <a:extLst>
              <a:ext uri="{FF2B5EF4-FFF2-40B4-BE49-F238E27FC236}">
                <a16:creationId xmlns:a16="http://schemas.microsoft.com/office/drawing/2014/main" id="{99EFBDF4-21D4-AB59-56A4-F7DEB1A7CD7B}"/>
              </a:ext>
            </a:extLst>
          </p:cNvPr>
          <p:cNvSpPr>
            <a:spLocks noGrp="1" noChangeArrowheads="1"/>
          </p:cNvSpPr>
          <p:nvPr>
            <p:ph idx="1"/>
          </p:nvPr>
        </p:nvSpPr>
        <p:spPr>
          <a:xfrm>
            <a:off x="762000" y="1295400"/>
            <a:ext cx="8229600" cy="5334000"/>
          </a:xfrm>
        </p:spPr>
        <p:txBody>
          <a:bodyPr/>
          <a:lstStyle/>
          <a:p>
            <a:pPr>
              <a:lnSpc>
                <a:spcPct val="80000"/>
              </a:lnSpc>
            </a:pPr>
            <a:r>
              <a:rPr lang="en-AU" altLang="en-US" b="1"/>
              <a:t>Measures to deter, prevent, detect, and correct security violations</a:t>
            </a:r>
          </a:p>
          <a:p>
            <a:pPr>
              <a:lnSpc>
                <a:spcPct val="80000"/>
              </a:lnSpc>
            </a:pPr>
            <a:endParaRPr lang="en-AU" altLang="en-US" b="1"/>
          </a:p>
          <a:p>
            <a:pPr>
              <a:lnSpc>
                <a:spcPct val="80000"/>
              </a:lnSpc>
            </a:pPr>
            <a:r>
              <a:rPr lang="en-AU" altLang="en-US" b="1"/>
              <a:t>Our focus is on the following security areas:</a:t>
            </a:r>
          </a:p>
          <a:p>
            <a:pPr lvl="1">
              <a:lnSpc>
                <a:spcPct val="80000"/>
              </a:lnSpc>
            </a:pPr>
            <a:endParaRPr lang="en-US" altLang="en-US" b="1"/>
          </a:p>
          <a:p>
            <a:pPr lvl="1">
              <a:lnSpc>
                <a:spcPct val="80000"/>
              </a:lnSpc>
            </a:pPr>
            <a:r>
              <a:rPr lang="en-US" altLang="en-US" b="1"/>
              <a:t>Computer Security </a:t>
            </a:r>
          </a:p>
          <a:p>
            <a:pPr lvl="1">
              <a:lnSpc>
                <a:spcPct val="80000"/>
              </a:lnSpc>
              <a:buFontTx/>
              <a:buNone/>
            </a:pPr>
            <a:r>
              <a:rPr lang="en-AU" altLang="en-US" b="1"/>
              <a:t> </a:t>
            </a:r>
          </a:p>
          <a:p>
            <a:pPr lvl="1">
              <a:lnSpc>
                <a:spcPct val="80000"/>
              </a:lnSpc>
            </a:pPr>
            <a:r>
              <a:rPr lang="en-US" altLang="en-US" b="1"/>
              <a:t>Network Security </a:t>
            </a:r>
          </a:p>
          <a:p>
            <a:pPr lvl="1">
              <a:lnSpc>
                <a:spcPct val="80000"/>
              </a:lnSpc>
              <a:buFontTx/>
              <a:buNone/>
            </a:pPr>
            <a:endParaRPr lang="en-AU" altLang="en-US" b="1"/>
          </a:p>
          <a:p>
            <a:pPr lvl="1">
              <a:lnSpc>
                <a:spcPct val="80000"/>
              </a:lnSpc>
            </a:pPr>
            <a:r>
              <a:rPr lang="en-US" altLang="en-US" b="1"/>
              <a:t>Internet Security </a:t>
            </a:r>
          </a:p>
          <a:p>
            <a:pPr lvl="1">
              <a:lnSpc>
                <a:spcPct val="80000"/>
              </a:lnSpc>
              <a:buFontTx/>
              <a:buNone/>
            </a:pPr>
            <a:r>
              <a:rPr lang="en-AU" altLang="en-US" b="1"/>
              <a:t>  </a:t>
            </a:r>
          </a:p>
          <a:p>
            <a:pPr lvl="1">
              <a:lnSpc>
                <a:spcPct val="80000"/>
              </a:lnSpc>
              <a:buFontTx/>
              <a:buNone/>
            </a:pPr>
            <a:r>
              <a:rPr lang="en-AU" altLang="en-US" b="1"/>
              <a:t>   Protect data during their transmission over a Collection of interconnected networks”</a:t>
            </a:r>
            <a:endParaRPr lang="en-AU"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A4676DC0-53B2-544D-E569-E1D17F9BE319}"/>
              </a:ext>
            </a:extLst>
          </p:cNvPr>
          <p:cNvSpPr>
            <a:spLocks noGrp="1" noChangeArrowheads="1"/>
          </p:cNvSpPr>
          <p:nvPr>
            <p:ph type="title"/>
          </p:nvPr>
        </p:nvSpPr>
        <p:spPr/>
        <p:txBody>
          <a:bodyPr/>
          <a:lstStyle/>
          <a:p>
            <a:r>
              <a:rPr lang="en-US" altLang="en-US"/>
              <a:t>03 Important Concepts</a:t>
            </a:r>
          </a:p>
        </p:txBody>
      </p:sp>
      <p:sp>
        <p:nvSpPr>
          <p:cNvPr id="14338" name="Content Placeholder 2">
            <a:extLst>
              <a:ext uri="{FF2B5EF4-FFF2-40B4-BE49-F238E27FC236}">
                <a16:creationId xmlns:a16="http://schemas.microsoft.com/office/drawing/2014/main" id="{326025FF-940B-7ABA-D566-ED143C361C49}"/>
              </a:ext>
            </a:extLst>
          </p:cNvPr>
          <p:cNvSpPr>
            <a:spLocks noGrp="1" noChangeArrowheads="1"/>
          </p:cNvSpPr>
          <p:nvPr>
            <p:ph idx="1"/>
          </p:nvPr>
        </p:nvSpPr>
        <p:spPr/>
        <p:txBody>
          <a:bodyPr/>
          <a:lstStyle/>
          <a:p>
            <a:endParaRPr lang="en-US" altLang="en-US"/>
          </a:p>
        </p:txBody>
      </p:sp>
      <p:pic>
        <p:nvPicPr>
          <p:cNvPr id="14339" name="Picture 2" descr="CIA Triad Meaning: Confidentiality, Integrity, Availability">
            <a:extLst>
              <a:ext uri="{FF2B5EF4-FFF2-40B4-BE49-F238E27FC236}">
                <a16:creationId xmlns:a16="http://schemas.microsoft.com/office/drawing/2014/main" id="{79BB8226-06E9-920A-CC63-DA1407F8A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667" t="4167" r="1666" b="2779"/>
          <a:stretch>
            <a:fillRect/>
          </a:stretch>
        </p:blipFill>
        <p:spPr bwMode="auto">
          <a:xfrm>
            <a:off x="701675" y="1295400"/>
            <a:ext cx="838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AutoShape 2">
            <a:extLst>
              <a:ext uri="{FF2B5EF4-FFF2-40B4-BE49-F238E27FC236}">
                <a16:creationId xmlns:a16="http://schemas.microsoft.com/office/drawing/2014/main" id="{E3281C4F-AA10-19DA-8E27-4670B60BF011}"/>
              </a:ext>
            </a:extLst>
          </p:cNvPr>
          <p:cNvSpPr>
            <a:spLocks noGrp="1" noChangeArrowheads="1"/>
          </p:cNvSpPr>
          <p:nvPr>
            <p:ph type="title"/>
          </p:nvPr>
        </p:nvSpPr>
        <p:spPr/>
        <p:txBody>
          <a:bodyPr/>
          <a:lstStyle/>
          <a:p>
            <a:r>
              <a:rPr lang="en-AU" altLang="en-US"/>
              <a:t>Some Basic Terminology</a:t>
            </a:r>
          </a:p>
        </p:txBody>
      </p:sp>
      <p:sp>
        <p:nvSpPr>
          <p:cNvPr id="26626" name="Rectangle 3">
            <a:extLst>
              <a:ext uri="{FF2B5EF4-FFF2-40B4-BE49-F238E27FC236}">
                <a16:creationId xmlns:a16="http://schemas.microsoft.com/office/drawing/2014/main" id="{B33B273E-2893-15E0-5292-3F2C3BD75E6B}"/>
              </a:ext>
            </a:extLst>
          </p:cNvPr>
          <p:cNvSpPr>
            <a:spLocks noGrp="1" noChangeArrowheads="1"/>
          </p:cNvSpPr>
          <p:nvPr>
            <p:ph idx="1"/>
          </p:nvPr>
        </p:nvSpPr>
        <p:spPr>
          <a:xfrm>
            <a:off x="533400" y="1295400"/>
            <a:ext cx="8610600" cy="5562600"/>
          </a:xfrm>
        </p:spPr>
        <p:txBody>
          <a:bodyPr rtlCol="0">
            <a:normAutofit lnSpcReduction="10000"/>
          </a:bodyPr>
          <a:lstStyle/>
          <a:p>
            <a:pPr fontAlgn="auto">
              <a:lnSpc>
                <a:spcPct val="80000"/>
              </a:lnSpc>
              <a:spcAft>
                <a:spcPts val="0"/>
              </a:spcAft>
              <a:defRPr/>
            </a:pPr>
            <a:r>
              <a:rPr lang="en-AU" altLang="en-US" sz="2600" b="1">
                <a:solidFill>
                  <a:schemeClr val="tx1">
                    <a:lumMod val="85000"/>
                    <a:lumOff val="15000"/>
                  </a:schemeClr>
                </a:solidFill>
              </a:rPr>
              <a:t>Plaintext</a:t>
            </a:r>
            <a:r>
              <a:rPr lang="en-AU" altLang="en-US" sz="2600">
                <a:solidFill>
                  <a:schemeClr val="tx1">
                    <a:lumMod val="85000"/>
                    <a:lumOff val="15000"/>
                  </a:schemeClr>
                </a:solidFill>
              </a:rPr>
              <a:t> - original message </a:t>
            </a:r>
          </a:p>
          <a:p>
            <a:pPr fontAlgn="auto">
              <a:lnSpc>
                <a:spcPct val="80000"/>
              </a:lnSpc>
              <a:spcAft>
                <a:spcPts val="0"/>
              </a:spcAft>
              <a:defRPr/>
            </a:pPr>
            <a:r>
              <a:rPr lang="en-AU" altLang="en-US" sz="2600" b="1">
                <a:solidFill>
                  <a:schemeClr val="tx1">
                    <a:lumMod val="85000"/>
                    <a:lumOff val="15000"/>
                  </a:schemeClr>
                </a:solidFill>
              </a:rPr>
              <a:t>Ciphertext</a:t>
            </a:r>
            <a:r>
              <a:rPr lang="en-AU" altLang="en-US" sz="2600">
                <a:solidFill>
                  <a:schemeClr val="tx1">
                    <a:lumMod val="85000"/>
                    <a:lumOff val="15000"/>
                  </a:schemeClr>
                </a:solidFill>
              </a:rPr>
              <a:t> - coded message </a:t>
            </a:r>
          </a:p>
          <a:p>
            <a:pPr fontAlgn="auto">
              <a:lnSpc>
                <a:spcPct val="80000"/>
              </a:lnSpc>
              <a:spcAft>
                <a:spcPts val="0"/>
              </a:spcAft>
              <a:defRPr/>
            </a:pPr>
            <a:r>
              <a:rPr lang="en-AU" altLang="en-US" sz="2600" b="1">
                <a:solidFill>
                  <a:schemeClr val="tx1">
                    <a:lumMod val="85000"/>
                    <a:lumOff val="15000"/>
                  </a:schemeClr>
                </a:solidFill>
              </a:rPr>
              <a:t>Cipher</a:t>
            </a:r>
            <a:r>
              <a:rPr lang="en-AU" altLang="en-US" sz="2600">
                <a:solidFill>
                  <a:schemeClr val="tx1">
                    <a:lumMod val="85000"/>
                    <a:lumOff val="15000"/>
                  </a:schemeClr>
                </a:solidFill>
              </a:rPr>
              <a:t> - Algo for transforming plaintext to ciphertext </a:t>
            </a:r>
          </a:p>
          <a:p>
            <a:pPr fontAlgn="auto">
              <a:lnSpc>
                <a:spcPct val="80000"/>
              </a:lnSpc>
              <a:spcAft>
                <a:spcPts val="0"/>
              </a:spcAft>
              <a:defRPr/>
            </a:pPr>
            <a:r>
              <a:rPr lang="en-AU" altLang="en-US" sz="2600" b="1">
                <a:solidFill>
                  <a:schemeClr val="tx1">
                    <a:lumMod val="85000"/>
                    <a:lumOff val="15000"/>
                  </a:schemeClr>
                </a:solidFill>
              </a:rPr>
              <a:t>Key</a:t>
            </a:r>
            <a:r>
              <a:rPr lang="en-AU" altLang="en-US" sz="2600">
                <a:solidFill>
                  <a:schemeClr val="tx1">
                    <a:lumMod val="85000"/>
                    <a:lumOff val="15000"/>
                  </a:schemeClr>
                </a:solidFill>
              </a:rPr>
              <a:t> - info used in cipher known only to sender/receiver </a:t>
            </a:r>
          </a:p>
          <a:p>
            <a:pPr fontAlgn="auto">
              <a:lnSpc>
                <a:spcPct val="80000"/>
              </a:lnSpc>
              <a:spcAft>
                <a:spcPts val="0"/>
              </a:spcAft>
              <a:defRPr/>
            </a:pPr>
            <a:endParaRPr lang="en-AU" altLang="en-US" sz="2600" b="1">
              <a:solidFill>
                <a:schemeClr val="tx1">
                  <a:lumMod val="85000"/>
                  <a:lumOff val="15000"/>
                </a:schemeClr>
              </a:solidFill>
            </a:endParaRPr>
          </a:p>
          <a:p>
            <a:pPr fontAlgn="auto">
              <a:lnSpc>
                <a:spcPct val="80000"/>
              </a:lnSpc>
              <a:spcAft>
                <a:spcPts val="0"/>
              </a:spcAft>
              <a:defRPr/>
            </a:pPr>
            <a:r>
              <a:rPr lang="en-AU" altLang="en-US" sz="2600" b="1">
                <a:solidFill>
                  <a:schemeClr val="tx1">
                    <a:lumMod val="85000"/>
                    <a:lumOff val="15000"/>
                  </a:schemeClr>
                </a:solidFill>
              </a:rPr>
              <a:t>Encipher (encrypt)</a:t>
            </a:r>
            <a:r>
              <a:rPr lang="en-AU" altLang="en-US" sz="2600">
                <a:solidFill>
                  <a:schemeClr val="tx1">
                    <a:lumMod val="85000"/>
                    <a:lumOff val="15000"/>
                  </a:schemeClr>
                </a:solidFill>
              </a:rPr>
              <a:t> - converting plaintext to ciphertext </a:t>
            </a:r>
          </a:p>
          <a:p>
            <a:pPr fontAlgn="auto">
              <a:lnSpc>
                <a:spcPct val="80000"/>
              </a:lnSpc>
              <a:spcAft>
                <a:spcPts val="0"/>
              </a:spcAft>
              <a:defRPr/>
            </a:pPr>
            <a:r>
              <a:rPr lang="en-AU" altLang="en-US" sz="2600" b="1">
                <a:solidFill>
                  <a:schemeClr val="tx1">
                    <a:lumMod val="85000"/>
                    <a:lumOff val="15000"/>
                  </a:schemeClr>
                </a:solidFill>
              </a:rPr>
              <a:t>Decipher (decrypt)</a:t>
            </a:r>
            <a:r>
              <a:rPr lang="en-AU" altLang="en-US" sz="2600">
                <a:solidFill>
                  <a:schemeClr val="tx1">
                    <a:lumMod val="85000"/>
                    <a:lumOff val="15000"/>
                  </a:schemeClr>
                </a:solidFill>
              </a:rPr>
              <a:t> - recovering ciphertext from P-text</a:t>
            </a:r>
          </a:p>
          <a:p>
            <a:pPr fontAlgn="auto">
              <a:lnSpc>
                <a:spcPct val="80000"/>
              </a:lnSpc>
              <a:spcAft>
                <a:spcPts val="0"/>
              </a:spcAft>
              <a:defRPr/>
            </a:pPr>
            <a:endParaRPr lang="en-AU" altLang="en-US" sz="2600" b="1">
              <a:solidFill>
                <a:schemeClr val="tx1">
                  <a:lumMod val="85000"/>
                  <a:lumOff val="15000"/>
                </a:schemeClr>
              </a:solidFill>
            </a:endParaRPr>
          </a:p>
          <a:p>
            <a:pPr fontAlgn="auto">
              <a:lnSpc>
                <a:spcPct val="80000"/>
              </a:lnSpc>
              <a:spcAft>
                <a:spcPts val="0"/>
              </a:spcAft>
              <a:defRPr/>
            </a:pPr>
            <a:r>
              <a:rPr lang="en-AU" altLang="en-US" sz="2600" b="1">
                <a:solidFill>
                  <a:schemeClr val="tx1">
                    <a:lumMod val="85000"/>
                    <a:lumOff val="15000"/>
                  </a:schemeClr>
                </a:solidFill>
              </a:rPr>
              <a:t>Cryptography</a:t>
            </a:r>
            <a:r>
              <a:rPr lang="en-AU" altLang="en-US" sz="2600">
                <a:solidFill>
                  <a:schemeClr val="tx1">
                    <a:lumMod val="85000"/>
                    <a:lumOff val="15000"/>
                  </a:schemeClr>
                </a:solidFill>
              </a:rPr>
              <a:t> - study of encryption principles/methods</a:t>
            </a:r>
          </a:p>
          <a:p>
            <a:pPr fontAlgn="auto">
              <a:lnSpc>
                <a:spcPct val="80000"/>
              </a:lnSpc>
              <a:spcAft>
                <a:spcPts val="0"/>
              </a:spcAft>
              <a:defRPr/>
            </a:pPr>
            <a:r>
              <a:rPr lang="en-AU" altLang="en-US" sz="2600" b="1">
                <a:solidFill>
                  <a:schemeClr val="tx1">
                    <a:lumMod val="85000"/>
                    <a:lumOff val="15000"/>
                  </a:schemeClr>
                </a:solidFill>
              </a:rPr>
              <a:t>Cryptanalysis (Codebreaking)</a:t>
            </a:r>
            <a:r>
              <a:rPr lang="en-AU" altLang="en-US" sz="2600">
                <a:solidFill>
                  <a:schemeClr val="tx1">
                    <a:lumMod val="85000"/>
                    <a:lumOff val="15000"/>
                  </a:schemeClr>
                </a:solidFill>
              </a:rPr>
              <a:t> - study of principles/ methods of deciphering ciphertext </a:t>
            </a:r>
            <a:r>
              <a:rPr lang="en-AU" altLang="en-US" sz="2600" i="1">
                <a:solidFill>
                  <a:schemeClr val="tx1">
                    <a:lumMod val="85000"/>
                    <a:lumOff val="15000"/>
                  </a:schemeClr>
                </a:solidFill>
              </a:rPr>
              <a:t>without</a:t>
            </a:r>
            <a:r>
              <a:rPr lang="en-AU" altLang="en-US" sz="2600">
                <a:solidFill>
                  <a:schemeClr val="tx1">
                    <a:lumMod val="85000"/>
                    <a:lumOff val="15000"/>
                  </a:schemeClr>
                </a:solidFill>
              </a:rPr>
              <a:t> knowing key</a:t>
            </a:r>
          </a:p>
          <a:p>
            <a:pPr fontAlgn="auto">
              <a:lnSpc>
                <a:spcPct val="80000"/>
              </a:lnSpc>
              <a:spcAft>
                <a:spcPts val="0"/>
              </a:spcAft>
              <a:defRPr/>
            </a:pPr>
            <a:endParaRPr lang="en-AU" altLang="en-US" sz="2600" b="1">
              <a:solidFill>
                <a:schemeClr val="tx1">
                  <a:lumMod val="85000"/>
                  <a:lumOff val="15000"/>
                </a:schemeClr>
              </a:solidFill>
            </a:endParaRPr>
          </a:p>
          <a:p>
            <a:pPr fontAlgn="auto">
              <a:lnSpc>
                <a:spcPct val="80000"/>
              </a:lnSpc>
              <a:spcAft>
                <a:spcPts val="0"/>
              </a:spcAft>
              <a:defRPr/>
            </a:pPr>
            <a:r>
              <a:rPr lang="en-AU" altLang="en-US" sz="2600" b="1">
                <a:solidFill>
                  <a:schemeClr val="tx1">
                    <a:lumMod val="85000"/>
                    <a:lumOff val="15000"/>
                  </a:schemeClr>
                </a:solidFill>
              </a:rPr>
              <a:t>Cryptology</a:t>
            </a:r>
            <a:r>
              <a:rPr lang="en-AU" altLang="en-US" sz="2600">
                <a:solidFill>
                  <a:schemeClr val="tx1">
                    <a:lumMod val="85000"/>
                    <a:lumOff val="15000"/>
                  </a:schemeClr>
                </a:solidFill>
              </a:rPr>
              <a:t> - field of both cryptography &amp; cryptanalysis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9E249964-8B7A-C281-20CF-F158260F3D3C}"/>
              </a:ext>
            </a:extLst>
          </p:cNvPr>
          <p:cNvSpPr>
            <a:spLocks noGrp="1" noChangeArrowheads="1"/>
          </p:cNvSpPr>
          <p:nvPr>
            <p:ph type="title"/>
          </p:nvPr>
        </p:nvSpPr>
        <p:spPr/>
        <p:txBody>
          <a:bodyPr/>
          <a:lstStyle/>
          <a:p>
            <a:endParaRPr lang="en-US" altLang="en-US"/>
          </a:p>
        </p:txBody>
      </p:sp>
      <p:sp>
        <p:nvSpPr>
          <p:cNvPr id="17410" name="Content Placeholder 2">
            <a:extLst>
              <a:ext uri="{FF2B5EF4-FFF2-40B4-BE49-F238E27FC236}">
                <a16:creationId xmlns:a16="http://schemas.microsoft.com/office/drawing/2014/main" id="{27BA9033-CC8A-1B43-0E5B-D253B5A1542F}"/>
              </a:ext>
            </a:extLst>
          </p:cNvPr>
          <p:cNvSpPr>
            <a:spLocks noGrp="1" noChangeArrowheads="1"/>
          </p:cNvSpPr>
          <p:nvPr>
            <p:ph idx="1"/>
          </p:nvPr>
        </p:nvSpPr>
        <p:spPr/>
        <p:txBody>
          <a:bodyPr/>
          <a:lstStyle/>
          <a:p>
            <a:endParaRPr lang="en-US" altLang="en-US"/>
          </a:p>
        </p:txBody>
      </p:sp>
      <p:sp>
        <p:nvSpPr>
          <p:cNvPr id="17411" name="TextBox 6">
            <a:extLst>
              <a:ext uri="{FF2B5EF4-FFF2-40B4-BE49-F238E27FC236}">
                <a16:creationId xmlns:a16="http://schemas.microsoft.com/office/drawing/2014/main" id="{ECBD8E80-FC57-ACBB-24FD-32248EAE7A7A}"/>
              </a:ext>
            </a:extLst>
          </p:cNvPr>
          <p:cNvSpPr txBox="1">
            <a:spLocks noChangeArrowheads="1"/>
          </p:cNvSpPr>
          <p:nvPr/>
        </p:nvSpPr>
        <p:spPr bwMode="auto">
          <a:xfrm>
            <a:off x="323850" y="6427788"/>
            <a:ext cx="8839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eaLnBrk="1" hangingPunct="1">
              <a:lnSpc>
                <a:spcPct val="100000"/>
              </a:lnSpc>
              <a:spcBef>
                <a:spcPct val="0"/>
              </a:spcBef>
              <a:buFontTx/>
              <a:buNone/>
            </a:pPr>
            <a:r>
              <a:rPr lang="en-US" altLang="en-US" sz="1400">
                <a:latin typeface="Arial" panose="020B0604020202020204" pitchFamily="34" charset="0"/>
              </a:rPr>
              <a:t>https://moitt.gov.pk/SiteImage/Misc/files/National%20Cyber%20Security%20Policy%202021%20Final.pdf</a:t>
            </a:r>
          </a:p>
        </p:txBody>
      </p:sp>
      <p:pic>
        <p:nvPicPr>
          <p:cNvPr id="17412" name="Picture 7">
            <a:extLst>
              <a:ext uri="{FF2B5EF4-FFF2-40B4-BE49-F238E27FC236}">
                <a16:creationId xmlns:a16="http://schemas.microsoft.com/office/drawing/2014/main" id="{638CA77F-75A3-6D62-8B99-C99BFBC3C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8" y="1401763"/>
            <a:ext cx="7772400" cy="457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DC1A9E6F-0720-2559-7FCE-83C83AA44378}"/>
              </a:ext>
            </a:extLst>
          </p:cNvPr>
          <p:cNvSpPr>
            <a:spLocks noGrp="1" noChangeArrowheads="1"/>
          </p:cNvSpPr>
          <p:nvPr>
            <p:ph type="title"/>
          </p:nvPr>
        </p:nvSpPr>
        <p:spPr/>
        <p:txBody>
          <a:bodyPr/>
          <a:lstStyle/>
          <a:p>
            <a:endParaRPr lang="en-US" altLang="en-US"/>
          </a:p>
        </p:txBody>
      </p:sp>
      <p:sp>
        <p:nvSpPr>
          <p:cNvPr id="18434" name="Content Placeholder 2">
            <a:extLst>
              <a:ext uri="{FF2B5EF4-FFF2-40B4-BE49-F238E27FC236}">
                <a16:creationId xmlns:a16="http://schemas.microsoft.com/office/drawing/2014/main" id="{85124030-C1FC-08F1-17F4-6FB5DB25B719}"/>
              </a:ext>
            </a:extLst>
          </p:cNvPr>
          <p:cNvSpPr>
            <a:spLocks noGrp="1" noChangeArrowheads="1"/>
          </p:cNvSpPr>
          <p:nvPr>
            <p:ph idx="1"/>
          </p:nvPr>
        </p:nvSpPr>
        <p:spPr/>
        <p:txBody>
          <a:bodyPr/>
          <a:lstStyle/>
          <a:p>
            <a:endParaRPr lang="en-US" altLang="en-US"/>
          </a:p>
        </p:txBody>
      </p:sp>
      <p:pic>
        <p:nvPicPr>
          <p:cNvPr id="18435" name="Picture 3">
            <a:extLst>
              <a:ext uri="{FF2B5EF4-FFF2-40B4-BE49-F238E27FC236}">
                <a16:creationId xmlns:a16="http://schemas.microsoft.com/office/drawing/2014/main" id="{2E328C11-ADD1-167B-7264-6863E971D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785" b="5206"/>
          <a:stretch>
            <a:fillRect/>
          </a:stretch>
        </p:blipFill>
        <p:spPr bwMode="auto">
          <a:xfrm>
            <a:off x="609600" y="1219200"/>
            <a:ext cx="85344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5">
            <a:extLst>
              <a:ext uri="{FF2B5EF4-FFF2-40B4-BE49-F238E27FC236}">
                <a16:creationId xmlns:a16="http://schemas.microsoft.com/office/drawing/2014/main" id="{12013773-7BF8-8F0C-A6E0-B10C3917E284}"/>
              </a:ext>
            </a:extLst>
          </p:cNvPr>
          <p:cNvSpPr txBox="1">
            <a:spLocks noChangeArrowheads="1"/>
          </p:cNvSpPr>
          <p:nvPr/>
        </p:nvSpPr>
        <p:spPr bwMode="auto">
          <a:xfrm>
            <a:off x="635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eaLnBrk="1" hangingPunct="1">
              <a:lnSpc>
                <a:spcPct val="100000"/>
              </a:lnSpc>
              <a:spcBef>
                <a:spcPct val="0"/>
              </a:spcBef>
              <a:buFontTx/>
              <a:buNone/>
            </a:pPr>
            <a:r>
              <a:rPr lang="en-US" altLang="en-US" sz="1400">
                <a:latin typeface="Arial" panose="020B0604020202020204" pitchFamily="34" charset="0"/>
              </a:rPr>
              <a:t>https://pta.gov.pk/assets/media/cyber_security_strategy_telecom_sector_2023_2028_11-12-2023.pdf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AutoShape 2">
            <a:extLst>
              <a:ext uri="{FF2B5EF4-FFF2-40B4-BE49-F238E27FC236}">
                <a16:creationId xmlns:a16="http://schemas.microsoft.com/office/drawing/2014/main" id="{AB6CB165-FF49-BE7E-AA1B-CED8AFB06615}"/>
              </a:ext>
            </a:extLst>
          </p:cNvPr>
          <p:cNvSpPr>
            <a:spLocks noGrp="1" noChangeArrowheads="1"/>
          </p:cNvSpPr>
          <p:nvPr>
            <p:ph type="title"/>
          </p:nvPr>
        </p:nvSpPr>
        <p:spPr>
          <a:xfrm>
            <a:off x="457200" y="130175"/>
            <a:ext cx="8229600" cy="777875"/>
          </a:xfrm>
        </p:spPr>
        <p:txBody>
          <a:bodyPr/>
          <a:lstStyle/>
          <a:p>
            <a:r>
              <a:rPr lang="en-US" altLang="en-US"/>
              <a:t>Life Cycle of Info Security</a:t>
            </a:r>
            <a:endParaRPr lang="en-AU" altLang="en-US"/>
          </a:p>
        </p:txBody>
      </p:sp>
      <p:pic>
        <p:nvPicPr>
          <p:cNvPr id="19458" name="Picture 4" descr="What is Information Security Lifecycle Management? - InfosecTrain">
            <a:extLst>
              <a:ext uri="{FF2B5EF4-FFF2-40B4-BE49-F238E27FC236}">
                <a16:creationId xmlns:a16="http://schemas.microsoft.com/office/drawing/2014/main" id="{EFE86D5B-DB7D-89B7-47A0-7BB2385A8A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84582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8" descr="10 Most Important Elements of Information Security Policy - Sprinto">
            <a:extLst>
              <a:ext uri="{FF2B5EF4-FFF2-40B4-BE49-F238E27FC236}">
                <a16:creationId xmlns:a16="http://schemas.microsoft.com/office/drawing/2014/main" id="{B21C0957-0F4C-136E-B370-A2445809D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0"/>
            <a:ext cx="8458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3">
            <a:extLst>
              <a:ext uri="{FF2B5EF4-FFF2-40B4-BE49-F238E27FC236}">
                <a16:creationId xmlns:a16="http://schemas.microsoft.com/office/drawing/2014/main" id="{81C9F528-2493-75AC-414A-B56C228EE180}"/>
              </a:ext>
            </a:extLst>
          </p:cNvPr>
          <p:cNvSpPr>
            <a:spLocks noGrp="1" noChangeArrowheads="1"/>
          </p:cNvSpPr>
          <p:nvPr>
            <p:ph type="title"/>
          </p:nvPr>
        </p:nvSpPr>
        <p:spPr>
          <a:xfrm>
            <a:off x="762000" y="1452563"/>
            <a:ext cx="2438400" cy="3952875"/>
          </a:xfrm>
        </p:spPr>
        <p:txBody>
          <a:bodyPr/>
          <a:lstStyle/>
          <a:p>
            <a:r>
              <a:rPr lang="en-US" altLang="en-US"/>
              <a:t>Top Cyber Attacks in </a:t>
            </a:r>
            <a:br>
              <a:rPr lang="en-US" altLang="en-US"/>
            </a:br>
            <a:r>
              <a:rPr lang="en-US" altLang="en-US"/>
              <a:t>2024</a:t>
            </a:r>
          </a:p>
        </p:txBody>
      </p:sp>
      <p:sp>
        <p:nvSpPr>
          <p:cNvPr id="23554" name="Content Placeholder 2">
            <a:extLst>
              <a:ext uri="{FF2B5EF4-FFF2-40B4-BE49-F238E27FC236}">
                <a16:creationId xmlns:a16="http://schemas.microsoft.com/office/drawing/2014/main" id="{E8459FB6-DD0A-BC8E-382F-897340CA5051}"/>
              </a:ext>
            </a:extLst>
          </p:cNvPr>
          <p:cNvSpPr>
            <a:spLocks noGrp="1" noChangeArrowheads="1"/>
          </p:cNvSpPr>
          <p:nvPr>
            <p:ph sz="half" idx="2"/>
          </p:nvPr>
        </p:nvSpPr>
        <p:spPr/>
        <p:txBody>
          <a:bodyPr/>
          <a:lstStyle/>
          <a:p>
            <a:endParaRPr lang="en-US" altLang="en-US"/>
          </a:p>
        </p:txBody>
      </p:sp>
      <p:pic>
        <p:nvPicPr>
          <p:cNvPr id="23555" name="Picture 4" descr="Exploring the Top Cyber Attacks of 2024: Trends, Threats, and Strategies |  Ritesh Punyani, CA, CISA, CIA, CFE, CIPPE, AML Specialist">
            <a:extLst>
              <a:ext uri="{FF2B5EF4-FFF2-40B4-BE49-F238E27FC236}">
                <a16:creationId xmlns:a16="http://schemas.microsoft.com/office/drawing/2014/main" id="{129648CF-F3AE-546D-FA44-EDA0D2403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0"/>
            <a:ext cx="5632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AutoShape 3" descr="01fig01">
            <a:extLst>
              <a:ext uri="{FF2B5EF4-FFF2-40B4-BE49-F238E27FC236}">
                <a16:creationId xmlns:a16="http://schemas.microsoft.com/office/drawing/2014/main" id="{27FB302C-5DD6-F7A1-5192-DD1161C76AF0}"/>
              </a:ext>
            </a:extLst>
          </p:cNvPr>
          <p:cNvSpPr>
            <a:spLocks noChangeAspect="1" noChangeArrowheads="1"/>
          </p:cNvSpPr>
          <p:nvPr/>
        </p:nvSpPr>
        <p:spPr bwMode="auto">
          <a:xfrm>
            <a:off x="2190750" y="223838"/>
            <a:ext cx="4762500" cy="641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endParaRPr lang="en-US" altLang="en-US" sz="1800">
              <a:latin typeface="Arial" panose="020B0604020202020204" pitchFamily="34" charset="0"/>
            </a:endParaRPr>
          </a:p>
        </p:txBody>
      </p:sp>
      <p:sp>
        <p:nvSpPr>
          <p:cNvPr id="25602" name="AutoShape 4" descr="01fig01">
            <a:extLst>
              <a:ext uri="{FF2B5EF4-FFF2-40B4-BE49-F238E27FC236}">
                <a16:creationId xmlns:a16="http://schemas.microsoft.com/office/drawing/2014/main" id="{2DAEB2AF-C350-2778-3B04-BFE81C9853DA}"/>
              </a:ext>
            </a:extLst>
          </p:cNvPr>
          <p:cNvSpPr>
            <a:spLocks noChangeAspect="1" noChangeArrowheads="1"/>
          </p:cNvSpPr>
          <p:nvPr/>
        </p:nvSpPr>
        <p:spPr bwMode="auto">
          <a:xfrm>
            <a:off x="2190750" y="223838"/>
            <a:ext cx="4762500" cy="641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endParaRPr lang="en-US" altLang="en-US" sz="1800">
              <a:latin typeface="Arial" panose="020B0604020202020204" pitchFamily="34" charset="0"/>
            </a:endParaRPr>
          </a:p>
        </p:txBody>
      </p:sp>
      <p:pic>
        <p:nvPicPr>
          <p:cNvPr id="25603" name="Picture 6" descr="Top 15 Cybersecurity Threats in 2024 | Sprintzeal">
            <a:extLst>
              <a:ext uri="{FF2B5EF4-FFF2-40B4-BE49-F238E27FC236}">
                <a16:creationId xmlns:a16="http://schemas.microsoft.com/office/drawing/2014/main" id="{52527AD3-31AA-C35C-3714-71C5681CA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2">
            <a:extLst>
              <a:ext uri="{FF2B5EF4-FFF2-40B4-BE49-F238E27FC236}">
                <a16:creationId xmlns:a16="http://schemas.microsoft.com/office/drawing/2014/main" id="{0011E658-996B-1C39-9FC9-763609F58170}"/>
              </a:ext>
            </a:extLst>
          </p:cNvPr>
          <p:cNvSpPr>
            <a:spLocks noGrp="1" noChangeArrowheads="1"/>
          </p:cNvSpPr>
          <p:nvPr>
            <p:ph type="title"/>
          </p:nvPr>
        </p:nvSpPr>
        <p:spPr>
          <a:xfrm>
            <a:off x="609600" y="69850"/>
            <a:ext cx="7924800" cy="838200"/>
          </a:xfrm>
        </p:spPr>
        <p:txBody>
          <a:bodyPr/>
          <a:lstStyle/>
          <a:p>
            <a:r>
              <a:rPr lang="en-US" altLang="en-US"/>
              <a:t>Security Aspects </a:t>
            </a:r>
            <a:endParaRPr lang="en-AU" altLang="en-US"/>
          </a:p>
        </p:txBody>
      </p:sp>
      <p:sp>
        <p:nvSpPr>
          <p:cNvPr id="27650" name="Rectangle 3">
            <a:extLst>
              <a:ext uri="{FF2B5EF4-FFF2-40B4-BE49-F238E27FC236}">
                <a16:creationId xmlns:a16="http://schemas.microsoft.com/office/drawing/2014/main" id="{952D20BA-AE04-D77C-A342-6221EEE7850D}"/>
              </a:ext>
            </a:extLst>
          </p:cNvPr>
          <p:cNvSpPr>
            <a:spLocks noGrp="1" noChangeArrowheads="1"/>
          </p:cNvSpPr>
          <p:nvPr>
            <p:ph idx="1"/>
          </p:nvPr>
        </p:nvSpPr>
        <p:spPr>
          <a:xfrm>
            <a:off x="685800" y="1447800"/>
            <a:ext cx="8458200" cy="5181600"/>
          </a:xfrm>
        </p:spPr>
        <p:txBody>
          <a:bodyPr/>
          <a:lstStyle/>
          <a:p>
            <a:r>
              <a:rPr lang="en-US" altLang="en-US" b="1"/>
              <a:t>ITU-Standardized “Security Architecture for OSI”</a:t>
            </a:r>
          </a:p>
          <a:p>
            <a:endParaRPr lang="en-US" altLang="en-US" b="1"/>
          </a:p>
          <a:p>
            <a:r>
              <a:rPr lang="en-US" altLang="en-US" b="1"/>
              <a:t>It explains systematic way of defining and providing security requirements</a:t>
            </a:r>
          </a:p>
          <a:p>
            <a:endParaRPr lang="en-US" altLang="en-US" b="1"/>
          </a:p>
          <a:p>
            <a:endParaRPr lang="en-US" altLang="en-US" b="1"/>
          </a:p>
          <a:p>
            <a:r>
              <a:rPr lang="en-US" altLang="en-US" b="1"/>
              <a:t>Information security have 3 aspects</a:t>
            </a:r>
          </a:p>
          <a:p>
            <a:pPr lvl="1"/>
            <a:r>
              <a:rPr lang="en-US" altLang="en-US" b="1"/>
              <a:t>Security attacks</a:t>
            </a:r>
          </a:p>
          <a:p>
            <a:pPr lvl="1"/>
            <a:r>
              <a:rPr lang="en-US" altLang="en-US" b="1"/>
              <a:t>Security mechanisms</a:t>
            </a:r>
          </a:p>
          <a:p>
            <a:pPr lvl="1"/>
            <a:r>
              <a:rPr lang="en-US" altLang="en-US" b="1"/>
              <a:t>Security services</a:t>
            </a:r>
          </a:p>
          <a:p>
            <a:endParaRPr lang="en-AU"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BCA88BC7-B31E-C0CB-D958-19981D58F7D3}"/>
              </a:ext>
            </a:extLst>
          </p:cNvPr>
          <p:cNvSpPr>
            <a:spLocks noGrp="1" noChangeArrowheads="1"/>
          </p:cNvSpPr>
          <p:nvPr>
            <p:ph type="title"/>
          </p:nvPr>
        </p:nvSpPr>
        <p:spPr>
          <a:xfrm>
            <a:off x="838200" y="76200"/>
            <a:ext cx="8229600" cy="838200"/>
          </a:xfrm>
        </p:spPr>
        <p:txBody>
          <a:bodyPr/>
          <a:lstStyle/>
          <a:p>
            <a:r>
              <a:rPr lang="en-GB" altLang="en-US" sz="2900">
                <a:latin typeface="Google Sans"/>
                <a:hlinkClick r:id="rId2"/>
              </a:rPr>
              <a:t>Major Security Aspects in a Collaboration System</a:t>
            </a:r>
            <a:endParaRPr lang="en-US" altLang="en-US" sz="2900"/>
          </a:p>
        </p:txBody>
      </p:sp>
      <p:sp>
        <p:nvSpPr>
          <p:cNvPr id="29698" name="Content Placeholder 2">
            <a:extLst>
              <a:ext uri="{FF2B5EF4-FFF2-40B4-BE49-F238E27FC236}">
                <a16:creationId xmlns:a16="http://schemas.microsoft.com/office/drawing/2014/main" id="{DF314C3E-7AD9-734B-32EA-C3C6B03F1072}"/>
              </a:ext>
            </a:extLst>
          </p:cNvPr>
          <p:cNvSpPr>
            <a:spLocks noGrp="1" noChangeArrowheads="1"/>
          </p:cNvSpPr>
          <p:nvPr>
            <p:ph idx="1"/>
          </p:nvPr>
        </p:nvSpPr>
        <p:spPr/>
        <p:txBody>
          <a:bodyPr/>
          <a:lstStyle/>
          <a:p>
            <a:endParaRPr lang="en-US" altLang="en-US"/>
          </a:p>
        </p:txBody>
      </p:sp>
      <p:pic>
        <p:nvPicPr>
          <p:cNvPr id="29699" name="Picture 2" descr="Major security aspects in a collaboration system. | Download Scientific  Diagram">
            <a:extLst>
              <a:ext uri="{FF2B5EF4-FFF2-40B4-BE49-F238E27FC236}">
                <a16:creationId xmlns:a16="http://schemas.microsoft.com/office/drawing/2014/main" id="{50C51514-8DF9-4104-A11C-63E8210165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8458200"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AutoShape 2">
            <a:extLst>
              <a:ext uri="{FF2B5EF4-FFF2-40B4-BE49-F238E27FC236}">
                <a16:creationId xmlns:a16="http://schemas.microsoft.com/office/drawing/2014/main" id="{9BA0CD27-D875-AB79-A526-AD69A7B77BFE}"/>
              </a:ext>
            </a:extLst>
          </p:cNvPr>
          <p:cNvSpPr>
            <a:spLocks noGrp="1" noChangeArrowheads="1"/>
          </p:cNvSpPr>
          <p:nvPr>
            <p:ph type="title"/>
          </p:nvPr>
        </p:nvSpPr>
        <p:spPr>
          <a:xfrm>
            <a:off x="457200" y="115888"/>
            <a:ext cx="8229600" cy="850900"/>
          </a:xfrm>
        </p:spPr>
        <p:txBody>
          <a:bodyPr/>
          <a:lstStyle/>
          <a:p>
            <a:r>
              <a:rPr lang="en-US" altLang="en-US"/>
              <a:t>Threats and Attacks</a:t>
            </a:r>
            <a:endParaRPr lang="en-AU" altLang="en-US"/>
          </a:p>
        </p:txBody>
      </p:sp>
      <p:sp>
        <p:nvSpPr>
          <p:cNvPr id="30722" name="Rectangle 3">
            <a:extLst>
              <a:ext uri="{FF2B5EF4-FFF2-40B4-BE49-F238E27FC236}">
                <a16:creationId xmlns:a16="http://schemas.microsoft.com/office/drawing/2014/main" id="{E5D8AF70-5A55-7063-B212-992D7B3D1D75}"/>
              </a:ext>
            </a:extLst>
          </p:cNvPr>
          <p:cNvSpPr>
            <a:spLocks noGrp="1" noChangeArrowheads="1"/>
          </p:cNvSpPr>
          <p:nvPr>
            <p:ph idx="1"/>
          </p:nvPr>
        </p:nvSpPr>
        <p:spPr>
          <a:xfrm>
            <a:off x="762000" y="1328738"/>
            <a:ext cx="8229600" cy="5453062"/>
          </a:xfrm>
        </p:spPr>
        <p:txBody>
          <a:bodyPr/>
          <a:lstStyle/>
          <a:p>
            <a:r>
              <a:rPr lang="en-US" altLang="en-US" sz="2400" b="1"/>
              <a:t>Threat</a:t>
            </a:r>
          </a:p>
          <a:p>
            <a:pPr lvl="1"/>
            <a:r>
              <a:rPr lang="en-US" altLang="en-US" sz="2000" b="1"/>
              <a:t>A threat is a possibility by which desired system properties may be violated</a:t>
            </a:r>
          </a:p>
          <a:p>
            <a:endParaRPr lang="en-US" altLang="en-US" sz="2400" b="1"/>
          </a:p>
          <a:p>
            <a:r>
              <a:rPr lang="en-US" altLang="en-US" sz="2400" b="1"/>
              <a:t>Attack</a:t>
            </a:r>
          </a:p>
          <a:p>
            <a:pPr lvl="1"/>
            <a:r>
              <a:rPr lang="en-US" altLang="en-US" sz="2000" b="1"/>
              <a:t>Any action that compromises the information security</a:t>
            </a:r>
          </a:p>
          <a:p>
            <a:pPr lvl="1"/>
            <a:r>
              <a:rPr lang="en-US" altLang="en-US" sz="2000" b="1"/>
              <a:t>An intelligent act that is a deliberate attempt to evade security services and violate the security policy.</a:t>
            </a:r>
            <a:endParaRPr lang="en-AU" altLang="en-US" sz="20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A73069F4-11BD-2818-60DD-2137B0A2376C}"/>
              </a:ext>
            </a:extLst>
          </p:cNvPr>
          <p:cNvSpPr>
            <a:spLocks noGrp="1" noChangeArrowheads="1"/>
          </p:cNvSpPr>
          <p:nvPr>
            <p:ph type="title"/>
          </p:nvPr>
        </p:nvSpPr>
        <p:spPr/>
        <p:txBody>
          <a:bodyPr/>
          <a:lstStyle/>
          <a:p>
            <a:r>
              <a:rPr lang="en-US" altLang="en-US" sz="2800"/>
              <a:t>Difference Btw Threats &amp; Attacks</a:t>
            </a:r>
          </a:p>
        </p:txBody>
      </p:sp>
      <p:sp>
        <p:nvSpPr>
          <p:cNvPr id="32770" name="Content Placeholder 2">
            <a:extLst>
              <a:ext uri="{FF2B5EF4-FFF2-40B4-BE49-F238E27FC236}">
                <a16:creationId xmlns:a16="http://schemas.microsoft.com/office/drawing/2014/main" id="{0398D651-D7D4-A2D1-94DF-E2C014FDB609}"/>
              </a:ext>
            </a:extLst>
          </p:cNvPr>
          <p:cNvSpPr>
            <a:spLocks noGrp="1" noChangeArrowheads="1"/>
          </p:cNvSpPr>
          <p:nvPr>
            <p:ph idx="1"/>
          </p:nvPr>
        </p:nvSpPr>
        <p:spPr/>
        <p:txBody>
          <a:bodyPr/>
          <a:lstStyle/>
          <a:p>
            <a:endParaRPr lang="en-US" altLang="en-US"/>
          </a:p>
        </p:txBody>
      </p:sp>
      <p:pic>
        <p:nvPicPr>
          <p:cNvPr id="32771" name="Picture 2" descr="A detailed review of Cloud Security: Issues, Threats &amp; Attacks | Semantic  Scholar">
            <a:extLst>
              <a:ext uri="{FF2B5EF4-FFF2-40B4-BE49-F238E27FC236}">
                <a16:creationId xmlns:a16="http://schemas.microsoft.com/office/drawing/2014/main" id="{B08B2785-17E2-B98B-450F-18C7A72E2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95400"/>
            <a:ext cx="81343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AutoShape 2">
            <a:extLst>
              <a:ext uri="{FF2B5EF4-FFF2-40B4-BE49-F238E27FC236}">
                <a16:creationId xmlns:a16="http://schemas.microsoft.com/office/drawing/2014/main" id="{F60D4BC5-86C7-BD80-B42F-FE8B0E878D51}"/>
              </a:ext>
            </a:extLst>
          </p:cNvPr>
          <p:cNvSpPr>
            <a:spLocks noGrp="1" noChangeArrowheads="1"/>
          </p:cNvSpPr>
          <p:nvPr>
            <p:ph type="title"/>
          </p:nvPr>
        </p:nvSpPr>
        <p:spPr/>
        <p:txBody>
          <a:bodyPr/>
          <a:lstStyle/>
          <a:p>
            <a:r>
              <a:rPr lang="en-AU" altLang="en-US"/>
              <a:t>Types of Security Attacks</a:t>
            </a:r>
          </a:p>
        </p:txBody>
      </p:sp>
      <p:sp>
        <p:nvSpPr>
          <p:cNvPr id="33794" name="Rectangle 3">
            <a:extLst>
              <a:ext uri="{FF2B5EF4-FFF2-40B4-BE49-F238E27FC236}">
                <a16:creationId xmlns:a16="http://schemas.microsoft.com/office/drawing/2014/main" id="{BDC26C94-2754-9A90-B26E-44A012B17251}"/>
              </a:ext>
            </a:extLst>
          </p:cNvPr>
          <p:cNvSpPr>
            <a:spLocks noGrp="1" noChangeArrowheads="1"/>
          </p:cNvSpPr>
          <p:nvPr>
            <p:ph idx="1"/>
          </p:nvPr>
        </p:nvSpPr>
        <p:spPr>
          <a:xfrm>
            <a:off x="685800" y="1371600"/>
            <a:ext cx="8229600" cy="2743200"/>
          </a:xfrm>
        </p:spPr>
        <p:txBody>
          <a:bodyPr/>
          <a:lstStyle/>
          <a:p>
            <a:r>
              <a:rPr lang="en-US" altLang="en-US" sz="2400" b="1" i="1"/>
              <a:t>In general threat</a:t>
            </a:r>
            <a:r>
              <a:rPr lang="en-US" altLang="en-US" sz="2400" b="1"/>
              <a:t> &amp; </a:t>
            </a:r>
            <a:r>
              <a:rPr lang="en-US" altLang="en-US" sz="2400" b="1" i="1"/>
              <a:t>attack</a:t>
            </a:r>
            <a:r>
              <a:rPr lang="en-US" altLang="en-US" sz="2400" b="1"/>
              <a:t> have the same meaning</a:t>
            </a:r>
          </a:p>
          <a:p>
            <a:r>
              <a:rPr lang="en-US" altLang="en-US" sz="2400" b="1"/>
              <a:t>Today we have wide range of attacks possibilities due to open-based architecture</a:t>
            </a:r>
          </a:p>
          <a:p>
            <a:r>
              <a:rPr lang="en-US" altLang="en-US" sz="2400" b="1"/>
              <a:t>Generic types of attacks</a:t>
            </a:r>
          </a:p>
          <a:p>
            <a:pPr lvl="1"/>
            <a:r>
              <a:rPr lang="en-US" altLang="en-US" b="1"/>
              <a:t>passive</a:t>
            </a:r>
          </a:p>
          <a:p>
            <a:pPr lvl="1"/>
            <a:r>
              <a:rPr lang="en-US" altLang="en-US" b="1"/>
              <a:t>active</a:t>
            </a:r>
            <a:endParaRPr lang="en-AU" altLang="en-US" b="1"/>
          </a:p>
        </p:txBody>
      </p:sp>
      <p:pic>
        <p:nvPicPr>
          <p:cNvPr id="33795" name="Picture 4">
            <a:extLst>
              <a:ext uri="{FF2B5EF4-FFF2-40B4-BE49-F238E27FC236}">
                <a16:creationId xmlns:a16="http://schemas.microsoft.com/office/drawing/2014/main" id="{2CFFECBA-4303-C017-58F4-6638A4902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724400"/>
            <a:ext cx="6248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AutoShape 2">
            <a:extLst>
              <a:ext uri="{FF2B5EF4-FFF2-40B4-BE49-F238E27FC236}">
                <a16:creationId xmlns:a16="http://schemas.microsoft.com/office/drawing/2014/main" id="{B0A29202-CA5E-B38E-2D4E-C70A59C45D73}"/>
              </a:ext>
            </a:extLst>
          </p:cNvPr>
          <p:cNvSpPr>
            <a:spLocks noGrp="1" noChangeArrowheads="1"/>
          </p:cNvSpPr>
          <p:nvPr>
            <p:ph type="title"/>
          </p:nvPr>
        </p:nvSpPr>
        <p:spPr/>
        <p:txBody>
          <a:bodyPr/>
          <a:lstStyle/>
          <a:p>
            <a:r>
              <a:rPr lang="en-AU" altLang="en-US"/>
              <a:t>Passive Attacks</a:t>
            </a:r>
          </a:p>
        </p:txBody>
      </p:sp>
      <p:sp>
        <p:nvSpPr>
          <p:cNvPr id="47108" name="Rectangle 6">
            <a:extLst>
              <a:ext uri="{FF2B5EF4-FFF2-40B4-BE49-F238E27FC236}">
                <a16:creationId xmlns:a16="http://schemas.microsoft.com/office/drawing/2014/main" id="{3EB4286E-49CA-88F6-EE0E-360E770673AE}"/>
              </a:ext>
            </a:extLst>
          </p:cNvPr>
          <p:cNvSpPr>
            <a:spLocks noGrp="1" noChangeArrowheads="1"/>
          </p:cNvSpPr>
          <p:nvPr>
            <p:ph idx="1"/>
          </p:nvPr>
        </p:nvSpPr>
        <p:spPr>
          <a:xfrm>
            <a:off x="457200" y="1295400"/>
            <a:ext cx="8458200" cy="1295400"/>
          </a:xfrm>
        </p:spPr>
        <p:txBody>
          <a:bodyPr rtlCol="0">
            <a:normAutofit lnSpcReduction="10000"/>
          </a:bodyPr>
          <a:lstStyle/>
          <a:p>
            <a:pPr fontAlgn="auto">
              <a:lnSpc>
                <a:spcPct val="80000"/>
              </a:lnSpc>
              <a:spcAft>
                <a:spcPts val="0"/>
              </a:spcAft>
              <a:buFont typeface="Wingdings" pitchFamily="2" charset="2"/>
              <a:buNone/>
              <a:defRPr/>
            </a:pPr>
            <a:r>
              <a:rPr lang="en-US" altLang="en-US" sz="2400" b="1">
                <a:solidFill>
                  <a:schemeClr val="tx1">
                    <a:lumMod val="85000"/>
                    <a:lumOff val="15000"/>
                  </a:schemeClr>
                </a:solidFill>
                <a:latin typeface="Times-Roman" charset="0"/>
              </a:rPr>
              <a:t>    Attempt to learn or make use of information from the system but does not affect system resources</a:t>
            </a:r>
            <a:endParaRPr lang="en-AU" altLang="en-US" sz="2400" b="1">
              <a:solidFill>
                <a:schemeClr val="tx1">
                  <a:lumMod val="85000"/>
                  <a:lumOff val="15000"/>
                </a:schemeClr>
              </a:solidFill>
            </a:endParaRPr>
          </a:p>
          <a:p>
            <a:pPr lvl="1" fontAlgn="auto">
              <a:lnSpc>
                <a:spcPct val="80000"/>
              </a:lnSpc>
              <a:spcAft>
                <a:spcPts val="0"/>
              </a:spcAft>
              <a:defRPr/>
            </a:pPr>
            <a:r>
              <a:rPr lang="en-AU" altLang="en-US" sz="2000" b="1">
                <a:solidFill>
                  <a:schemeClr val="tx1">
                    <a:lumMod val="85000"/>
                    <a:lumOff val="15000"/>
                  </a:schemeClr>
                </a:solidFill>
              </a:rPr>
              <a:t>obtain message contents </a:t>
            </a:r>
          </a:p>
          <a:p>
            <a:pPr lvl="1" fontAlgn="auto">
              <a:lnSpc>
                <a:spcPct val="80000"/>
              </a:lnSpc>
              <a:spcAft>
                <a:spcPts val="0"/>
              </a:spcAft>
              <a:defRPr/>
            </a:pPr>
            <a:r>
              <a:rPr lang="en-AU" altLang="en-US" sz="2000" b="1">
                <a:solidFill>
                  <a:schemeClr val="tx1">
                    <a:lumMod val="85000"/>
                    <a:lumOff val="15000"/>
                  </a:schemeClr>
                </a:solidFill>
              </a:rPr>
              <a:t>traffic analysis or monitor traffic flows</a:t>
            </a:r>
          </a:p>
        </p:txBody>
      </p:sp>
      <p:pic>
        <p:nvPicPr>
          <p:cNvPr id="35843" name="Picture 3">
            <a:extLst>
              <a:ext uri="{FF2B5EF4-FFF2-40B4-BE49-F238E27FC236}">
                <a16:creationId xmlns:a16="http://schemas.microsoft.com/office/drawing/2014/main" id="{7D74D44A-1278-87F2-F4B4-09C13A26D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667000"/>
            <a:ext cx="8077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AutoShape 5" descr="01fig03">
            <a:extLst>
              <a:ext uri="{FF2B5EF4-FFF2-40B4-BE49-F238E27FC236}">
                <a16:creationId xmlns:a16="http://schemas.microsoft.com/office/drawing/2014/main" id="{A8813941-30A3-8CC3-8F2F-C67B75401A50}"/>
              </a:ext>
            </a:extLst>
          </p:cNvPr>
          <p:cNvSpPr>
            <a:spLocks noChangeAspect="1" noChangeArrowheads="1"/>
          </p:cNvSpPr>
          <p:nvPr/>
        </p:nvSpPr>
        <p:spPr bwMode="auto">
          <a:xfrm>
            <a:off x="2190750" y="671513"/>
            <a:ext cx="4762500" cy="551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endParaRPr lang="en-US" altLang="en-US" sz="180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AutoShape 2">
            <a:extLst>
              <a:ext uri="{FF2B5EF4-FFF2-40B4-BE49-F238E27FC236}">
                <a16:creationId xmlns:a16="http://schemas.microsoft.com/office/drawing/2014/main" id="{C6B7BF74-22BD-97EB-BE82-D667F505F156}"/>
              </a:ext>
            </a:extLst>
          </p:cNvPr>
          <p:cNvSpPr>
            <a:spLocks noGrp="1" noChangeArrowheads="1"/>
          </p:cNvSpPr>
          <p:nvPr>
            <p:ph type="title"/>
          </p:nvPr>
        </p:nvSpPr>
        <p:spPr/>
        <p:txBody>
          <a:bodyPr/>
          <a:lstStyle/>
          <a:p>
            <a:r>
              <a:rPr lang="en-AU" altLang="en-US"/>
              <a:t>Active Attacks</a:t>
            </a:r>
          </a:p>
        </p:txBody>
      </p:sp>
      <p:sp>
        <p:nvSpPr>
          <p:cNvPr id="37890" name="Rectangle 4">
            <a:extLst>
              <a:ext uri="{FF2B5EF4-FFF2-40B4-BE49-F238E27FC236}">
                <a16:creationId xmlns:a16="http://schemas.microsoft.com/office/drawing/2014/main" id="{AFE3502C-397A-2330-3153-90D8E4813150}"/>
              </a:ext>
            </a:extLst>
          </p:cNvPr>
          <p:cNvSpPr>
            <a:spLocks noGrp="1" noChangeArrowheads="1"/>
          </p:cNvSpPr>
          <p:nvPr>
            <p:ph idx="1"/>
          </p:nvPr>
        </p:nvSpPr>
        <p:spPr>
          <a:xfrm>
            <a:off x="457200" y="1295400"/>
            <a:ext cx="8229600" cy="2514600"/>
          </a:xfrm>
        </p:spPr>
        <p:txBody>
          <a:bodyPr/>
          <a:lstStyle/>
          <a:p>
            <a:pPr>
              <a:buFont typeface="Wingdings" pitchFamily="2" charset="2"/>
              <a:buNone/>
            </a:pPr>
            <a:r>
              <a:rPr lang="en-US" altLang="en-US" sz="2400" b="1">
                <a:latin typeface="Times-Roman" charset="0"/>
              </a:rPr>
              <a:t>    Attempt to alter system resources or affect their operation</a:t>
            </a:r>
          </a:p>
          <a:p>
            <a:pPr lvl="1"/>
            <a:r>
              <a:rPr lang="en-US" altLang="en-US" sz="2000" b="1"/>
              <a:t>masquerade of one entity as some other</a:t>
            </a:r>
            <a:endParaRPr lang="en-AU" altLang="en-US" sz="2000" b="1"/>
          </a:p>
          <a:p>
            <a:pPr lvl="1"/>
            <a:r>
              <a:rPr lang="en-US" altLang="en-US" sz="2000" b="1"/>
              <a:t>replay previous messages</a:t>
            </a:r>
          </a:p>
          <a:p>
            <a:pPr lvl="1"/>
            <a:r>
              <a:rPr lang="en-US" altLang="en-US" sz="2000" b="1"/>
              <a:t>modify messages in transit</a:t>
            </a:r>
          </a:p>
          <a:p>
            <a:pPr lvl="1"/>
            <a:r>
              <a:rPr lang="en-US" altLang="en-US" sz="2000" b="1"/>
              <a:t>denial of service</a:t>
            </a:r>
            <a:endParaRPr lang="en-US" altLang="en-US" b="1">
              <a:latin typeface="Times-Roman" charset="0"/>
            </a:endParaRPr>
          </a:p>
        </p:txBody>
      </p:sp>
      <p:pic>
        <p:nvPicPr>
          <p:cNvPr id="37891" name="Picture 3">
            <a:extLst>
              <a:ext uri="{FF2B5EF4-FFF2-40B4-BE49-F238E27FC236}">
                <a16:creationId xmlns:a16="http://schemas.microsoft.com/office/drawing/2014/main" id="{41D910EC-31F8-D9A7-6093-548E444B1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782888"/>
            <a:ext cx="8229600" cy="399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7" name="AutoShape 2">
            <a:extLst>
              <a:ext uri="{FF2B5EF4-FFF2-40B4-BE49-F238E27FC236}">
                <a16:creationId xmlns:a16="http://schemas.microsoft.com/office/drawing/2014/main" id="{C68E4536-FD9A-32DA-A6B0-0F1B4C13BFBE}"/>
              </a:ext>
            </a:extLst>
          </p:cNvPr>
          <p:cNvSpPr>
            <a:spLocks noGrp="1" noChangeArrowheads="1"/>
          </p:cNvSpPr>
          <p:nvPr>
            <p:ph type="title"/>
          </p:nvPr>
        </p:nvSpPr>
        <p:spPr/>
        <p:txBody>
          <a:bodyPr/>
          <a:lstStyle/>
          <a:p>
            <a:r>
              <a:rPr lang="en-US" altLang="en-US"/>
              <a:t>Masquerade</a:t>
            </a:r>
          </a:p>
        </p:txBody>
      </p:sp>
      <p:sp>
        <p:nvSpPr>
          <p:cNvPr id="331779" name="Rectangle 3">
            <a:extLst>
              <a:ext uri="{FF2B5EF4-FFF2-40B4-BE49-F238E27FC236}">
                <a16:creationId xmlns:a16="http://schemas.microsoft.com/office/drawing/2014/main" id="{EBFE94CD-DC65-5742-56AD-BF60445B0A13}"/>
              </a:ext>
            </a:extLst>
          </p:cNvPr>
          <p:cNvSpPr>
            <a:spLocks noGrp="1" noChangeArrowheads="1"/>
          </p:cNvSpPr>
          <p:nvPr>
            <p:ph idx="1"/>
          </p:nvPr>
        </p:nvSpPr>
        <p:spPr>
          <a:xfrm>
            <a:off x="685800" y="1295400"/>
            <a:ext cx="8305800" cy="2057400"/>
          </a:xfrm>
        </p:spPr>
        <p:txBody>
          <a:bodyPr/>
          <a:lstStyle/>
          <a:p>
            <a:r>
              <a:rPr lang="en-US" altLang="en-US" b="1"/>
              <a:t>An entity pretends to be another</a:t>
            </a:r>
          </a:p>
          <a:p>
            <a:r>
              <a:rPr lang="en-US" altLang="en-US" b="1"/>
              <a:t>IP spoofing</a:t>
            </a:r>
          </a:p>
          <a:p>
            <a:r>
              <a:rPr lang="en-US" altLang="en-US" b="1"/>
              <a:t>How to protect?</a:t>
            </a:r>
          </a:p>
          <a:p>
            <a:pPr lvl="1"/>
            <a:r>
              <a:rPr lang="en-US" altLang="en-US" b="1"/>
              <a:t>Entity Authentication</a:t>
            </a:r>
          </a:p>
        </p:txBody>
      </p:sp>
      <p:pic>
        <p:nvPicPr>
          <p:cNvPr id="39939" name="Picture 4">
            <a:extLst>
              <a:ext uri="{FF2B5EF4-FFF2-40B4-BE49-F238E27FC236}">
                <a16:creationId xmlns:a16="http://schemas.microsoft.com/office/drawing/2014/main" id="{C4BE278D-E215-D566-B53E-B7C50A2AC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352800"/>
            <a:ext cx="793591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1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31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3177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3317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1" name="AutoShape 2">
            <a:extLst>
              <a:ext uri="{FF2B5EF4-FFF2-40B4-BE49-F238E27FC236}">
                <a16:creationId xmlns:a16="http://schemas.microsoft.com/office/drawing/2014/main" id="{27755FE7-440C-8006-DB1A-AC7A865D8502}"/>
              </a:ext>
            </a:extLst>
          </p:cNvPr>
          <p:cNvSpPr>
            <a:spLocks noGrp="1" noChangeArrowheads="1"/>
          </p:cNvSpPr>
          <p:nvPr>
            <p:ph type="title"/>
          </p:nvPr>
        </p:nvSpPr>
        <p:spPr>
          <a:xfrm>
            <a:off x="609600" y="76200"/>
            <a:ext cx="8458200" cy="838200"/>
          </a:xfrm>
        </p:spPr>
        <p:txBody>
          <a:bodyPr/>
          <a:lstStyle/>
          <a:p>
            <a:r>
              <a:rPr lang="en-US" altLang="en-US"/>
              <a:t>Replay</a:t>
            </a:r>
          </a:p>
        </p:txBody>
      </p:sp>
      <p:sp>
        <p:nvSpPr>
          <p:cNvPr id="334851" name="Rectangle 3">
            <a:extLst>
              <a:ext uri="{FF2B5EF4-FFF2-40B4-BE49-F238E27FC236}">
                <a16:creationId xmlns:a16="http://schemas.microsoft.com/office/drawing/2014/main" id="{964C7EF0-2839-452B-E2ED-C50E475198D9}"/>
              </a:ext>
            </a:extLst>
          </p:cNvPr>
          <p:cNvSpPr>
            <a:spLocks noGrp="1" noChangeArrowheads="1"/>
          </p:cNvSpPr>
          <p:nvPr>
            <p:ph idx="1"/>
          </p:nvPr>
        </p:nvSpPr>
        <p:spPr>
          <a:xfrm>
            <a:off x="685800" y="1295400"/>
            <a:ext cx="8305800" cy="2209800"/>
          </a:xfrm>
        </p:spPr>
        <p:txBody>
          <a:bodyPr/>
          <a:lstStyle/>
          <a:p>
            <a:r>
              <a:rPr lang="en-US" altLang="en-US" sz="2400" b="1"/>
              <a:t>First capture of data and then retransmission to produce an unauthorized effect</a:t>
            </a:r>
          </a:p>
          <a:p>
            <a:r>
              <a:rPr lang="en-US" altLang="en-US" sz="2400" b="1"/>
              <a:t>How to protect?</a:t>
            </a:r>
          </a:p>
          <a:p>
            <a:pPr lvl="1"/>
            <a:r>
              <a:rPr lang="en-US" altLang="en-US" b="1"/>
              <a:t>Time stamps</a:t>
            </a:r>
          </a:p>
          <a:p>
            <a:pPr lvl="1"/>
            <a:r>
              <a:rPr lang="en-US" altLang="en-US" b="1"/>
              <a:t>Sequence Numbers</a:t>
            </a:r>
          </a:p>
        </p:txBody>
      </p:sp>
      <p:pic>
        <p:nvPicPr>
          <p:cNvPr id="40963" name="Picture 4">
            <a:extLst>
              <a:ext uri="{FF2B5EF4-FFF2-40B4-BE49-F238E27FC236}">
                <a16:creationId xmlns:a16="http://schemas.microsoft.com/office/drawing/2014/main" id="{CB345273-D666-DEEF-5AD7-18C364CE4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581400"/>
            <a:ext cx="8153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48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3485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33485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3348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5" name="AutoShape 2">
            <a:extLst>
              <a:ext uri="{FF2B5EF4-FFF2-40B4-BE49-F238E27FC236}">
                <a16:creationId xmlns:a16="http://schemas.microsoft.com/office/drawing/2014/main" id="{2ED8E2AA-8112-09C5-F93C-8E5835F91A84}"/>
              </a:ext>
            </a:extLst>
          </p:cNvPr>
          <p:cNvSpPr>
            <a:spLocks noGrp="1" noChangeArrowheads="1"/>
          </p:cNvSpPr>
          <p:nvPr>
            <p:ph type="title"/>
          </p:nvPr>
        </p:nvSpPr>
        <p:spPr>
          <a:xfrm>
            <a:off x="685800" y="76200"/>
            <a:ext cx="8382000" cy="838200"/>
          </a:xfrm>
        </p:spPr>
        <p:txBody>
          <a:bodyPr/>
          <a:lstStyle/>
          <a:p>
            <a:r>
              <a:rPr lang="en-US" altLang="en-US"/>
              <a:t>Modification of Messages</a:t>
            </a:r>
          </a:p>
        </p:txBody>
      </p:sp>
      <p:sp>
        <p:nvSpPr>
          <p:cNvPr id="337923" name="Rectangle 3">
            <a:extLst>
              <a:ext uri="{FF2B5EF4-FFF2-40B4-BE49-F238E27FC236}">
                <a16:creationId xmlns:a16="http://schemas.microsoft.com/office/drawing/2014/main" id="{CA9A5659-79A3-545C-E686-0924BCC8BA10}"/>
              </a:ext>
            </a:extLst>
          </p:cNvPr>
          <p:cNvSpPr>
            <a:spLocks noGrp="1" noChangeArrowheads="1"/>
          </p:cNvSpPr>
          <p:nvPr>
            <p:ph idx="1"/>
          </p:nvPr>
        </p:nvSpPr>
        <p:spPr>
          <a:xfrm>
            <a:off x="685800" y="1295400"/>
            <a:ext cx="8305800" cy="2514600"/>
          </a:xfrm>
        </p:spPr>
        <p:txBody>
          <a:bodyPr/>
          <a:lstStyle/>
          <a:p>
            <a:r>
              <a:rPr lang="en-US" altLang="en-US" sz="2400" b="1"/>
              <a:t>Some portion of a legitimate message is altered or messages are delayed or reordered to produce an unauthorized effect</a:t>
            </a:r>
          </a:p>
          <a:p>
            <a:r>
              <a:rPr lang="en-US" altLang="en-US" sz="2400" b="1"/>
              <a:t>How to protect?</a:t>
            </a:r>
          </a:p>
          <a:p>
            <a:pPr lvl="1"/>
            <a:r>
              <a:rPr lang="en-US" altLang="en-US" b="1"/>
              <a:t>Message Authentication Codes</a:t>
            </a:r>
          </a:p>
          <a:p>
            <a:pPr lvl="1"/>
            <a:r>
              <a:rPr lang="en-US" altLang="en-US" b="1"/>
              <a:t>Chaining</a:t>
            </a:r>
          </a:p>
        </p:txBody>
      </p:sp>
      <p:pic>
        <p:nvPicPr>
          <p:cNvPr id="41987" name="Picture 4">
            <a:extLst>
              <a:ext uri="{FF2B5EF4-FFF2-40B4-BE49-F238E27FC236}">
                <a16:creationId xmlns:a16="http://schemas.microsoft.com/office/drawing/2014/main" id="{7023794E-291E-0E02-971F-2B4FA65BDA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10000"/>
            <a:ext cx="845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79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3792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33792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3379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9" name="AutoShape 2">
            <a:extLst>
              <a:ext uri="{FF2B5EF4-FFF2-40B4-BE49-F238E27FC236}">
                <a16:creationId xmlns:a16="http://schemas.microsoft.com/office/drawing/2014/main" id="{42F6826D-E985-1085-1B45-7E24CF44AAF9}"/>
              </a:ext>
            </a:extLst>
          </p:cNvPr>
          <p:cNvSpPr>
            <a:spLocks noGrp="1" noChangeArrowheads="1"/>
          </p:cNvSpPr>
          <p:nvPr>
            <p:ph type="title"/>
          </p:nvPr>
        </p:nvSpPr>
        <p:spPr>
          <a:xfrm>
            <a:off x="685800" y="76200"/>
            <a:ext cx="8382000" cy="838200"/>
          </a:xfrm>
        </p:spPr>
        <p:txBody>
          <a:bodyPr/>
          <a:lstStyle/>
          <a:p>
            <a:r>
              <a:rPr lang="en-US" altLang="en-US"/>
              <a:t>Denial of Service - DOS</a:t>
            </a:r>
          </a:p>
        </p:txBody>
      </p:sp>
      <p:sp>
        <p:nvSpPr>
          <p:cNvPr id="340995" name="Rectangle 3">
            <a:extLst>
              <a:ext uri="{FF2B5EF4-FFF2-40B4-BE49-F238E27FC236}">
                <a16:creationId xmlns:a16="http://schemas.microsoft.com/office/drawing/2014/main" id="{4DFEA958-1595-3FAB-33FF-BB5C6E154E8F}"/>
              </a:ext>
            </a:extLst>
          </p:cNvPr>
          <p:cNvSpPr>
            <a:spLocks noGrp="1" noChangeArrowheads="1"/>
          </p:cNvSpPr>
          <p:nvPr>
            <p:ph idx="1"/>
          </p:nvPr>
        </p:nvSpPr>
        <p:spPr>
          <a:xfrm>
            <a:off x="685800" y="1295400"/>
            <a:ext cx="8305800" cy="1981200"/>
          </a:xfrm>
        </p:spPr>
        <p:txBody>
          <a:bodyPr rtlCol="0">
            <a:normAutofit lnSpcReduction="10000"/>
          </a:bodyPr>
          <a:lstStyle/>
          <a:p>
            <a:pPr fontAlgn="auto">
              <a:spcAft>
                <a:spcPts val="0"/>
              </a:spcAft>
              <a:defRPr/>
            </a:pPr>
            <a:r>
              <a:rPr lang="en-US" altLang="en-US" sz="2400" b="1">
                <a:solidFill>
                  <a:schemeClr val="tx1">
                    <a:lumMod val="85000"/>
                    <a:lumOff val="15000"/>
                  </a:schemeClr>
                </a:solidFill>
              </a:rPr>
              <a:t>Prevents the normal use of communication systems</a:t>
            </a:r>
          </a:p>
          <a:p>
            <a:pPr fontAlgn="auto">
              <a:spcAft>
                <a:spcPts val="0"/>
              </a:spcAft>
              <a:defRPr/>
            </a:pPr>
            <a:r>
              <a:rPr lang="en-US" altLang="en-US" sz="2400" b="1">
                <a:solidFill>
                  <a:schemeClr val="tx1">
                    <a:lumMod val="85000"/>
                    <a:lumOff val="15000"/>
                  </a:schemeClr>
                </a:solidFill>
              </a:rPr>
              <a:t>Serious threat to web servers</a:t>
            </a:r>
          </a:p>
          <a:p>
            <a:pPr fontAlgn="auto">
              <a:spcAft>
                <a:spcPts val="0"/>
              </a:spcAft>
              <a:defRPr/>
            </a:pPr>
            <a:r>
              <a:rPr lang="en-US" altLang="en-US" sz="2400" b="1">
                <a:solidFill>
                  <a:schemeClr val="tx1">
                    <a:lumMod val="85000"/>
                    <a:lumOff val="15000"/>
                  </a:schemeClr>
                </a:solidFill>
              </a:rPr>
              <a:t>On the Internet, hackers can crash the TCP/IP by exploiting known vulnerabilities</a:t>
            </a:r>
          </a:p>
          <a:p>
            <a:pPr fontAlgn="auto">
              <a:spcAft>
                <a:spcPts val="0"/>
              </a:spcAft>
              <a:defRPr/>
            </a:pPr>
            <a:r>
              <a:rPr lang="en-US" altLang="en-US" sz="2400" b="1">
                <a:solidFill>
                  <a:schemeClr val="tx1">
                    <a:lumMod val="85000"/>
                    <a:lumOff val="15000"/>
                  </a:schemeClr>
                </a:solidFill>
              </a:rPr>
              <a:t>Constantly updates the security patches</a:t>
            </a:r>
          </a:p>
        </p:txBody>
      </p:sp>
      <p:pic>
        <p:nvPicPr>
          <p:cNvPr id="43011" name="Picture 4">
            <a:extLst>
              <a:ext uri="{FF2B5EF4-FFF2-40B4-BE49-F238E27FC236}">
                <a16:creationId xmlns:a16="http://schemas.microsoft.com/office/drawing/2014/main" id="{48565505-A355-E6B0-7EFC-3CDBED78D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313" y="3352800"/>
            <a:ext cx="819308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09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09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AutoShape 2">
            <a:extLst>
              <a:ext uri="{FF2B5EF4-FFF2-40B4-BE49-F238E27FC236}">
                <a16:creationId xmlns:a16="http://schemas.microsoft.com/office/drawing/2014/main" id="{8A93BD07-F050-1292-619A-1228A8253773}"/>
              </a:ext>
            </a:extLst>
          </p:cNvPr>
          <p:cNvSpPr>
            <a:spLocks noGrp="1" noChangeArrowheads="1"/>
          </p:cNvSpPr>
          <p:nvPr>
            <p:ph type="title"/>
          </p:nvPr>
        </p:nvSpPr>
        <p:spPr>
          <a:xfrm>
            <a:off x="685800" y="76200"/>
            <a:ext cx="7772400" cy="793750"/>
          </a:xfrm>
        </p:spPr>
        <p:txBody>
          <a:bodyPr rtlCol="0">
            <a:normAutofit/>
          </a:bodyPr>
          <a:lstStyle/>
          <a:p>
            <a:pPr fontAlgn="auto">
              <a:spcAft>
                <a:spcPts val="0"/>
              </a:spcAft>
              <a:defRPr/>
            </a:pPr>
            <a:r>
              <a:rPr lang="en-US">
                <a:effectLst>
                  <a:outerShdw blurRad="38100" dist="38100" dir="2700000" algn="tl">
                    <a:srgbClr val="C0C0C0"/>
                  </a:outerShdw>
                </a:effectLst>
              </a:rPr>
              <a:t>Security Threats </a:t>
            </a:r>
            <a:endParaRPr lang="en-US"/>
          </a:p>
        </p:txBody>
      </p:sp>
      <p:pic>
        <p:nvPicPr>
          <p:cNvPr id="44034" name="Picture 3">
            <a:extLst>
              <a:ext uri="{FF2B5EF4-FFF2-40B4-BE49-F238E27FC236}">
                <a16:creationId xmlns:a16="http://schemas.microsoft.com/office/drawing/2014/main" id="{17EAC04D-72E9-0AC2-49EA-304D3FC50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19200"/>
            <a:ext cx="80772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Rectangle 6">
            <a:extLst>
              <a:ext uri="{FF2B5EF4-FFF2-40B4-BE49-F238E27FC236}">
                <a16:creationId xmlns:a16="http://schemas.microsoft.com/office/drawing/2014/main" id="{9BDA00DF-F977-8148-8D71-D0E9218A5DD4}"/>
              </a:ext>
            </a:extLst>
          </p:cNvPr>
          <p:cNvSpPr>
            <a:spLocks noChangeArrowheads="1"/>
          </p:cNvSpPr>
          <p:nvPr/>
        </p:nvSpPr>
        <p:spPr bwMode="auto">
          <a:xfrm>
            <a:off x="1066800" y="6324600"/>
            <a:ext cx="7772400" cy="381000"/>
          </a:xfrm>
          <a:prstGeom prst="rect">
            <a:avLst/>
          </a:prstGeom>
          <a:solidFill>
            <a:schemeClr val="bg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000" b="1">
                <a:latin typeface="Arial" panose="020B0604020202020204" pitchFamily="34" charset="0"/>
              </a:rPr>
              <a:t>Which threats are active and passive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AutoShape 2">
            <a:extLst>
              <a:ext uri="{FF2B5EF4-FFF2-40B4-BE49-F238E27FC236}">
                <a16:creationId xmlns:a16="http://schemas.microsoft.com/office/drawing/2014/main" id="{B432A20F-523A-DC5C-EDBC-D95C23F13881}"/>
              </a:ext>
            </a:extLst>
          </p:cNvPr>
          <p:cNvSpPr>
            <a:spLocks noGrp="1" noChangeArrowheads="1"/>
          </p:cNvSpPr>
          <p:nvPr>
            <p:ph type="title"/>
          </p:nvPr>
        </p:nvSpPr>
        <p:spPr>
          <a:xfrm>
            <a:off x="381000" y="76200"/>
            <a:ext cx="8763000" cy="838200"/>
          </a:xfrm>
        </p:spPr>
        <p:txBody>
          <a:bodyPr/>
          <a:lstStyle/>
          <a:p>
            <a:pPr algn="r"/>
            <a:r>
              <a:rPr lang="en-US" altLang="en-US"/>
              <a:t>Threats Effect on Information Systems</a:t>
            </a:r>
          </a:p>
        </p:txBody>
      </p:sp>
      <p:sp>
        <p:nvSpPr>
          <p:cNvPr id="45058" name="Oval 3">
            <a:extLst>
              <a:ext uri="{FF2B5EF4-FFF2-40B4-BE49-F238E27FC236}">
                <a16:creationId xmlns:a16="http://schemas.microsoft.com/office/drawing/2014/main" id="{74EE4A4A-430D-ED19-5709-5AD4182E96B9}"/>
              </a:ext>
            </a:extLst>
          </p:cNvPr>
          <p:cNvSpPr>
            <a:spLocks noChangeArrowheads="1"/>
          </p:cNvSpPr>
          <p:nvPr/>
        </p:nvSpPr>
        <p:spPr bwMode="auto">
          <a:xfrm>
            <a:off x="3771900" y="1905000"/>
            <a:ext cx="2362200" cy="990600"/>
          </a:xfrm>
          <a:prstGeom prst="ellipse">
            <a:avLst/>
          </a:prstGeom>
          <a:solidFill>
            <a:schemeClr val="bg1"/>
          </a:solidFill>
          <a:ln w="38100">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000" b="1">
                <a:latin typeface="Arial" panose="020B0604020202020204" pitchFamily="34" charset="0"/>
              </a:rPr>
              <a:t>HARDWARE</a:t>
            </a:r>
          </a:p>
        </p:txBody>
      </p:sp>
      <p:sp>
        <p:nvSpPr>
          <p:cNvPr id="45059" name="Oval 4">
            <a:extLst>
              <a:ext uri="{FF2B5EF4-FFF2-40B4-BE49-F238E27FC236}">
                <a16:creationId xmlns:a16="http://schemas.microsoft.com/office/drawing/2014/main" id="{CA1BB91C-C5B3-33A7-1368-126BD25E9A26}"/>
              </a:ext>
            </a:extLst>
          </p:cNvPr>
          <p:cNvSpPr>
            <a:spLocks noChangeArrowheads="1"/>
          </p:cNvSpPr>
          <p:nvPr/>
        </p:nvSpPr>
        <p:spPr bwMode="auto">
          <a:xfrm>
            <a:off x="3810000" y="3657600"/>
            <a:ext cx="2362200" cy="990600"/>
          </a:xfrm>
          <a:prstGeom prst="ellipse">
            <a:avLst/>
          </a:prstGeom>
          <a:solidFill>
            <a:schemeClr val="bg1"/>
          </a:solidFill>
          <a:ln w="38100">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000" b="1">
                <a:latin typeface="Arial" panose="020B0604020202020204" pitchFamily="34" charset="0"/>
              </a:rPr>
              <a:t>SOFTWARE</a:t>
            </a:r>
          </a:p>
        </p:txBody>
      </p:sp>
      <p:sp>
        <p:nvSpPr>
          <p:cNvPr id="45060" name="Oval 5">
            <a:extLst>
              <a:ext uri="{FF2B5EF4-FFF2-40B4-BE49-F238E27FC236}">
                <a16:creationId xmlns:a16="http://schemas.microsoft.com/office/drawing/2014/main" id="{41D3CFF8-E6BA-1229-51DE-657D323DC780}"/>
              </a:ext>
            </a:extLst>
          </p:cNvPr>
          <p:cNvSpPr>
            <a:spLocks noChangeArrowheads="1"/>
          </p:cNvSpPr>
          <p:nvPr/>
        </p:nvSpPr>
        <p:spPr bwMode="auto">
          <a:xfrm>
            <a:off x="3810000" y="5638800"/>
            <a:ext cx="2362200" cy="990600"/>
          </a:xfrm>
          <a:prstGeom prst="ellipse">
            <a:avLst/>
          </a:prstGeom>
          <a:solidFill>
            <a:schemeClr val="bg1"/>
          </a:solidFill>
          <a:ln w="38100">
            <a:solidFill>
              <a:schemeClr val="tx1"/>
            </a:solidFill>
            <a:round/>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000" b="1">
                <a:latin typeface="Arial" panose="020B0604020202020204" pitchFamily="34" charset="0"/>
              </a:rPr>
              <a:t>DATA</a:t>
            </a:r>
          </a:p>
        </p:txBody>
      </p:sp>
      <p:sp>
        <p:nvSpPr>
          <p:cNvPr id="45061" name="Freeform 6">
            <a:extLst>
              <a:ext uri="{FF2B5EF4-FFF2-40B4-BE49-F238E27FC236}">
                <a16:creationId xmlns:a16="http://schemas.microsoft.com/office/drawing/2014/main" id="{7CE1D7FB-4C87-955A-C6B4-92A20652C17B}"/>
              </a:ext>
            </a:extLst>
          </p:cNvPr>
          <p:cNvSpPr>
            <a:spLocks/>
          </p:cNvSpPr>
          <p:nvPr/>
        </p:nvSpPr>
        <p:spPr bwMode="auto">
          <a:xfrm>
            <a:off x="6172200" y="222567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2" name="Text Box 7">
            <a:extLst>
              <a:ext uri="{FF2B5EF4-FFF2-40B4-BE49-F238E27FC236}">
                <a16:creationId xmlns:a16="http://schemas.microsoft.com/office/drawing/2014/main" id="{90A60C9D-274B-CB42-A5EF-2911AD6EFC70}"/>
              </a:ext>
            </a:extLst>
          </p:cNvPr>
          <p:cNvSpPr txBox="1">
            <a:spLocks noChangeArrowheads="1"/>
          </p:cNvSpPr>
          <p:nvPr/>
        </p:nvSpPr>
        <p:spPr bwMode="auto">
          <a:xfrm>
            <a:off x="6553200" y="1644650"/>
            <a:ext cx="167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Interception (Theft)</a:t>
            </a:r>
          </a:p>
        </p:txBody>
      </p:sp>
      <p:sp>
        <p:nvSpPr>
          <p:cNvPr id="45063" name="Freeform 8">
            <a:extLst>
              <a:ext uri="{FF2B5EF4-FFF2-40B4-BE49-F238E27FC236}">
                <a16:creationId xmlns:a16="http://schemas.microsoft.com/office/drawing/2014/main" id="{8A27FC79-7D13-8A81-A0CA-C8FD4593FB91}"/>
              </a:ext>
            </a:extLst>
          </p:cNvPr>
          <p:cNvSpPr>
            <a:spLocks/>
          </p:cNvSpPr>
          <p:nvPr/>
        </p:nvSpPr>
        <p:spPr bwMode="auto">
          <a:xfrm flipH="1">
            <a:off x="3162300" y="222567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4" name="Text Box 9">
            <a:extLst>
              <a:ext uri="{FF2B5EF4-FFF2-40B4-BE49-F238E27FC236}">
                <a16:creationId xmlns:a16="http://schemas.microsoft.com/office/drawing/2014/main" id="{341AEDD5-24FE-394C-E6A1-F9E391848925}"/>
              </a:ext>
            </a:extLst>
          </p:cNvPr>
          <p:cNvSpPr txBox="1">
            <a:spLocks noChangeArrowheads="1"/>
          </p:cNvSpPr>
          <p:nvPr/>
        </p:nvSpPr>
        <p:spPr bwMode="auto">
          <a:xfrm>
            <a:off x="1066800" y="1644650"/>
            <a:ext cx="2209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Interruption </a:t>
            </a:r>
            <a:br>
              <a:rPr lang="en-US" altLang="en-US" sz="1800" b="1">
                <a:latin typeface="Arial" panose="020B0604020202020204" pitchFamily="34" charset="0"/>
              </a:rPr>
            </a:br>
            <a:r>
              <a:rPr lang="en-US" altLang="en-US" sz="1800" b="1">
                <a:latin typeface="Arial" panose="020B0604020202020204" pitchFamily="34" charset="0"/>
              </a:rPr>
              <a:t>(Denial of Service)</a:t>
            </a:r>
          </a:p>
        </p:txBody>
      </p:sp>
      <p:sp>
        <p:nvSpPr>
          <p:cNvPr id="45065" name="Freeform 10">
            <a:extLst>
              <a:ext uri="{FF2B5EF4-FFF2-40B4-BE49-F238E27FC236}">
                <a16:creationId xmlns:a16="http://schemas.microsoft.com/office/drawing/2014/main" id="{68B8BC57-CCBB-FB4F-A98B-BAB2BC6662F0}"/>
              </a:ext>
            </a:extLst>
          </p:cNvPr>
          <p:cNvSpPr>
            <a:spLocks/>
          </p:cNvSpPr>
          <p:nvPr/>
        </p:nvSpPr>
        <p:spPr bwMode="auto">
          <a:xfrm>
            <a:off x="6172200" y="576262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6" name="Text Box 11">
            <a:extLst>
              <a:ext uri="{FF2B5EF4-FFF2-40B4-BE49-F238E27FC236}">
                <a16:creationId xmlns:a16="http://schemas.microsoft.com/office/drawing/2014/main" id="{79CFAAFE-C3F4-FCD0-DE99-985EDB49ADA7}"/>
              </a:ext>
            </a:extLst>
          </p:cNvPr>
          <p:cNvSpPr txBox="1">
            <a:spLocks noChangeArrowheads="1"/>
          </p:cNvSpPr>
          <p:nvPr/>
        </p:nvSpPr>
        <p:spPr bwMode="auto">
          <a:xfrm>
            <a:off x="6705600" y="5454650"/>
            <a:ext cx="2286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Interception (Eavesdropping)</a:t>
            </a:r>
          </a:p>
        </p:txBody>
      </p:sp>
      <p:sp>
        <p:nvSpPr>
          <p:cNvPr id="45067" name="Freeform 12">
            <a:extLst>
              <a:ext uri="{FF2B5EF4-FFF2-40B4-BE49-F238E27FC236}">
                <a16:creationId xmlns:a16="http://schemas.microsoft.com/office/drawing/2014/main" id="{BA1E186C-4BA1-6CF7-462B-E094E0BBD6B8}"/>
              </a:ext>
            </a:extLst>
          </p:cNvPr>
          <p:cNvSpPr>
            <a:spLocks/>
          </p:cNvSpPr>
          <p:nvPr/>
        </p:nvSpPr>
        <p:spPr bwMode="auto">
          <a:xfrm flipH="1">
            <a:off x="3162300" y="576262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8" name="Text Box 13">
            <a:extLst>
              <a:ext uri="{FF2B5EF4-FFF2-40B4-BE49-F238E27FC236}">
                <a16:creationId xmlns:a16="http://schemas.microsoft.com/office/drawing/2014/main" id="{D5651A96-F5E0-6FDA-49FD-DACAD64F7B8A}"/>
              </a:ext>
            </a:extLst>
          </p:cNvPr>
          <p:cNvSpPr txBox="1">
            <a:spLocks noChangeArrowheads="1"/>
          </p:cNvSpPr>
          <p:nvPr/>
        </p:nvSpPr>
        <p:spPr bwMode="auto">
          <a:xfrm>
            <a:off x="1143000" y="5486400"/>
            <a:ext cx="2209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Interruption </a:t>
            </a:r>
            <a:br>
              <a:rPr lang="en-US" altLang="en-US" sz="1800" b="1">
                <a:latin typeface="Arial" panose="020B0604020202020204" pitchFamily="34" charset="0"/>
              </a:rPr>
            </a:br>
            <a:r>
              <a:rPr lang="en-US" altLang="en-US" sz="1800" b="1">
                <a:latin typeface="Arial" panose="020B0604020202020204" pitchFamily="34" charset="0"/>
              </a:rPr>
              <a:t>(Loss)</a:t>
            </a:r>
          </a:p>
        </p:txBody>
      </p:sp>
      <p:sp>
        <p:nvSpPr>
          <p:cNvPr id="45069" name="Freeform 14">
            <a:extLst>
              <a:ext uri="{FF2B5EF4-FFF2-40B4-BE49-F238E27FC236}">
                <a16:creationId xmlns:a16="http://schemas.microsoft.com/office/drawing/2014/main" id="{722216B9-5589-F201-7DB4-B1A6023E966A}"/>
              </a:ext>
            </a:extLst>
          </p:cNvPr>
          <p:cNvSpPr>
            <a:spLocks/>
          </p:cNvSpPr>
          <p:nvPr/>
        </p:nvSpPr>
        <p:spPr bwMode="auto">
          <a:xfrm>
            <a:off x="6172200" y="3810000"/>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0" name="Text Box 15">
            <a:extLst>
              <a:ext uri="{FF2B5EF4-FFF2-40B4-BE49-F238E27FC236}">
                <a16:creationId xmlns:a16="http://schemas.microsoft.com/office/drawing/2014/main" id="{0B1A8E0F-2B45-8DBB-6540-37C7E2D1A980}"/>
              </a:ext>
            </a:extLst>
          </p:cNvPr>
          <p:cNvSpPr txBox="1">
            <a:spLocks noChangeArrowheads="1"/>
          </p:cNvSpPr>
          <p:nvPr/>
        </p:nvSpPr>
        <p:spPr bwMode="auto">
          <a:xfrm>
            <a:off x="6553200" y="3352800"/>
            <a:ext cx="167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Interception (Theft)</a:t>
            </a:r>
          </a:p>
        </p:txBody>
      </p:sp>
      <p:sp>
        <p:nvSpPr>
          <p:cNvPr id="45071" name="Freeform 16">
            <a:extLst>
              <a:ext uri="{FF2B5EF4-FFF2-40B4-BE49-F238E27FC236}">
                <a16:creationId xmlns:a16="http://schemas.microsoft.com/office/drawing/2014/main" id="{486C76A2-8D50-1E8E-9FCF-4AC4D6F7F455}"/>
              </a:ext>
            </a:extLst>
          </p:cNvPr>
          <p:cNvSpPr>
            <a:spLocks/>
          </p:cNvSpPr>
          <p:nvPr/>
        </p:nvSpPr>
        <p:spPr bwMode="auto">
          <a:xfrm flipH="1">
            <a:off x="3162300" y="3810000"/>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2" name="Text Box 17">
            <a:extLst>
              <a:ext uri="{FF2B5EF4-FFF2-40B4-BE49-F238E27FC236}">
                <a16:creationId xmlns:a16="http://schemas.microsoft.com/office/drawing/2014/main" id="{13859A62-700E-74D4-AA7E-7BC4A121CC82}"/>
              </a:ext>
            </a:extLst>
          </p:cNvPr>
          <p:cNvSpPr txBox="1">
            <a:spLocks noChangeArrowheads="1"/>
          </p:cNvSpPr>
          <p:nvPr/>
        </p:nvSpPr>
        <p:spPr bwMode="auto">
          <a:xfrm>
            <a:off x="1066800" y="3352800"/>
            <a:ext cx="2209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Interruption </a:t>
            </a:r>
            <a:br>
              <a:rPr lang="en-US" altLang="en-US" sz="1800" b="1">
                <a:latin typeface="Arial" panose="020B0604020202020204" pitchFamily="34" charset="0"/>
              </a:rPr>
            </a:br>
            <a:r>
              <a:rPr lang="en-US" altLang="en-US" sz="1800" b="1">
                <a:latin typeface="Arial" panose="020B0604020202020204" pitchFamily="34" charset="0"/>
              </a:rPr>
              <a:t>(Deletion)</a:t>
            </a:r>
          </a:p>
        </p:txBody>
      </p:sp>
      <p:sp>
        <p:nvSpPr>
          <p:cNvPr id="45073" name="Freeform 18">
            <a:extLst>
              <a:ext uri="{FF2B5EF4-FFF2-40B4-BE49-F238E27FC236}">
                <a16:creationId xmlns:a16="http://schemas.microsoft.com/office/drawing/2014/main" id="{2A7B6443-2842-0763-F61B-84C9AD93B759}"/>
              </a:ext>
            </a:extLst>
          </p:cNvPr>
          <p:cNvSpPr>
            <a:spLocks/>
          </p:cNvSpPr>
          <p:nvPr/>
        </p:nvSpPr>
        <p:spPr bwMode="auto">
          <a:xfrm flipH="1" flipV="1">
            <a:off x="3162300" y="428307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4" name="Text Box 19">
            <a:extLst>
              <a:ext uri="{FF2B5EF4-FFF2-40B4-BE49-F238E27FC236}">
                <a16:creationId xmlns:a16="http://schemas.microsoft.com/office/drawing/2014/main" id="{97503417-A48A-12CE-7026-2B54F0B02139}"/>
              </a:ext>
            </a:extLst>
          </p:cNvPr>
          <p:cNvSpPr txBox="1">
            <a:spLocks noChangeArrowheads="1"/>
          </p:cNvSpPr>
          <p:nvPr/>
        </p:nvSpPr>
        <p:spPr bwMode="auto">
          <a:xfrm>
            <a:off x="1066800" y="4114800"/>
            <a:ext cx="2209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Modification </a:t>
            </a:r>
            <a:br>
              <a:rPr lang="en-US" altLang="en-US" sz="1800" b="1">
                <a:latin typeface="Arial" panose="020B0604020202020204" pitchFamily="34" charset="0"/>
              </a:rPr>
            </a:br>
            <a:r>
              <a:rPr lang="en-US" altLang="en-US" sz="1800" b="1">
                <a:latin typeface="Arial" panose="020B0604020202020204" pitchFamily="34" charset="0"/>
              </a:rPr>
              <a:t>(Malicious Code)</a:t>
            </a:r>
          </a:p>
        </p:txBody>
      </p:sp>
      <p:sp>
        <p:nvSpPr>
          <p:cNvPr id="45075" name="Freeform 20">
            <a:extLst>
              <a:ext uri="{FF2B5EF4-FFF2-40B4-BE49-F238E27FC236}">
                <a16:creationId xmlns:a16="http://schemas.microsoft.com/office/drawing/2014/main" id="{3BD50EE6-A9A1-6C83-0B83-37C4D68468B8}"/>
              </a:ext>
            </a:extLst>
          </p:cNvPr>
          <p:cNvSpPr>
            <a:spLocks/>
          </p:cNvSpPr>
          <p:nvPr/>
        </p:nvSpPr>
        <p:spPr bwMode="auto">
          <a:xfrm flipV="1">
            <a:off x="6172200" y="622617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6" name="Freeform 21">
            <a:extLst>
              <a:ext uri="{FF2B5EF4-FFF2-40B4-BE49-F238E27FC236}">
                <a16:creationId xmlns:a16="http://schemas.microsoft.com/office/drawing/2014/main" id="{C9A2CEFF-437C-7B05-82FE-F774DBB33292}"/>
              </a:ext>
            </a:extLst>
          </p:cNvPr>
          <p:cNvSpPr>
            <a:spLocks/>
          </p:cNvSpPr>
          <p:nvPr/>
        </p:nvSpPr>
        <p:spPr bwMode="auto">
          <a:xfrm flipH="1" flipV="1">
            <a:off x="3162300" y="6226175"/>
            <a:ext cx="609600" cy="212725"/>
          </a:xfrm>
          <a:custGeom>
            <a:avLst/>
            <a:gdLst>
              <a:gd name="T0" fmla="*/ 0 w 576"/>
              <a:gd name="T1" fmla="*/ 2147483646 h 336"/>
              <a:gd name="T2" fmla="*/ 2147483646 w 576"/>
              <a:gd name="T3" fmla="*/ 2147483646 h 336"/>
              <a:gd name="T4" fmla="*/ 2147483646 w 576"/>
              <a:gd name="T5" fmla="*/ 0 h 336"/>
              <a:gd name="T6" fmla="*/ 0 60000 65536"/>
              <a:gd name="T7" fmla="*/ 0 60000 65536"/>
              <a:gd name="T8" fmla="*/ 0 60000 65536"/>
              <a:gd name="T9" fmla="*/ 0 w 576"/>
              <a:gd name="T10" fmla="*/ 0 h 336"/>
              <a:gd name="T11" fmla="*/ 576 w 576"/>
              <a:gd name="T12" fmla="*/ 336 h 336"/>
            </a:gdLst>
            <a:ahLst/>
            <a:cxnLst>
              <a:cxn ang="T6">
                <a:pos x="T0" y="T1"/>
              </a:cxn>
              <a:cxn ang="T7">
                <a:pos x="T2" y="T3"/>
              </a:cxn>
              <a:cxn ang="T8">
                <a:pos x="T4" y="T5"/>
              </a:cxn>
            </a:cxnLst>
            <a:rect l="T9" t="T10" r="T11" b="T12"/>
            <a:pathLst>
              <a:path w="576" h="336">
                <a:moveTo>
                  <a:pt x="0" y="336"/>
                </a:moveTo>
                <a:lnTo>
                  <a:pt x="240" y="336"/>
                </a:lnTo>
                <a:lnTo>
                  <a:pt x="576" y="0"/>
                </a:lnTo>
              </a:path>
            </a:pathLst>
          </a:custGeom>
          <a:noFill/>
          <a:ln w="9525">
            <a:solidFill>
              <a:schemeClr val="tx1"/>
            </a:solidFill>
            <a:round/>
            <a:headEnd type="triangle" w="med" len="lg"/>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7" name="Text Box 22">
            <a:extLst>
              <a:ext uri="{FF2B5EF4-FFF2-40B4-BE49-F238E27FC236}">
                <a16:creationId xmlns:a16="http://schemas.microsoft.com/office/drawing/2014/main" id="{E1ACF49D-2C50-3DB6-DED7-DECDA6BB1168}"/>
              </a:ext>
            </a:extLst>
          </p:cNvPr>
          <p:cNvSpPr txBox="1">
            <a:spLocks noChangeArrowheads="1"/>
          </p:cNvSpPr>
          <p:nvPr/>
        </p:nvSpPr>
        <p:spPr bwMode="auto">
          <a:xfrm>
            <a:off x="6705600" y="6262688"/>
            <a:ext cx="1676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Fabrication</a:t>
            </a:r>
          </a:p>
        </p:txBody>
      </p:sp>
      <p:sp>
        <p:nvSpPr>
          <p:cNvPr id="45078" name="Text Box 23">
            <a:extLst>
              <a:ext uri="{FF2B5EF4-FFF2-40B4-BE49-F238E27FC236}">
                <a16:creationId xmlns:a16="http://schemas.microsoft.com/office/drawing/2014/main" id="{C7BEF7B3-714D-B861-F523-AA1F51BB3272}"/>
              </a:ext>
            </a:extLst>
          </p:cNvPr>
          <p:cNvSpPr txBox="1">
            <a:spLocks noChangeArrowheads="1"/>
          </p:cNvSpPr>
          <p:nvPr/>
        </p:nvSpPr>
        <p:spPr bwMode="auto">
          <a:xfrm>
            <a:off x="1066800" y="6262688"/>
            <a:ext cx="220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50000"/>
              </a:spcBef>
              <a:buFontTx/>
              <a:buNone/>
            </a:pPr>
            <a:r>
              <a:rPr lang="en-US" altLang="en-US" sz="1800" b="1">
                <a:latin typeface="Arial" panose="020B0604020202020204" pitchFamily="34" charset="0"/>
              </a:rPr>
              <a:t>Modification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85F8578F-B6A4-8BE4-A13E-ED7C1997BBEC}"/>
              </a:ext>
            </a:extLst>
          </p:cNvPr>
          <p:cNvSpPr>
            <a:spLocks noGrp="1" noChangeArrowheads="1"/>
          </p:cNvSpPr>
          <p:nvPr>
            <p:ph type="title"/>
          </p:nvPr>
        </p:nvSpPr>
        <p:spPr/>
        <p:txBody>
          <a:bodyPr/>
          <a:lstStyle/>
          <a:p>
            <a:endParaRPr lang="en-US" altLang="en-US"/>
          </a:p>
        </p:txBody>
      </p:sp>
      <p:sp>
        <p:nvSpPr>
          <p:cNvPr id="46082" name="Content Placeholder 2">
            <a:extLst>
              <a:ext uri="{FF2B5EF4-FFF2-40B4-BE49-F238E27FC236}">
                <a16:creationId xmlns:a16="http://schemas.microsoft.com/office/drawing/2014/main" id="{10BA4B85-9ABB-7F53-5D35-BEAB8A480EFE}"/>
              </a:ext>
            </a:extLst>
          </p:cNvPr>
          <p:cNvSpPr>
            <a:spLocks noGrp="1" noChangeArrowheads="1"/>
          </p:cNvSpPr>
          <p:nvPr>
            <p:ph idx="1"/>
          </p:nvPr>
        </p:nvSpPr>
        <p:spPr/>
        <p:txBody>
          <a:bodyPr/>
          <a:lstStyle/>
          <a:p>
            <a:endParaRPr lang="en-US" altLang="en-US"/>
          </a:p>
        </p:txBody>
      </p:sp>
      <p:pic>
        <p:nvPicPr>
          <p:cNvPr id="46083" name="Picture 2" descr="Top 7 Cyber Security Threats Every Business Must Know in 2024 | by ZyBiSys  | Medium">
            <a:extLst>
              <a:ext uri="{FF2B5EF4-FFF2-40B4-BE49-F238E27FC236}">
                <a16:creationId xmlns:a16="http://schemas.microsoft.com/office/drawing/2014/main" id="{136B704A-220D-1A32-9079-F365DF055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763" y="334963"/>
            <a:ext cx="8504237" cy="574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31B4CAFD-CA76-7081-FC34-25960D01769A}"/>
              </a:ext>
            </a:extLst>
          </p:cNvPr>
          <p:cNvSpPr>
            <a:spLocks noGrp="1" noChangeArrowheads="1"/>
          </p:cNvSpPr>
          <p:nvPr>
            <p:ph type="title"/>
          </p:nvPr>
        </p:nvSpPr>
        <p:spPr/>
        <p:txBody>
          <a:bodyPr/>
          <a:lstStyle/>
          <a:p>
            <a:endParaRPr lang="en-US" altLang="en-US"/>
          </a:p>
        </p:txBody>
      </p:sp>
      <p:sp>
        <p:nvSpPr>
          <p:cNvPr id="47106" name="Content Placeholder 2">
            <a:extLst>
              <a:ext uri="{FF2B5EF4-FFF2-40B4-BE49-F238E27FC236}">
                <a16:creationId xmlns:a16="http://schemas.microsoft.com/office/drawing/2014/main" id="{8DB7CEE0-7603-CC0A-FD59-035A98ADF4FE}"/>
              </a:ext>
            </a:extLst>
          </p:cNvPr>
          <p:cNvSpPr>
            <a:spLocks noGrp="1" noChangeArrowheads="1"/>
          </p:cNvSpPr>
          <p:nvPr>
            <p:ph idx="1"/>
          </p:nvPr>
        </p:nvSpPr>
        <p:spPr/>
        <p:txBody>
          <a:bodyPr/>
          <a:lstStyle/>
          <a:p>
            <a:endParaRPr lang="en-US" altLang="en-US"/>
          </a:p>
        </p:txBody>
      </p:sp>
      <p:pic>
        <p:nvPicPr>
          <p:cNvPr id="47107" name="Picture 3">
            <a:extLst>
              <a:ext uri="{FF2B5EF4-FFF2-40B4-BE49-F238E27FC236}">
                <a16:creationId xmlns:a16="http://schemas.microsoft.com/office/drawing/2014/main" id="{A0F4D4B5-5ED5-34B6-EA45-E117B934A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AutoShape 2">
            <a:extLst>
              <a:ext uri="{FF2B5EF4-FFF2-40B4-BE49-F238E27FC236}">
                <a16:creationId xmlns:a16="http://schemas.microsoft.com/office/drawing/2014/main" id="{1E586398-706D-E146-0BC2-29BF9AC7BE23}"/>
              </a:ext>
            </a:extLst>
          </p:cNvPr>
          <p:cNvSpPr>
            <a:spLocks noGrp="1" noChangeArrowheads="1"/>
          </p:cNvSpPr>
          <p:nvPr>
            <p:ph type="title"/>
          </p:nvPr>
        </p:nvSpPr>
        <p:spPr>
          <a:xfrm>
            <a:off x="685800" y="152400"/>
            <a:ext cx="7772400" cy="731838"/>
          </a:xfrm>
        </p:spPr>
        <p:txBody>
          <a:bodyPr rtlCol="0">
            <a:normAutofit/>
          </a:bodyPr>
          <a:lstStyle/>
          <a:p>
            <a:pPr fontAlgn="auto">
              <a:spcAft>
                <a:spcPts val="0"/>
              </a:spcAft>
              <a:defRPr/>
            </a:pPr>
            <a:r>
              <a:rPr lang="en-US" sz="3200">
                <a:effectLst>
                  <a:outerShdw blurRad="38100" dist="38100" dir="2700000" algn="tl">
                    <a:srgbClr val="C0C0C0"/>
                  </a:outerShdw>
                </a:effectLst>
              </a:rPr>
              <a:t>Security Services and Mechanisms	</a:t>
            </a:r>
            <a:endParaRPr lang="en-US" sz="3200"/>
          </a:p>
        </p:txBody>
      </p:sp>
      <p:sp>
        <p:nvSpPr>
          <p:cNvPr id="58370" name="Rectangle 3">
            <a:extLst>
              <a:ext uri="{FF2B5EF4-FFF2-40B4-BE49-F238E27FC236}">
                <a16:creationId xmlns:a16="http://schemas.microsoft.com/office/drawing/2014/main" id="{3F63109F-BABC-8F87-FE58-CBFDA9208456}"/>
              </a:ext>
            </a:extLst>
          </p:cNvPr>
          <p:cNvSpPr>
            <a:spLocks noGrp="1" noChangeArrowheads="1"/>
          </p:cNvSpPr>
          <p:nvPr>
            <p:ph idx="1"/>
          </p:nvPr>
        </p:nvSpPr>
        <p:spPr>
          <a:xfrm>
            <a:off x="685800" y="1412875"/>
            <a:ext cx="8153400" cy="5184775"/>
          </a:xfrm>
        </p:spPr>
        <p:txBody>
          <a:bodyPr rtlCol="0">
            <a:normAutofit/>
          </a:bodyPr>
          <a:lstStyle/>
          <a:p>
            <a:pPr fontAlgn="auto">
              <a:lnSpc>
                <a:spcPct val="80000"/>
              </a:lnSpc>
              <a:spcAft>
                <a:spcPts val="0"/>
              </a:spcAft>
              <a:defRPr/>
            </a:pPr>
            <a:r>
              <a:rPr lang="en-US" altLang="en-US" sz="2400" b="1">
                <a:solidFill>
                  <a:schemeClr val="tx1">
                    <a:lumMod val="85000"/>
                    <a:lumOff val="15000"/>
                  </a:schemeClr>
                </a:solidFill>
              </a:rPr>
              <a:t>Security Mechanism</a:t>
            </a:r>
          </a:p>
          <a:p>
            <a:pPr lvl="1" fontAlgn="auto">
              <a:lnSpc>
                <a:spcPct val="80000"/>
              </a:lnSpc>
              <a:spcAft>
                <a:spcPts val="0"/>
              </a:spcAft>
              <a:defRPr/>
            </a:pPr>
            <a:r>
              <a:rPr lang="en-US" altLang="en-US" sz="2000" b="1">
                <a:solidFill>
                  <a:schemeClr val="tx1">
                    <a:lumMod val="85000"/>
                    <a:lumOff val="15000"/>
                  </a:schemeClr>
                </a:solidFill>
              </a:rPr>
              <a:t>A mechanism that is designed to detect, prevent, or recover a security attack</a:t>
            </a:r>
          </a:p>
          <a:p>
            <a:pPr lvl="1" fontAlgn="auto">
              <a:lnSpc>
                <a:spcPct val="80000"/>
              </a:lnSpc>
              <a:spcAft>
                <a:spcPts val="0"/>
              </a:spcAft>
              <a:defRPr/>
            </a:pPr>
            <a:r>
              <a:rPr lang="en-US" altLang="en-US" sz="2000" b="1">
                <a:solidFill>
                  <a:schemeClr val="tx1">
                    <a:lumMod val="85000"/>
                    <a:lumOff val="15000"/>
                  </a:schemeClr>
                </a:solidFill>
              </a:rPr>
              <a:t>A possible means to provide (implement) a security service</a:t>
            </a:r>
          </a:p>
          <a:p>
            <a:pPr fontAlgn="auto">
              <a:lnSpc>
                <a:spcPct val="80000"/>
              </a:lnSpc>
              <a:spcAft>
                <a:spcPts val="0"/>
              </a:spcAft>
              <a:defRPr/>
            </a:pPr>
            <a:r>
              <a:rPr lang="en-US" altLang="en-US" sz="2400" b="1">
                <a:solidFill>
                  <a:schemeClr val="tx1">
                    <a:lumMod val="85000"/>
                    <a:lumOff val="15000"/>
                  </a:schemeClr>
                </a:solidFill>
              </a:rPr>
              <a:t>Security Service</a:t>
            </a:r>
          </a:p>
          <a:p>
            <a:pPr lvl="1" fontAlgn="auto">
              <a:lnSpc>
                <a:spcPct val="80000"/>
              </a:lnSpc>
              <a:spcAft>
                <a:spcPts val="0"/>
              </a:spcAft>
              <a:defRPr/>
            </a:pPr>
            <a:r>
              <a:rPr lang="en-US" altLang="en-US" sz="2000" b="1">
                <a:solidFill>
                  <a:schemeClr val="tx1">
                    <a:lumMod val="85000"/>
                    <a:lumOff val="15000"/>
                  </a:schemeClr>
                </a:solidFill>
              </a:rPr>
              <a:t>A measure which can be put in place to address security threat</a:t>
            </a:r>
          </a:p>
          <a:p>
            <a:pPr lvl="1" fontAlgn="auto">
              <a:lnSpc>
                <a:spcPct val="80000"/>
              </a:lnSpc>
              <a:spcAft>
                <a:spcPts val="0"/>
              </a:spcAft>
              <a:defRPr/>
            </a:pPr>
            <a:r>
              <a:rPr lang="en-US" altLang="en-US" sz="2000" b="1">
                <a:solidFill>
                  <a:schemeClr val="tx1">
                    <a:lumMod val="85000"/>
                    <a:lumOff val="15000"/>
                  </a:schemeClr>
                </a:solidFill>
              </a:rPr>
              <a:t>A service that enhances the security of data processing systems and information transfers</a:t>
            </a:r>
          </a:p>
          <a:p>
            <a:pPr lvl="1" fontAlgn="auto">
              <a:lnSpc>
                <a:spcPct val="80000"/>
              </a:lnSpc>
              <a:spcAft>
                <a:spcPts val="0"/>
              </a:spcAft>
              <a:defRPr/>
            </a:pPr>
            <a:r>
              <a:rPr lang="en-US" altLang="en-US" sz="2000" b="1">
                <a:solidFill>
                  <a:schemeClr val="tx1">
                    <a:lumMod val="85000"/>
                    <a:lumOff val="15000"/>
                  </a:schemeClr>
                </a:solidFill>
              </a:rPr>
              <a:t>A security service makes use of one or more security mechanisms</a:t>
            </a:r>
          </a:p>
          <a:p>
            <a:pPr fontAlgn="auto">
              <a:lnSpc>
                <a:spcPct val="80000"/>
              </a:lnSpc>
              <a:spcAft>
                <a:spcPts val="0"/>
              </a:spcAft>
              <a:defRPr/>
            </a:pPr>
            <a:r>
              <a:rPr lang="en-US" altLang="en-US" sz="2400" b="1">
                <a:solidFill>
                  <a:schemeClr val="tx1">
                    <a:lumMod val="85000"/>
                    <a:lumOff val="15000"/>
                  </a:schemeClr>
                </a:solidFill>
              </a:rPr>
              <a:t>Security functions normally associated with physical documents are:</a:t>
            </a:r>
          </a:p>
          <a:p>
            <a:pPr lvl="1" fontAlgn="auto">
              <a:lnSpc>
                <a:spcPct val="80000"/>
              </a:lnSpc>
              <a:spcAft>
                <a:spcPts val="0"/>
              </a:spcAft>
              <a:defRPr/>
            </a:pPr>
            <a:r>
              <a:rPr lang="en-US" altLang="en-US" sz="2000" b="1">
                <a:solidFill>
                  <a:schemeClr val="tx1">
                    <a:lumMod val="85000"/>
                    <a:lumOff val="15000"/>
                  </a:schemeClr>
                </a:solidFill>
              </a:rPr>
              <a:t>signatures &amp; dates</a:t>
            </a:r>
          </a:p>
          <a:p>
            <a:pPr lvl="1" fontAlgn="auto">
              <a:lnSpc>
                <a:spcPct val="80000"/>
              </a:lnSpc>
              <a:spcAft>
                <a:spcPts val="0"/>
              </a:spcAft>
              <a:defRPr/>
            </a:pPr>
            <a:r>
              <a:rPr lang="en-US" altLang="en-US" sz="2000" b="1">
                <a:solidFill>
                  <a:schemeClr val="tx1">
                    <a:lumMod val="85000"/>
                    <a:lumOff val="15000"/>
                  </a:schemeClr>
                </a:solidFill>
              </a:rPr>
              <a:t>be notarized or witnessed</a:t>
            </a:r>
          </a:p>
          <a:p>
            <a:pPr lvl="1" fontAlgn="auto">
              <a:lnSpc>
                <a:spcPct val="80000"/>
              </a:lnSpc>
              <a:spcAft>
                <a:spcPts val="0"/>
              </a:spcAft>
              <a:defRPr/>
            </a:pPr>
            <a:r>
              <a:rPr lang="en-US" altLang="en-US" sz="2000" b="1">
                <a:solidFill>
                  <a:schemeClr val="tx1">
                    <a:lumMod val="85000"/>
                    <a:lumOff val="15000"/>
                  </a:schemeClr>
                </a:solidFill>
              </a:rPr>
              <a:t>be recorded or licensed</a:t>
            </a:r>
            <a:endParaRPr lang="en-AU" altLang="en-US" sz="2000" b="1">
              <a:solidFill>
                <a:schemeClr val="tx1">
                  <a:lumMod val="85000"/>
                  <a:lumOff val="15000"/>
                </a:schemeClr>
              </a:solidFill>
            </a:endParaRPr>
          </a:p>
          <a:p>
            <a:pPr lvl="1" fontAlgn="auto">
              <a:lnSpc>
                <a:spcPct val="80000"/>
              </a:lnSpc>
              <a:spcAft>
                <a:spcPts val="0"/>
              </a:spcAft>
              <a:buFontTx/>
              <a:buNone/>
              <a:defRPr/>
            </a:pPr>
            <a:endParaRPr lang="en-US" altLang="en-US" sz="2000" b="1">
              <a:solidFill>
                <a:schemeClr val="tx1">
                  <a:lumMod val="85000"/>
                  <a:lumOff val="15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AutoShape 2">
            <a:extLst>
              <a:ext uri="{FF2B5EF4-FFF2-40B4-BE49-F238E27FC236}">
                <a16:creationId xmlns:a16="http://schemas.microsoft.com/office/drawing/2014/main" id="{679DA203-31FD-487C-F147-E59EEED9F290}"/>
              </a:ext>
            </a:extLst>
          </p:cNvPr>
          <p:cNvSpPr>
            <a:spLocks noGrp="1" noChangeArrowheads="1"/>
          </p:cNvSpPr>
          <p:nvPr>
            <p:ph type="title"/>
          </p:nvPr>
        </p:nvSpPr>
        <p:spPr>
          <a:xfrm>
            <a:off x="685800" y="76200"/>
            <a:ext cx="7924800" cy="838200"/>
          </a:xfrm>
        </p:spPr>
        <p:txBody>
          <a:bodyPr/>
          <a:lstStyle/>
          <a:p>
            <a:r>
              <a:rPr lang="en-US" altLang="en-US"/>
              <a:t>Security Services </a:t>
            </a:r>
            <a:endParaRPr lang="en-AU" altLang="en-US"/>
          </a:p>
        </p:txBody>
      </p:sp>
      <p:sp>
        <p:nvSpPr>
          <p:cNvPr id="59394" name="Rectangle 3">
            <a:extLst>
              <a:ext uri="{FF2B5EF4-FFF2-40B4-BE49-F238E27FC236}">
                <a16:creationId xmlns:a16="http://schemas.microsoft.com/office/drawing/2014/main" id="{88B35D30-D252-B334-B917-F8F68F9C23EE}"/>
              </a:ext>
            </a:extLst>
          </p:cNvPr>
          <p:cNvSpPr>
            <a:spLocks noGrp="1" noChangeArrowheads="1"/>
          </p:cNvSpPr>
          <p:nvPr>
            <p:ph idx="1"/>
          </p:nvPr>
        </p:nvSpPr>
        <p:spPr>
          <a:xfrm>
            <a:off x="685800" y="1295400"/>
            <a:ext cx="8305800" cy="5334000"/>
          </a:xfrm>
        </p:spPr>
        <p:txBody>
          <a:bodyPr rtlCol="0">
            <a:normAutofit lnSpcReduction="10000"/>
          </a:bodyPr>
          <a:lstStyle/>
          <a:p>
            <a:pPr fontAlgn="auto">
              <a:lnSpc>
                <a:spcPct val="80000"/>
              </a:lnSpc>
              <a:spcAft>
                <a:spcPts val="0"/>
              </a:spcAft>
              <a:defRPr/>
            </a:pPr>
            <a:r>
              <a:rPr lang="en-US" altLang="en-US" sz="2400" b="1">
                <a:solidFill>
                  <a:schemeClr val="tx1">
                    <a:lumMod val="85000"/>
                    <a:lumOff val="15000"/>
                  </a:schemeClr>
                </a:solidFill>
              </a:rPr>
              <a:t>Authentication</a:t>
            </a:r>
            <a:r>
              <a:rPr lang="en-US" altLang="en-US" sz="2400">
                <a:solidFill>
                  <a:schemeClr val="tx1">
                    <a:lumMod val="85000"/>
                    <a:lumOff val="15000"/>
                  </a:schemeClr>
                </a:solidFill>
              </a:rPr>
              <a:t> </a:t>
            </a:r>
          </a:p>
          <a:p>
            <a:pPr lvl="1" fontAlgn="auto">
              <a:lnSpc>
                <a:spcPct val="80000"/>
              </a:lnSpc>
              <a:spcAft>
                <a:spcPts val="0"/>
              </a:spcAft>
              <a:defRPr/>
            </a:pPr>
            <a:r>
              <a:rPr lang="en-AU" altLang="en-US" sz="2000">
                <a:solidFill>
                  <a:schemeClr val="tx1">
                    <a:lumMod val="85000"/>
                    <a:lumOff val="15000"/>
                  </a:schemeClr>
                </a:solidFill>
              </a:rPr>
              <a:t>assurance that the communicating entity is the one claimed</a:t>
            </a:r>
          </a:p>
          <a:p>
            <a:pPr fontAlgn="auto">
              <a:lnSpc>
                <a:spcPct val="80000"/>
              </a:lnSpc>
              <a:spcAft>
                <a:spcPts val="0"/>
              </a:spcAft>
              <a:defRPr/>
            </a:pPr>
            <a:r>
              <a:rPr lang="en-US" altLang="en-US" sz="2400" b="1">
                <a:solidFill>
                  <a:schemeClr val="tx1">
                    <a:lumMod val="85000"/>
                    <a:lumOff val="15000"/>
                  </a:schemeClr>
                </a:solidFill>
              </a:rPr>
              <a:t>Access Control</a:t>
            </a:r>
            <a:r>
              <a:rPr lang="en-US" altLang="en-US" sz="2400">
                <a:solidFill>
                  <a:schemeClr val="tx1">
                    <a:lumMod val="85000"/>
                    <a:lumOff val="15000"/>
                  </a:schemeClr>
                </a:solidFill>
              </a:rPr>
              <a:t> </a:t>
            </a:r>
          </a:p>
          <a:p>
            <a:pPr lvl="1" fontAlgn="auto">
              <a:lnSpc>
                <a:spcPct val="80000"/>
              </a:lnSpc>
              <a:spcAft>
                <a:spcPts val="0"/>
              </a:spcAft>
              <a:defRPr/>
            </a:pPr>
            <a:r>
              <a:rPr lang="en-AU" altLang="en-US" sz="2000">
                <a:solidFill>
                  <a:schemeClr val="tx1">
                    <a:lumMod val="85000"/>
                    <a:lumOff val="15000"/>
                  </a:schemeClr>
                </a:solidFill>
              </a:rPr>
              <a:t>prevention of the unauthorized use of a resource</a:t>
            </a:r>
          </a:p>
          <a:p>
            <a:pPr fontAlgn="auto">
              <a:lnSpc>
                <a:spcPct val="80000"/>
              </a:lnSpc>
              <a:spcAft>
                <a:spcPts val="0"/>
              </a:spcAft>
              <a:defRPr/>
            </a:pPr>
            <a:r>
              <a:rPr lang="en-US" altLang="en-US" sz="2400" b="1">
                <a:solidFill>
                  <a:schemeClr val="tx1">
                    <a:lumMod val="85000"/>
                    <a:lumOff val="15000"/>
                  </a:schemeClr>
                </a:solidFill>
              </a:rPr>
              <a:t>Data Confidentiality</a:t>
            </a:r>
            <a:r>
              <a:rPr lang="en-US" altLang="en-US" sz="2400">
                <a:solidFill>
                  <a:schemeClr val="tx1">
                    <a:lumMod val="85000"/>
                    <a:lumOff val="15000"/>
                  </a:schemeClr>
                </a:solidFill>
              </a:rPr>
              <a:t> </a:t>
            </a:r>
          </a:p>
          <a:p>
            <a:pPr lvl="1" fontAlgn="auto">
              <a:lnSpc>
                <a:spcPct val="80000"/>
              </a:lnSpc>
              <a:spcAft>
                <a:spcPts val="0"/>
              </a:spcAft>
              <a:defRPr/>
            </a:pPr>
            <a:r>
              <a:rPr lang="en-AU" altLang="en-US" sz="2000">
                <a:solidFill>
                  <a:schemeClr val="tx1">
                    <a:lumMod val="85000"/>
                    <a:lumOff val="15000"/>
                  </a:schemeClr>
                </a:solidFill>
              </a:rPr>
              <a:t>protection of data from unauthorized disclosure</a:t>
            </a:r>
          </a:p>
          <a:p>
            <a:pPr fontAlgn="auto">
              <a:lnSpc>
                <a:spcPct val="80000"/>
              </a:lnSpc>
              <a:spcAft>
                <a:spcPts val="0"/>
              </a:spcAft>
              <a:defRPr/>
            </a:pPr>
            <a:r>
              <a:rPr lang="en-US" altLang="en-US" sz="2400" b="1">
                <a:solidFill>
                  <a:schemeClr val="tx1">
                    <a:lumMod val="85000"/>
                    <a:lumOff val="15000"/>
                  </a:schemeClr>
                </a:solidFill>
              </a:rPr>
              <a:t>Data Integrity</a:t>
            </a:r>
            <a:r>
              <a:rPr lang="en-US" altLang="en-US" sz="2400">
                <a:solidFill>
                  <a:schemeClr val="tx1">
                    <a:lumMod val="85000"/>
                    <a:lumOff val="15000"/>
                  </a:schemeClr>
                </a:solidFill>
              </a:rPr>
              <a:t> </a:t>
            </a:r>
          </a:p>
          <a:p>
            <a:pPr lvl="1" fontAlgn="auto">
              <a:lnSpc>
                <a:spcPct val="80000"/>
              </a:lnSpc>
              <a:spcAft>
                <a:spcPts val="0"/>
              </a:spcAft>
              <a:defRPr/>
            </a:pPr>
            <a:r>
              <a:rPr lang="en-AU" altLang="en-US" sz="2000">
                <a:solidFill>
                  <a:schemeClr val="tx1">
                    <a:lumMod val="85000"/>
                    <a:lumOff val="15000"/>
                  </a:schemeClr>
                </a:solidFill>
              </a:rPr>
              <a:t>assurance that data received is as sent by an authorized entity</a:t>
            </a:r>
          </a:p>
          <a:p>
            <a:pPr fontAlgn="auto">
              <a:lnSpc>
                <a:spcPct val="80000"/>
              </a:lnSpc>
              <a:spcAft>
                <a:spcPts val="0"/>
              </a:spcAft>
              <a:defRPr/>
            </a:pPr>
            <a:r>
              <a:rPr lang="en-US" altLang="en-US" sz="2400" b="1">
                <a:solidFill>
                  <a:schemeClr val="tx1">
                    <a:lumMod val="85000"/>
                    <a:lumOff val="15000"/>
                  </a:schemeClr>
                </a:solidFill>
              </a:rPr>
              <a:t>Non-Repudiation</a:t>
            </a:r>
            <a:r>
              <a:rPr lang="en-US" altLang="en-US" sz="2400">
                <a:solidFill>
                  <a:schemeClr val="tx1">
                    <a:lumMod val="85000"/>
                    <a:lumOff val="15000"/>
                  </a:schemeClr>
                </a:solidFill>
              </a:rPr>
              <a:t> </a:t>
            </a:r>
          </a:p>
          <a:p>
            <a:pPr lvl="1" fontAlgn="auto">
              <a:lnSpc>
                <a:spcPct val="80000"/>
              </a:lnSpc>
              <a:spcAft>
                <a:spcPts val="0"/>
              </a:spcAft>
              <a:defRPr/>
            </a:pPr>
            <a:r>
              <a:rPr lang="en-AU" altLang="en-US" sz="2000">
                <a:solidFill>
                  <a:schemeClr val="tx1">
                    <a:lumMod val="85000"/>
                    <a:lumOff val="15000"/>
                  </a:schemeClr>
                </a:solidFill>
              </a:rPr>
              <a:t>protection against denial by one of the parties in a communication</a:t>
            </a:r>
          </a:p>
          <a:p>
            <a:pPr fontAlgn="auto">
              <a:lnSpc>
                <a:spcPct val="80000"/>
              </a:lnSpc>
              <a:spcAft>
                <a:spcPts val="0"/>
              </a:spcAft>
              <a:defRPr/>
            </a:pPr>
            <a:r>
              <a:rPr lang="en-AU" altLang="en-US" sz="2400" b="1">
                <a:solidFill>
                  <a:schemeClr val="tx1">
                    <a:lumMod val="85000"/>
                    <a:lumOff val="15000"/>
                  </a:schemeClr>
                </a:solidFill>
              </a:rPr>
              <a:t>Reliability</a:t>
            </a:r>
          </a:p>
          <a:p>
            <a:pPr lvl="1" fontAlgn="auto">
              <a:lnSpc>
                <a:spcPct val="80000"/>
              </a:lnSpc>
              <a:spcAft>
                <a:spcPts val="0"/>
              </a:spcAft>
              <a:defRPr/>
            </a:pPr>
            <a:r>
              <a:rPr lang="en-AU" altLang="en-US" sz="2000">
                <a:solidFill>
                  <a:schemeClr val="tx1">
                    <a:lumMod val="85000"/>
                    <a:lumOff val="15000"/>
                  </a:schemeClr>
                </a:solidFill>
              </a:rPr>
              <a:t>Data is received to whom it was sent</a:t>
            </a:r>
          </a:p>
          <a:p>
            <a:pPr fontAlgn="auto">
              <a:lnSpc>
                <a:spcPct val="80000"/>
              </a:lnSpc>
              <a:spcAft>
                <a:spcPts val="1200"/>
              </a:spcAft>
              <a:defRPr/>
            </a:pPr>
            <a:r>
              <a:rPr lang="en-US" altLang="en-US" sz="2400" b="1">
                <a:solidFill>
                  <a:schemeClr val="tx1">
                    <a:lumMod val="85000"/>
                    <a:lumOff val="15000"/>
                  </a:schemeClr>
                </a:solidFill>
              </a:rPr>
              <a:t>Availability</a:t>
            </a:r>
          </a:p>
          <a:p>
            <a:pPr lvl="1" fontAlgn="auto">
              <a:lnSpc>
                <a:spcPct val="80000"/>
              </a:lnSpc>
              <a:spcAft>
                <a:spcPts val="1200"/>
              </a:spcAft>
              <a:defRPr/>
            </a:pPr>
            <a:r>
              <a:rPr lang="en-US" altLang="en-US" sz="2000">
                <a:solidFill>
                  <a:schemeClr val="tx1">
                    <a:lumMod val="85000"/>
                    <a:lumOff val="15000"/>
                  </a:schemeClr>
                </a:solidFill>
              </a:rPr>
              <a:t>denial of service attacks</a:t>
            </a:r>
          </a:p>
          <a:p>
            <a:pPr lvl="1" fontAlgn="auto">
              <a:lnSpc>
                <a:spcPct val="80000"/>
              </a:lnSpc>
              <a:spcAft>
                <a:spcPts val="1200"/>
              </a:spcAft>
              <a:defRPr/>
            </a:pPr>
            <a:r>
              <a:rPr lang="en-US" altLang="en-US" sz="2000">
                <a:solidFill>
                  <a:schemeClr val="tx1">
                    <a:lumMod val="85000"/>
                    <a:lumOff val="15000"/>
                  </a:schemeClr>
                </a:solidFill>
              </a:rPr>
              <a:t> virus that deletes files</a:t>
            </a:r>
            <a:endParaRPr lang="en-AU" altLang="en-US" sz="2000" b="1">
              <a:solidFill>
                <a:schemeClr val="tx1">
                  <a:lumMod val="85000"/>
                  <a:lumOff val="15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1" name="AutoShape 2">
            <a:extLst>
              <a:ext uri="{FF2B5EF4-FFF2-40B4-BE49-F238E27FC236}">
                <a16:creationId xmlns:a16="http://schemas.microsoft.com/office/drawing/2014/main" id="{67540726-4093-E301-6487-5367BFF31C6E}"/>
              </a:ext>
            </a:extLst>
          </p:cNvPr>
          <p:cNvSpPr>
            <a:spLocks noGrp="1" noChangeArrowheads="1"/>
          </p:cNvSpPr>
          <p:nvPr>
            <p:ph type="title"/>
          </p:nvPr>
        </p:nvSpPr>
        <p:spPr>
          <a:xfrm>
            <a:off x="685800" y="76200"/>
            <a:ext cx="8382000" cy="838200"/>
          </a:xfrm>
        </p:spPr>
        <p:txBody>
          <a:bodyPr/>
          <a:lstStyle/>
          <a:p>
            <a:r>
              <a:rPr lang="en-US" altLang="en-US"/>
              <a:t>Security Requirements</a:t>
            </a:r>
          </a:p>
        </p:txBody>
      </p:sp>
      <p:sp>
        <p:nvSpPr>
          <p:cNvPr id="327684" name="Oval 4">
            <a:extLst>
              <a:ext uri="{FF2B5EF4-FFF2-40B4-BE49-F238E27FC236}">
                <a16:creationId xmlns:a16="http://schemas.microsoft.com/office/drawing/2014/main" id="{8FE2F99E-8EE4-0738-4BE5-8E230902E994}"/>
              </a:ext>
            </a:extLst>
          </p:cNvPr>
          <p:cNvSpPr>
            <a:spLocks noChangeArrowheads="1"/>
          </p:cNvSpPr>
          <p:nvPr/>
        </p:nvSpPr>
        <p:spPr bwMode="auto">
          <a:xfrm>
            <a:off x="3352800" y="1828800"/>
            <a:ext cx="2590800" cy="2590800"/>
          </a:xfrm>
          <a:prstGeom prst="ellipse">
            <a:avLst/>
          </a:prstGeom>
          <a:solidFill>
            <a:srgbClr val="FF99CC">
              <a:alpha val="50195"/>
            </a:srgbClr>
          </a:solidFill>
          <a:ln w="57150">
            <a:solidFill>
              <a:schemeClr val="tx1"/>
            </a:solidFill>
            <a:round/>
            <a:headEnd/>
            <a:tailEnd/>
          </a:ln>
        </p:spPr>
        <p:txBody>
          <a:bodyPr wrap="none"/>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400" b="1">
                <a:latin typeface="Arial Narrow" panose="020B0604020202020204" pitchFamily="34" charset="0"/>
              </a:rPr>
              <a:t>Confidentiality</a:t>
            </a:r>
          </a:p>
        </p:txBody>
      </p:sp>
      <p:sp>
        <p:nvSpPr>
          <p:cNvPr id="327685" name="Oval 5">
            <a:extLst>
              <a:ext uri="{FF2B5EF4-FFF2-40B4-BE49-F238E27FC236}">
                <a16:creationId xmlns:a16="http://schemas.microsoft.com/office/drawing/2014/main" id="{1E866DA8-ADA4-AA55-A9A5-B96EB122D4AB}"/>
              </a:ext>
            </a:extLst>
          </p:cNvPr>
          <p:cNvSpPr>
            <a:spLocks noChangeArrowheads="1"/>
          </p:cNvSpPr>
          <p:nvPr/>
        </p:nvSpPr>
        <p:spPr bwMode="auto">
          <a:xfrm>
            <a:off x="4191000" y="3200400"/>
            <a:ext cx="2590800" cy="2590800"/>
          </a:xfrm>
          <a:prstGeom prst="ellipse">
            <a:avLst/>
          </a:prstGeom>
          <a:solidFill>
            <a:schemeClr val="accent2">
              <a:alpha val="50195"/>
            </a:schemeClr>
          </a:solidFill>
          <a:ln w="57150">
            <a:solidFill>
              <a:schemeClr val="accent2"/>
            </a:solidFill>
            <a:round/>
            <a:headEnd/>
            <a:tailEnd/>
          </a:ln>
        </p:spPr>
        <p:txBody>
          <a:bodyPr wrap="none" anchor="b"/>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400" b="1">
                <a:latin typeface="Arial Narrow" panose="020B0604020202020204" pitchFamily="34" charset="0"/>
              </a:rPr>
              <a:t>Availability</a:t>
            </a:r>
            <a:endParaRPr lang="en-US" altLang="en-US" sz="2400">
              <a:latin typeface="Arial Narrow" panose="020B0604020202020204" pitchFamily="34" charset="0"/>
            </a:endParaRPr>
          </a:p>
        </p:txBody>
      </p:sp>
      <p:sp>
        <p:nvSpPr>
          <p:cNvPr id="327686" name="Oval 6">
            <a:extLst>
              <a:ext uri="{FF2B5EF4-FFF2-40B4-BE49-F238E27FC236}">
                <a16:creationId xmlns:a16="http://schemas.microsoft.com/office/drawing/2014/main" id="{9686D105-7314-6130-1D9E-71E932F4291D}"/>
              </a:ext>
            </a:extLst>
          </p:cNvPr>
          <p:cNvSpPr>
            <a:spLocks noChangeArrowheads="1"/>
          </p:cNvSpPr>
          <p:nvPr/>
        </p:nvSpPr>
        <p:spPr bwMode="auto">
          <a:xfrm>
            <a:off x="2438400" y="3200400"/>
            <a:ext cx="2590800" cy="2590800"/>
          </a:xfrm>
          <a:prstGeom prst="ellipse">
            <a:avLst/>
          </a:prstGeom>
          <a:solidFill>
            <a:srgbClr val="00FFFF">
              <a:alpha val="50195"/>
            </a:srgbClr>
          </a:solidFill>
          <a:ln w="57150">
            <a:solidFill>
              <a:schemeClr val="tx1"/>
            </a:solidFill>
            <a:round/>
            <a:headEnd/>
            <a:tailEnd/>
          </a:ln>
        </p:spPr>
        <p:txBody>
          <a:bodyPr wrap="none" anchor="b"/>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algn="ctr" eaLnBrk="1" hangingPunct="1">
              <a:lnSpc>
                <a:spcPct val="100000"/>
              </a:lnSpc>
              <a:spcBef>
                <a:spcPct val="0"/>
              </a:spcBef>
              <a:buFontTx/>
              <a:buNone/>
            </a:pPr>
            <a:r>
              <a:rPr lang="en-US" altLang="en-US" sz="2400" b="1">
                <a:latin typeface="Arial Narrow" panose="020B0604020202020204" pitchFamily="34" charset="0"/>
              </a:rPr>
              <a:t>Integrity</a:t>
            </a:r>
            <a:endParaRPr lang="en-US" altLang="en-US" sz="2400">
              <a:latin typeface="Arial Narrow" panose="020B0604020202020204" pitchFamily="34" charset="0"/>
            </a:endParaRPr>
          </a:p>
        </p:txBody>
      </p:sp>
      <p:grpSp>
        <p:nvGrpSpPr>
          <p:cNvPr id="2" name="Group 7">
            <a:extLst>
              <a:ext uri="{FF2B5EF4-FFF2-40B4-BE49-F238E27FC236}">
                <a16:creationId xmlns:a16="http://schemas.microsoft.com/office/drawing/2014/main" id="{FA7F99B0-9C7B-E78C-24A7-37FC83755610}"/>
              </a:ext>
            </a:extLst>
          </p:cNvPr>
          <p:cNvGrpSpPr>
            <a:grpSpLocks/>
          </p:cNvGrpSpPr>
          <p:nvPr/>
        </p:nvGrpSpPr>
        <p:grpSpPr bwMode="auto">
          <a:xfrm>
            <a:off x="3419475" y="3224213"/>
            <a:ext cx="1543050" cy="1195387"/>
            <a:chOff x="3306" y="2031"/>
            <a:chExt cx="972" cy="753"/>
          </a:xfrm>
        </p:grpSpPr>
        <p:sp>
          <p:nvSpPr>
            <p:cNvPr id="51215" name="Line 8">
              <a:extLst>
                <a:ext uri="{FF2B5EF4-FFF2-40B4-BE49-F238E27FC236}">
                  <a16:creationId xmlns:a16="http://schemas.microsoft.com/office/drawing/2014/main" id="{DB65F6D5-4D03-5A8F-50F2-1CF37180FF43}"/>
                </a:ext>
              </a:extLst>
            </p:cNvPr>
            <p:cNvSpPr>
              <a:spLocks noChangeShapeType="1"/>
            </p:cNvSpPr>
            <p:nvPr/>
          </p:nvSpPr>
          <p:spPr bwMode="auto">
            <a:xfrm flipH="1">
              <a:off x="3306" y="2031"/>
              <a:ext cx="102"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6" name="Line 9">
              <a:extLst>
                <a:ext uri="{FF2B5EF4-FFF2-40B4-BE49-F238E27FC236}">
                  <a16:creationId xmlns:a16="http://schemas.microsoft.com/office/drawing/2014/main" id="{80B93672-B9DC-65D0-C0BD-354B2F76DDA4}"/>
                </a:ext>
              </a:extLst>
            </p:cNvPr>
            <p:cNvSpPr>
              <a:spLocks noChangeShapeType="1"/>
            </p:cNvSpPr>
            <p:nvPr/>
          </p:nvSpPr>
          <p:spPr bwMode="auto">
            <a:xfrm flipH="1">
              <a:off x="3351" y="2031"/>
              <a:ext cx="243"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7" name="Line 10">
              <a:extLst>
                <a:ext uri="{FF2B5EF4-FFF2-40B4-BE49-F238E27FC236}">
                  <a16:creationId xmlns:a16="http://schemas.microsoft.com/office/drawing/2014/main" id="{A43361BF-F0DA-315E-07CE-2B981CB3DCB6}"/>
                </a:ext>
              </a:extLst>
            </p:cNvPr>
            <p:cNvSpPr>
              <a:spLocks noChangeShapeType="1"/>
            </p:cNvSpPr>
            <p:nvPr/>
          </p:nvSpPr>
          <p:spPr bwMode="auto">
            <a:xfrm flipH="1">
              <a:off x="3408" y="2076"/>
              <a:ext cx="336"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8" name="Line 11">
              <a:extLst>
                <a:ext uri="{FF2B5EF4-FFF2-40B4-BE49-F238E27FC236}">
                  <a16:creationId xmlns:a16="http://schemas.microsoft.com/office/drawing/2014/main" id="{ACB5330B-014B-DC16-EE1C-9D3CDFCD96FB}"/>
                </a:ext>
              </a:extLst>
            </p:cNvPr>
            <p:cNvSpPr>
              <a:spLocks noChangeShapeType="1"/>
            </p:cNvSpPr>
            <p:nvPr/>
          </p:nvSpPr>
          <p:spPr bwMode="auto">
            <a:xfrm flipH="1">
              <a:off x="3507" y="2148"/>
              <a:ext cx="375"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9" name="Line 12">
              <a:extLst>
                <a:ext uri="{FF2B5EF4-FFF2-40B4-BE49-F238E27FC236}">
                  <a16:creationId xmlns:a16="http://schemas.microsoft.com/office/drawing/2014/main" id="{60E118AA-9974-CF7B-07D4-069605E003D1}"/>
                </a:ext>
              </a:extLst>
            </p:cNvPr>
            <p:cNvSpPr>
              <a:spLocks noChangeShapeType="1"/>
            </p:cNvSpPr>
            <p:nvPr/>
          </p:nvSpPr>
          <p:spPr bwMode="auto">
            <a:xfrm flipH="1">
              <a:off x="3594" y="2190"/>
              <a:ext cx="435" cy="4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0" name="Line 13">
              <a:extLst>
                <a:ext uri="{FF2B5EF4-FFF2-40B4-BE49-F238E27FC236}">
                  <a16:creationId xmlns:a16="http://schemas.microsoft.com/office/drawing/2014/main" id="{85538F0C-E248-3B72-BD66-48D48D866464}"/>
                </a:ext>
              </a:extLst>
            </p:cNvPr>
            <p:cNvSpPr>
              <a:spLocks noChangeShapeType="1"/>
            </p:cNvSpPr>
            <p:nvPr/>
          </p:nvSpPr>
          <p:spPr bwMode="auto">
            <a:xfrm flipH="1">
              <a:off x="3693" y="2319"/>
              <a:ext cx="41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1" name="Line 14">
              <a:extLst>
                <a:ext uri="{FF2B5EF4-FFF2-40B4-BE49-F238E27FC236}">
                  <a16:creationId xmlns:a16="http://schemas.microsoft.com/office/drawing/2014/main" id="{61D289C2-22DD-A00D-6624-7DF550B80F1D}"/>
                </a:ext>
              </a:extLst>
            </p:cNvPr>
            <p:cNvSpPr>
              <a:spLocks noChangeShapeType="1"/>
            </p:cNvSpPr>
            <p:nvPr/>
          </p:nvSpPr>
          <p:spPr bwMode="auto">
            <a:xfrm flipH="1">
              <a:off x="3846" y="2400"/>
              <a:ext cx="330" cy="3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2" name="Line 15">
              <a:extLst>
                <a:ext uri="{FF2B5EF4-FFF2-40B4-BE49-F238E27FC236}">
                  <a16:creationId xmlns:a16="http://schemas.microsoft.com/office/drawing/2014/main" id="{D6986C20-5A69-1EF7-4502-6379FE261793}"/>
                </a:ext>
              </a:extLst>
            </p:cNvPr>
            <p:cNvSpPr>
              <a:spLocks noChangeShapeType="1"/>
            </p:cNvSpPr>
            <p:nvPr/>
          </p:nvSpPr>
          <p:spPr bwMode="auto">
            <a:xfrm flipH="1">
              <a:off x="3978" y="2532"/>
              <a:ext cx="276"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3" name="Line 16">
              <a:extLst>
                <a:ext uri="{FF2B5EF4-FFF2-40B4-BE49-F238E27FC236}">
                  <a16:creationId xmlns:a16="http://schemas.microsoft.com/office/drawing/2014/main" id="{DE5C418C-5FE3-2CBB-E473-4E223D982513}"/>
                </a:ext>
              </a:extLst>
            </p:cNvPr>
            <p:cNvSpPr>
              <a:spLocks noChangeShapeType="1"/>
            </p:cNvSpPr>
            <p:nvPr/>
          </p:nvSpPr>
          <p:spPr bwMode="auto">
            <a:xfrm flipH="1">
              <a:off x="4176" y="2644"/>
              <a:ext cx="102"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17">
            <a:extLst>
              <a:ext uri="{FF2B5EF4-FFF2-40B4-BE49-F238E27FC236}">
                <a16:creationId xmlns:a16="http://schemas.microsoft.com/office/drawing/2014/main" id="{58A1166F-F303-46B6-3CE8-1C2A92606CF5}"/>
              </a:ext>
            </a:extLst>
          </p:cNvPr>
          <p:cNvGrpSpPr>
            <a:grpSpLocks/>
          </p:cNvGrpSpPr>
          <p:nvPr/>
        </p:nvGrpSpPr>
        <p:grpSpPr bwMode="auto">
          <a:xfrm>
            <a:off x="4276725" y="3224213"/>
            <a:ext cx="1609725" cy="1158875"/>
            <a:chOff x="3846" y="2031"/>
            <a:chExt cx="1014" cy="730"/>
          </a:xfrm>
        </p:grpSpPr>
        <p:sp>
          <p:nvSpPr>
            <p:cNvPr id="51207" name="Line 18">
              <a:extLst>
                <a:ext uri="{FF2B5EF4-FFF2-40B4-BE49-F238E27FC236}">
                  <a16:creationId xmlns:a16="http://schemas.microsoft.com/office/drawing/2014/main" id="{5B23484F-21D6-98E4-247E-475DDD6E0FC7}"/>
                </a:ext>
              </a:extLst>
            </p:cNvPr>
            <p:cNvSpPr>
              <a:spLocks noChangeShapeType="1"/>
            </p:cNvSpPr>
            <p:nvPr/>
          </p:nvSpPr>
          <p:spPr bwMode="auto">
            <a:xfrm>
              <a:off x="4740" y="2031"/>
              <a:ext cx="120" cy="1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8" name="Line 19">
              <a:extLst>
                <a:ext uri="{FF2B5EF4-FFF2-40B4-BE49-F238E27FC236}">
                  <a16:creationId xmlns:a16="http://schemas.microsoft.com/office/drawing/2014/main" id="{7D47C68C-8A1C-2519-215A-F7CD5A11457D}"/>
                </a:ext>
              </a:extLst>
            </p:cNvPr>
            <p:cNvSpPr>
              <a:spLocks noChangeShapeType="1"/>
            </p:cNvSpPr>
            <p:nvPr/>
          </p:nvSpPr>
          <p:spPr bwMode="auto">
            <a:xfrm>
              <a:off x="4554" y="2031"/>
              <a:ext cx="24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9" name="Line 20">
              <a:extLst>
                <a:ext uri="{FF2B5EF4-FFF2-40B4-BE49-F238E27FC236}">
                  <a16:creationId xmlns:a16="http://schemas.microsoft.com/office/drawing/2014/main" id="{EFA31C73-B540-A448-391A-51B9E5141B3B}"/>
                </a:ext>
              </a:extLst>
            </p:cNvPr>
            <p:cNvSpPr>
              <a:spLocks noChangeShapeType="1"/>
            </p:cNvSpPr>
            <p:nvPr/>
          </p:nvSpPr>
          <p:spPr bwMode="auto">
            <a:xfrm>
              <a:off x="4386" y="2076"/>
              <a:ext cx="312" cy="4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0" name="Line 21">
              <a:extLst>
                <a:ext uri="{FF2B5EF4-FFF2-40B4-BE49-F238E27FC236}">
                  <a16:creationId xmlns:a16="http://schemas.microsoft.com/office/drawing/2014/main" id="{D8CD6512-54D3-D229-AE12-516AA62CA7FA}"/>
                </a:ext>
              </a:extLst>
            </p:cNvPr>
            <p:cNvSpPr>
              <a:spLocks noChangeShapeType="1"/>
            </p:cNvSpPr>
            <p:nvPr/>
          </p:nvSpPr>
          <p:spPr bwMode="auto">
            <a:xfrm>
              <a:off x="4254" y="2112"/>
              <a:ext cx="345" cy="4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1" name="Line 22">
              <a:extLst>
                <a:ext uri="{FF2B5EF4-FFF2-40B4-BE49-F238E27FC236}">
                  <a16:creationId xmlns:a16="http://schemas.microsoft.com/office/drawing/2014/main" id="{05DA5389-0E2A-6DF1-8537-3E2E523D0FA1}"/>
                </a:ext>
              </a:extLst>
            </p:cNvPr>
            <p:cNvSpPr>
              <a:spLocks noChangeShapeType="1"/>
            </p:cNvSpPr>
            <p:nvPr/>
          </p:nvSpPr>
          <p:spPr bwMode="auto">
            <a:xfrm>
              <a:off x="4107" y="2190"/>
              <a:ext cx="345" cy="5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2" name="Line 23">
              <a:extLst>
                <a:ext uri="{FF2B5EF4-FFF2-40B4-BE49-F238E27FC236}">
                  <a16:creationId xmlns:a16="http://schemas.microsoft.com/office/drawing/2014/main" id="{FC1C501B-1AD6-8EB1-7B96-093490D5EA9F}"/>
                </a:ext>
              </a:extLst>
            </p:cNvPr>
            <p:cNvSpPr>
              <a:spLocks noChangeShapeType="1"/>
            </p:cNvSpPr>
            <p:nvPr/>
          </p:nvSpPr>
          <p:spPr bwMode="auto">
            <a:xfrm>
              <a:off x="3978" y="2355"/>
              <a:ext cx="300" cy="4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3" name="Line 24">
              <a:extLst>
                <a:ext uri="{FF2B5EF4-FFF2-40B4-BE49-F238E27FC236}">
                  <a16:creationId xmlns:a16="http://schemas.microsoft.com/office/drawing/2014/main" id="{DB15BC48-1CD3-CCA3-4BBB-5DDE8144B22B}"/>
                </a:ext>
              </a:extLst>
            </p:cNvPr>
            <p:cNvSpPr>
              <a:spLocks noChangeShapeType="1"/>
            </p:cNvSpPr>
            <p:nvPr/>
          </p:nvSpPr>
          <p:spPr bwMode="auto">
            <a:xfrm>
              <a:off x="3882" y="2478"/>
              <a:ext cx="225" cy="2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4" name="Line 25">
              <a:extLst>
                <a:ext uri="{FF2B5EF4-FFF2-40B4-BE49-F238E27FC236}">
                  <a16:creationId xmlns:a16="http://schemas.microsoft.com/office/drawing/2014/main" id="{555A90A2-8EA1-0BA2-036B-EBF319CB63E3}"/>
                </a:ext>
              </a:extLst>
            </p:cNvPr>
            <p:cNvSpPr>
              <a:spLocks noChangeShapeType="1"/>
            </p:cNvSpPr>
            <p:nvPr/>
          </p:nvSpPr>
          <p:spPr bwMode="auto">
            <a:xfrm>
              <a:off x="3846" y="2644"/>
              <a:ext cx="132"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276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2768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2768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4" grpId="0" animBg="1" autoUpdateAnimBg="0"/>
      <p:bldP spid="327685" grpId="0" animBg="1" autoUpdateAnimBg="0"/>
      <p:bldP spid="327686"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AutoShape 2">
            <a:extLst>
              <a:ext uri="{FF2B5EF4-FFF2-40B4-BE49-F238E27FC236}">
                <a16:creationId xmlns:a16="http://schemas.microsoft.com/office/drawing/2014/main" id="{C27115D6-DEE3-DD71-FF47-5BF0B4BA9B07}"/>
              </a:ext>
            </a:extLst>
          </p:cNvPr>
          <p:cNvSpPr>
            <a:spLocks noGrp="1" noChangeArrowheads="1"/>
          </p:cNvSpPr>
          <p:nvPr>
            <p:ph type="title"/>
          </p:nvPr>
        </p:nvSpPr>
        <p:spPr>
          <a:xfrm>
            <a:off x="838200" y="76200"/>
            <a:ext cx="7924800" cy="838200"/>
          </a:xfrm>
        </p:spPr>
        <p:txBody>
          <a:bodyPr/>
          <a:lstStyle/>
          <a:p>
            <a:r>
              <a:rPr lang="en-US" altLang="en-US"/>
              <a:t>Types of Security Mechanisms</a:t>
            </a:r>
            <a:endParaRPr lang="en-AU" altLang="en-US"/>
          </a:p>
        </p:txBody>
      </p:sp>
      <p:sp>
        <p:nvSpPr>
          <p:cNvPr id="52226" name="Rectangle 3">
            <a:extLst>
              <a:ext uri="{FF2B5EF4-FFF2-40B4-BE49-F238E27FC236}">
                <a16:creationId xmlns:a16="http://schemas.microsoft.com/office/drawing/2014/main" id="{B5003411-1CEA-D8B3-9B16-8ACB60B27B80}"/>
              </a:ext>
            </a:extLst>
          </p:cNvPr>
          <p:cNvSpPr>
            <a:spLocks noGrp="1" noChangeArrowheads="1"/>
          </p:cNvSpPr>
          <p:nvPr>
            <p:ph idx="1"/>
          </p:nvPr>
        </p:nvSpPr>
        <p:spPr>
          <a:xfrm>
            <a:off x="152400" y="1295400"/>
            <a:ext cx="8991600" cy="5562600"/>
          </a:xfrm>
        </p:spPr>
        <p:txBody>
          <a:bodyPr/>
          <a:lstStyle/>
          <a:p>
            <a:pPr marL="457200" indent="-457200"/>
            <a:endParaRPr lang="en-US" altLang="en-US" sz="2400"/>
          </a:p>
          <a:p>
            <a:pPr marL="457200" indent="-457200"/>
            <a:r>
              <a:rPr lang="en-US" altLang="en-US" sz="2400"/>
              <a:t>Security mechanisms are the specific means of implementing one or more security services</a:t>
            </a:r>
          </a:p>
          <a:p>
            <a:pPr marL="457200" indent="-457200"/>
            <a:endParaRPr lang="en-AU" altLang="en-US" sz="2400"/>
          </a:p>
          <a:p>
            <a:pPr marL="457200" indent="-457200"/>
            <a:r>
              <a:rPr lang="en-AU" altLang="en-US" sz="2400"/>
              <a:t>No single mechanism that will support all security services </a:t>
            </a:r>
          </a:p>
          <a:p>
            <a:pPr marL="457200" indent="-457200"/>
            <a:endParaRPr lang="en-US" altLang="en-US" sz="2400"/>
          </a:p>
          <a:p>
            <a:pPr marL="457200" indent="-457200"/>
            <a:r>
              <a:rPr lang="en-US" altLang="en-US" sz="2400"/>
              <a:t>Most </a:t>
            </a:r>
            <a:r>
              <a:rPr lang="en-AU" altLang="en-US" sz="2400"/>
              <a:t>of the security mechanisms based on cryptographic techniques</a:t>
            </a:r>
          </a:p>
          <a:p>
            <a:pPr marL="457200" indent="-457200"/>
            <a:endParaRPr lang="en-AU" altLang="en-US" sz="2400"/>
          </a:p>
          <a:p>
            <a:pPr marL="457200" indent="-457200"/>
            <a:r>
              <a:rPr lang="en-AU" altLang="en-US" sz="2400"/>
              <a:t>Two types of security mechanisms</a:t>
            </a:r>
          </a:p>
          <a:p>
            <a:pPr marL="457200" indent="-457200">
              <a:buFont typeface="Wingdings" pitchFamily="2" charset="2"/>
              <a:buAutoNum type="alphaLcParenR"/>
            </a:pPr>
            <a:r>
              <a:rPr lang="en-AU" altLang="en-US" sz="2400"/>
              <a:t>Specific security mechanisms (protocol specific layer)</a:t>
            </a:r>
          </a:p>
          <a:p>
            <a:pPr marL="838200" lvl="1" indent="-381000"/>
            <a:r>
              <a:rPr lang="en-US" altLang="en-US"/>
              <a:t>encipherment, </a:t>
            </a:r>
          </a:p>
          <a:p>
            <a:pPr marL="838200" lvl="1" indent="-381000"/>
            <a:r>
              <a:rPr lang="en-US" altLang="en-US"/>
              <a:t>digital signatures, </a:t>
            </a:r>
            <a:endParaRPr lang="en-AU"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AutoShape 2">
            <a:extLst>
              <a:ext uri="{FF2B5EF4-FFF2-40B4-BE49-F238E27FC236}">
                <a16:creationId xmlns:a16="http://schemas.microsoft.com/office/drawing/2014/main" id="{F71F16CC-1BFF-A07B-18A1-E8FBBEB47EDB}"/>
              </a:ext>
            </a:extLst>
          </p:cNvPr>
          <p:cNvSpPr>
            <a:spLocks noGrp="1" noChangeArrowheads="1"/>
          </p:cNvSpPr>
          <p:nvPr>
            <p:ph type="title"/>
          </p:nvPr>
        </p:nvSpPr>
        <p:spPr>
          <a:xfrm>
            <a:off x="609600" y="76200"/>
            <a:ext cx="8458200" cy="838200"/>
          </a:xfrm>
        </p:spPr>
        <p:txBody>
          <a:bodyPr/>
          <a:lstStyle/>
          <a:p>
            <a:r>
              <a:rPr lang="en-US" altLang="en-US"/>
              <a:t>Types of Security Mechanisms</a:t>
            </a:r>
            <a:endParaRPr lang="en-AU" altLang="en-US"/>
          </a:p>
        </p:txBody>
      </p:sp>
      <p:sp>
        <p:nvSpPr>
          <p:cNvPr id="56322" name="Rectangle 3">
            <a:extLst>
              <a:ext uri="{FF2B5EF4-FFF2-40B4-BE49-F238E27FC236}">
                <a16:creationId xmlns:a16="http://schemas.microsoft.com/office/drawing/2014/main" id="{580A7573-2BC8-9176-CCA7-8BFA2BCEC06B}"/>
              </a:ext>
            </a:extLst>
          </p:cNvPr>
          <p:cNvSpPr>
            <a:spLocks noGrp="1" noChangeArrowheads="1"/>
          </p:cNvSpPr>
          <p:nvPr>
            <p:ph idx="1"/>
          </p:nvPr>
        </p:nvSpPr>
        <p:spPr>
          <a:xfrm>
            <a:off x="685800" y="1371600"/>
            <a:ext cx="8001000" cy="5181600"/>
          </a:xfrm>
        </p:spPr>
        <p:txBody>
          <a:bodyPr rtlCol="0">
            <a:normAutofit/>
          </a:bodyPr>
          <a:lstStyle/>
          <a:p>
            <a:pPr marL="914400" lvl="1" indent="-457200" fontAlgn="auto">
              <a:spcAft>
                <a:spcPts val="0"/>
              </a:spcAft>
              <a:defRPr/>
            </a:pPr>
            <a:r>
              <a:rPr lang="en-US" altLang="en-US" b="1" dirty="0">
                <a:solidFill>
                  <a:schemeClr val="tx1">
                    <a:lumMod val="85000"/>
                    <a:lumOff val="15000"/>
                  </a:schemeClr>
                </a:solidFill>
              </a:rPr>
              <a:t>Access controls, </a:t>
            </a:r>
          </a:p>
          <a:p>
            <a:pPr marL="914400" lvl="1" indent="-457200" fontAlgn="auto">
              <a:spcAft>
                <a:spcPts val="0"/>
              </a:spcAft>
              <a:defRPr/>
            </a:pPr>
            <a:r>
              <a:rPr lang="en-US" altLang="en-US" b="1" dirty="0">
                <a:solidFill>
                  <a:schemeClr val="tx1">
                    <a:lumMod val="85000"/>
                    <a:lumOff val="15000"/>
                  </a:schemeClr>
                </a:solidFill>
              </a:rPr>
              <a:t>Data integrity, </a:t>
            </a:r>
          </a:p>
          <a:p>
            <a:pPr marL="914400" lvl="1" indent="-457200" fontAlgn="auto">
              <a:spcAft>
                <a:spcPts val="0"/>
              </a:spcAft>
              <a:defRPr/>
            </a:pPr>
            <a:r>
              <a:rPr lang="en-US" altLang="en-US" b="1" dirty="0">
                <a:solidFill>
                  <a:schemeClr val="tx1">
                    <a:lumMod val="85000"/>
                    <a:lumOff val="15000"/>
                  </a:schemeClr>
                </a:solidFill>
              </a:rPr>
              <a:t>Authentication exchange, </a:t>
            </a:r>
          </a:p>
          <a:p>
            <a:pPr marL="914400" lvl="1" indent="-457200" fontAlgn="auto">
              <a:spcAft>
                <a:spcPts val="0"/>
              </a:spcAft>
              <a:defRPr/>
            </a:pPr>
            <a:r>
              <a:rPr lang="en-US" altLang="en-US" b="1" dirty="0">
                <a:solidFill>
                  <a:schemeClr val="tx1">
                    <a:lumMod val="85000"/>
                    <a:lumOff val="15000"/>
                  </a:schemeClr>
                </a:solidFill>
              </a:rPr>
              <a:t>Traffic padding, </a:t>
            </a:r>
          </a:p>
          <a:p>
            <a:pPr marL="914400" lvl="1" indent="-457200" fontAlgn="auto">
              <a:spcAft>
                <a:spcPts val="0"/>
              </a:spcAft>
              <a:defRPr/>
            </a:pPr>
            <a:r>
              <a:rPr lang="en-US" altLang="en-US" b="1" dirty="0">
                <a:solidFill>
                  <a:schemeClr val="tx1">
                    <a:lumMod val="85000"/>
                    <a:lumOff val="15000"/>
                  </a:schemeClr>
                </a:solidFill>
              </a:rPr>
              <a:t>Routing control, </a:t>
            </a:r>
          </a:p>
          <a:p>
            <a:pPr marL="533400" indent="-533400" fontAlgn="auto">
              <a:spcAft>
                <a:spcPts val="0"/>
              </a:spcAft>
              <a:buFont typeface="Wingdings" pitchFamily="2" charset="2"/>
              <a:buAutoNum type="alphaLcParenR" startAt="2"/>
              <a:defRPr/>
            </a:pPr>
            <a:r>
              <a:rPr lang="en-AU" altLang="en-US" b="1" dirty="0">
                <a:solidFill>
                  <a:schemeClr val="tx1">
                    <a:lumMod val="85000"/>
                    <a:lumOff val="15000"/>
                  </a:schemeClr>
                </a:solidFill>
              </a:rPr>
              <a:t>Pervasive security mechanisms</a:t>
            </a:r>
          </a:p>
          <a:p>
            <a:pPr marL="0" indent="0" fontAlgn="auto">
              <a:spcAft>
                <a:spcPts val="0"/>
              </a:spcAft>
              <a:buFont typeface="Wingdings" pitchFamily="2" charset="2"/>
              <a:buNone/>
              <a:defRPr/>
            </a:pPr>
            <a:endParaRPr lang="en-AU" altLang="en-US" b="1" dirty="0">
              <a:solidFill>
                <a:schemeClr val="tx1">
                  <a:lumMod val="85000"/>
                  <a:lumOff val="15000"/>
                </a:schemeClr>
              </a:solidFill>
            </a:endParaRPr>
          </a:p>
          <a:p>
            <a:pPr marL="914400" lvl="1" indent="-457200" fontAlgn="auto">
              <a:spcAft>
                <a:spcPts val="0"/>
              </a:spcAft>
              <a:defRPr/>
            </a:pPr>
            <a:r>
              <a:rPr lang="en-US" altLang="en-US" b="1" dirty="0">
                <a:solidFill>
                  <a:schemeClr val="tx1">
                    <a:lumMod val="85000"/>
                    <a:lumOff val="15000"/>
                  </a:schemeClr>
                </a:solidFill>
              </a:rPr>
              <a:t>Trusted functionality, </a:t>
            </a:r>
          </a:p>
          <a:p>
            <a:pPr marL="914400" lvl="1" indent="-457200" fontAlgn="auto">
              <a:spcAft>
                <a:spcPts val="0"/>
              </a:spcAft>
              <a:defRPr/>
            </a:pPr>
            <a:r>
              <a:rPr lang="en-US" altLang="en-US" b="1" dirty="0">
                <a:solidFill>
                  <a:schemeClr val="tx1">
                    <a:lumMod val="85000"/>
                    <a:lumOff val="15000"/>
                  </a:schemeClr>
                </a:solidFill>
              </a:rPr>
              <a:t>Security labels, </a:t>
            </a:r>
          </a:p>
          <a:p>
            <a:pPr marL="914400" lvl="1" indent="-457200" fontAlgn="auto">
              <a:spcAft>
                <a:spcPts val="0"/>
              </a:spcAft>
              <a:defRPr/>
            </a:pPr>
            <a:r>
              <a:rPr lang="en-US" altLang="en-US" b="1" dirty="0">
                <a:solidFill>
                  <a:schemeClr val="tx1">
                    <a:lumMod val="85000"/>
                    <a:lumOff val="15000"/>
                  </a:schemeClr>
                </a:solidFill>
              </a:rPr>
              <a:t>Event detection, </a:t>
            </a:r>
          </a:p>
          <a:p>
            <a:pPr marL="914400" lvl="1" indent="-457200" fontAlgn="auto">
              <a:spcAft>
                <a:spcPts val="0"/>
              </a:spcAft>
              <a:defRPr/>
            </a:pPr>
            <a:r>
              <a:rPr lang="en-US" altLang="en-US" b="1" dirty="0">
                <a:solidFill>
                  <a:schemeClr val="tx1">
                    <a:lumMod val="85000"/>
                    <a:lumOff val="15000"/>
                  </a:schemeClr>
                </a:solidFill>
              </a:rPr>
              <a:t>Security audit trails, </a:t>
            </a:r>
          </a:p>
          <a:p>
            <a:pPr marL="914400" lvl="1" indent="-457200" fontAlgn="auto">
              <a:spcAft>
                <a:spcPts val="0"/>
              </a:spcAft>
              <a:defRPr/>
            </a:pPr>
            <a:r>
              <a:rPr lang="en-US" altLang="en-US" b="1" dirty="0">
                <a:solidFill>
                  <a:schemeClr val="tx1">
                    <a:lumMod val="85000"/>
                    <a:lumOff val="15000"/>
                  </a:schemeClr>
                </a:solidFill>
              </a:rPr>
              <a:t>Security recovery</a:t>
            </a:r>
            <a:endParaRPr lang="en-AU" altLang="en-US" b="1" dirty="0">
              <a:solidFill>
                <a:schemeClr val="tx1">
                  <a:lumMod val="85000"/>
                  <a:lumOff val="15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AutoShape 2">
            <a:extLst>
              <a:ext uri="{FF2B5EF4-FFF2-40B4-BE49-F238E27FC236}">
                <a16:creationId xmlns:a16="http://schemas.microsoft.com/office/drawing/2014/main" id="{AC991D7A-40DB-E816-4E04-D759AB5161D3}"/>
              </a:ext>
            </a:extLst>
          </p:cNvPr>
          <p:cNvSpPr>
            <a:spLocks noGrp="1" noChangeArrowheads="1"/>
          </p:cNvSpPr>
          <p:nvPr>
            <p:ph type="title"/>
          </p:nvPr>
        </p:nvSpPr>
        <p:spPr>
          <a:xfrm>
            <a:off x="838200" y="76200"/>
            <a:ext cx="7924800" cy="838200"/>
          </a:xfrm>
        </p:spPr>
        <p:txBody>
          <a:bodyPr lIns="0" tIns="0" rIns="0" bIns="0"/>
          <a:lstStyle/>
          <a:p>
            <a:pPr defTabSz="457200">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Security Mechanisms Deployment    </a:t>
            </a:r>
          </a:p>
        </p:txBody>
      </p:sp>
      <p:graphicFrame>
        <p:nvGraphicFramePr>
          <p:cNvPr id="56322" name="Object 3">
            <a:extLst>
              <a:ext uri="{FF2B5EF4-FFF2-40B4-BE49-F238E27FC236}">
                <a16:creationId xmlns:a16="http://schemas.microsoft.com/office/drawing/2014/main" id="{B3D10492-ADC0-F575-718D-E15D8E47FA21}"/>
              </a:ext>
            </a:extLst>
          </p:cNvPr>
          <p:cNvGraphicFramePr>
            <a:graphicFrameLocks noGrp="1" noChangeAspect="1"/>
          </p:cNvGraphicFramePr>
          <p:nvPr>
            <p:ph sz="half" idx="2"/>
          </p:nvPr>
        </p:nvGraphicFramePr>
        <p:xfrm>
          <a:off x="1435100" y="1295400"/>
          <a:ext cx="6924675" cy="5562600"/>
        </p:xfrm>
        <a:graphic>
          <a:graphicData uri="http://schemas.openxmlformats.org/presentationml/2006/ole">
            <mc:AlternateContent xmlns:mc="http://schemas.openxmlformats.org/markup-compatibility/2006">
              <mc:Choice xmlns:v="urn:schemas-microsoft-com:vml" Requires="v">
                <p:oleObj name="Visio" r:id="rId3" imgW="6781800" imgH="5448300" progId="Visio.Drawing.11">
                  <p:embed/>
                </p:oleObj>
              </mc:Choice>
              <mc:Fallback>
                <p:oleObj name="Visio" r:id="rId3" imgW="6781800" imgH="5448300" progId="Visio.Drawing.11">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5100" y="1295400"/>
                        <a:ext cx="6924675" cy="55626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AutoShape 2">
            <a:extLst>
              <a:ext uri="{FF2B5EF4-FFF2-40B4-BE49-F238E27FC236}">
                <a16:creationId xmlns:a16="http://schemas.microsoft.com/office/drawing/2014/main" id="{FC61952A-2E6D-E018-9328-7F733B5FF30F}"/>
              </a:ext>
            </a:extLst>
          </p:cNvPr>
          <p:cNvSpPr>
            <a:spLocks noGrp="1" noChangeArrowheads="1"/>
          </p:cNvSpPr>
          <p:nvPr>
            <p:ph type="title"/>
          </p:nvPr>
        </p:nvSpPr>
        <p:spPr>
          <a:xfrm>
            <a:off x="914400" y="76200"/>
            <a:ext cx="7924800" cy="838200"/>
          </a:xfrm>
        </p:spPr>
        <p:txBody>
          <a:bodyPr/>
          <a:lstStyle/>
          <a:p>
            <a:r>
              <a:rPr lang="en-US" altLang="en-US"/>
              <a:t>Security Model</a:t>
            </a:r>
            <a:endParaRPr lang="en-AU" altLang="en-US"/>
          </a:p>
        </p:txBody>
      </p:sp>
      <p:pic>
        <p:nvPicPr>
          <p:cNvPr id="58370" name="Picture 3">
            <a:extLst>
              <a:ext uri="{FF2B5EF4-FFF2-40B4-BE49-F238E27FC236}">
                <a16:creationId xmlns:a16="http://schemas.microsoft.com/office/drawing/2014/main" id="{88D100C5-07C2-3F1A-CEB0-E916D4EB40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47800" y="3216148"/>
            <a:ext cx="6438900" cy="3568700"/>
          </a:xfrm>
          <a:noFill/>
        </p:spPr>
      </p:pic>
      <p:sp>
        <p:nvSpPr>
          <p:cNvPr id="58371" name="Rectangle 4">
            <a:extLst>
              <a:ext uri="{FF2B5EF4-FFF2-40B4-BE49-F238E27FC236}">
                <a16:creationId xmlns:a16="http://schemas.microsoft.com/office/drawing/2014/main" id="{C128AA8E-A1B2-7B93-AFFB-433BFF463A28}"/>
              </a:ext>
            </a:extLst>
          </p:cNvPr>
          <p:cNvSpPr>
            <a:spLocks noChangeArrowheads="1"/>
          </p:cNvSpPr>
          <p:nvPr/>
        </p:nvSpPr>
        <p:spPr bwMode="auto">
          <a:xfrm>
            <a:off x="533400" y="1295400"/>
            <a:ext cx="8610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eaLnBrk="1" hangingPunct="1">
              <a:spcBef>
                <a:spcPct val="20000"/>
              </a:spcBef>
              <a:buClr>
                <a:schemeClr val="tx1"/>
              </a:buClr>
              <a:buSzPct val="75000"/>
              <a:buFont typeface="Times" charset="0"/>
              <a:buAutoNum type="arabicPeriod"/>
            </a:pPr>
            <a:r>
              <a:rPr lang="en-AU" altLang="en-US" sz="2000" b="1">
                <a:latin typeface="Arial" panose="020B0604020202020204" pitchFamily="34" charset="0"/>
              </a:rPr>
              <a:t>Design a suitable algorithm for the security transformation </a:t>
            </a:r>
          </a:p>
          <a:p>
            <a:pPr eaLnBrk="1" hangingPunct="1">
              <a:spcBef>
                <a:spcPct val="20000"/>
              </a:spcBef>
              <a:buClr>
                <a:schemeClr val="tx1"/>
              </a:buClr>
              <a:buSzPct val="75000"/>
              <a:buFont typeface="Times" charset="0"/>
              <a:buAutoNum type="arabicPeriod"/>
            </a:pPr>
            <a:r>
              <a:rPr lang="en-AU" altLang="en-US" sz="2000" b="1">
                <a:latin typeface="Arial" panose="020B0604020202020204" pitchFamily="34" charset="0"/>
              </a:rPr>
              <a:t>Generate the secret information (keys) used by the algorithm </a:t>
            </a:r>
          </a:p>
          <a:p>
            <a:pPr eaLnBrk="1" hangingPunct="1">
              <a:spcBef>
                <a:spcPct val="20000"/>
              </a:spcBef>
              <a:buClr>
                <a:schemeClr val="tx1"/>
              </a:buClr>
              <a:buSzPct val="75000"/>
              <a:buFont typeface="Times" charset="0"/>
              <a:buAutoNum type="arabicPeriod"/>
            </a:pPr>
            <a:r>
              <a:rPr lang="en-AU" altLang="en-US" sz="2000" b="1">
                <a:latin typeface="Arial" panose="020B0604020202020204" pitchFamily="34" charset="0"/>
              </a:rPr>
              <a:t>Develop methods to distribute and share the secret information </a:t>
            </a:r>
          </a:p>
          <a:p>
            <a:pPr eaLnBrk="1" hangingPunct="1">
              <a:spcBef>
                <a:spcPct val="20000"/>
              </a:spcBef>
              <a:buClr>
                <a:schemeClr val="tx1"/>
              </a:buClr>
              <a:buSzPct val="75000"/>
              <a:buFont typeface="Times" charset="0"/>
              <a:buAutoNum type="arabicPeriod"/>
            </a:pPr>
            <a:r>
              <a:rPr lang="en-AU" altLang="en-US" sz="2000" b="1">
                <a:latin typeface="Arial" panose="020B0604020202020204" pitchFamily="34" charset="0"/>
              </a:rPr>
              <a:t>Specify a protocol enabling the principals to use the transformation and secret information for a security service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AutoShape 2">
            <a:extLst>
              <a:ext uri="{FF2B5EF4-FFF2-40B4-BE49-F238E27FC236}">
                <a16:creationId xmlns:a16="http://schemas.microsoft.com/office/drawing/2014/main" id="{85153827-1DD9-9F16-2E29-A0F9D63FC57C}"/>
              </a:ext>
            </a:extLst>
          </p:cNvPr>
          <p:cNvSpPr>
            <a:spLocks noGrp="1" noChangeArrowheads="1"/>
          </p:cNvSpPr>
          <p:nvPr>
            <p:ph type="title"/>
          </p:nvPr>
        </p:nvSpPr>
        <p:spPr>
          <a:xfrm>
            <a:off x="762000" y="76200"/>
            <a:ext cx="7924800" cy="838200"/>
          </a:xfrm>
        </p:spPr>
        <p:txBody>
          <a:bodyPr/>
          <a:lstStyle/>
          <a:p>
            <a:r>
              <a:rPr lang="en-US" altLang="en-US" sz="3200"/>
              <a:t>Network Access Security Model</a:t>
            </a:r>
            <a:endParaRPr lang="en-AU" altLang="en-US" sz="3200"/>
          </a:p>
        </p:txBody>
      </p:sp>
      <p:pic>
        <p:nvPicPr>
          <p:cNvPr id="60418" name="Picture 3">
            <a:extLst>
              <a:ext uri="{FF2B5EF4-FFF2-40B4-BE49-F238E27FC236}">
                <a16:creationId xmlns:a16="http://schemas.microsoft.com/office/drawing/2014/main" id="{61E89C18-10A7-FAAD-27A2-C1AC4635CAB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41450" y="2801938"/>
            <a:ext cx="6261100" cy="2400300"/>
          </a:xfrm>
        </p:spPr>
      </p:pic>
      <p:sp>
        <p:nvSpPr>
          <p:cNvPr id="60419" name="Rectangle 5">
            <a:extLst>
              <a:ext uri="{FF2B5EF4-FFF2-40B4-BE49-F238E27FC236}">
                <a16:creationId xmlns:a16="http://schemas.microsoft.com/office/drawing/2014/main" id="{0106B01A-D75A-0983-600C-EEF69610EA7C}"/>
              </a:ext>
            </a:extLst>
          </p:cNvPr>
          <p:cNvSpPr>
            <a:spLocks noChangeArrowheads="1"/>
          </p:cNvSpPr>
          <p:nvPr/>
        </p:nvSpPr>
        <p:spPr bwMode="auto">
          <a:xfrm>
            <a:off x="609600" y="1295400"/>
            <a:ext cx="8382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eaLnBrk="1" hangingPunct="1">
              <a:spcBef>
                <a:spcPct val="20000"/>
              </a:spcBef>
              <a:buClr>
                <a:schemeClr val="tx1"/>
              </a:buClr>
              <a:buSzPct val="75000"/>
              <a:buFont typeface="Wingdings" pitchFamily="2" charset="2"/>
              <a:buAutoNum type="arabicPeriod"/>
            </a:pPr>
            <a:r>
              <a:rPr lang="en-AU" altLang="en-US" sz="2000" b="1">
                <a:latin typeface="Arial" panose="020B0604020202020204" pitchFamily="34" charset="0"/>
              </a:rPr>
              <a:t>Select appropriate gatekeeper functions to identify users </a:t>
            </a:r>
          </a:p>
          <a:p>
            <a:pPr eaLnBrk="1" hangingPunct="1">
              <a:spcBef>
                <a:spcPct val="20000"/>
              </a:spcBef>
              <a:buClr>
                <a:schemeClr val="tx1"/>
              </a:buClr>
              <a:buSzPct val="75000"/>
              <a:buFont typeface="Wingdings" pitchFamily="2" charset="2"/>
              <a:buAutoNum type="arabicPeriod"/>
            </a:pPr>
            <a:r>
              <a:rPr lang="en-AU" altLang="en-US" sz="2000" b="1">
                <a:latin typeface="Arial" panose="020B0604020202020204" pitchFamily="34" charset="0"/>
              </a:rPr>
              <a:t>Implement security controls to ensure only authorised users access designated information or resources </a:t>
            </a:r>
          </a:p>
          <a:p>
            <a:pPr eaLnBrk="1" hangingPunct="1">
              <a:spcBef>
                <a:spcPct val="20000"/>
              </a:spcBef>
              <a:buClr>
                <a:schemeClr val="tx1"/>
              </a:buClr>
              <a:buSzPct val="75000"/>
              <a:buFont typeface="Wingdings" pitchFamily="2" charset="2"/>
              <a:buAutoNum type="arabicPeriod"/>
            </a:pPr>
            <a:r>
              <a:rPr lang="en-AU" altLang="en-US" sz="2000" b="1">
                <a:latin typeface="Arial" panose="020B0604020202020204" pitchFamily="34" charset="0"/>
              </a:rPr>
              <a:t>Trusted computer systems may be useful to help implement this model </a:t>
            </a:r>
          </a:p>
          <a:p>
            <a:pPr eaLnBrk="1" hangingPunct="1">
              <a:spcBef>
                <a:spcPct val="20000"/>
              </a:spcBef>
              <a:buClr>
                <a:schemeClr val="tx1"/>
              </a:buClr>
              <a:buSzPct val="75000"/>
              <a:buFont typeface="Wingdings" pitchFamily="2" charset="2"/>
              <a:buNone/>
            </a:pPr>
            <a:endParaRPr lang="en-AU" altLang="en-US" sz="2000" b="1">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7929</TotalTime>
  <Words>2265</Words>
  <Application>Microsoft Macintosh PowerPoint</Application>
  <PresentationFormat>On-screen Show (4:3)</PresentationFormat>
  <Paragraphs>302</Paragraphs>
  <Slides>38</Slides>
  <Notes>19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50" baseType="lpstr">
      <vt:lpstr>Aptos</vt:lpstr>
      <vt:lpstr>Aptos Display</vt:lpstr>
      <vt:lpstr>Arial</vt:lpstr>
      <vt:lpstr>Arial Narrow</vt:lpstr>
      <vt:lpstr>Calibri</vt:lpstr>
      <vt:lpstr>Google Sans</vt:lpstr>
      <vt:lpstr>Times</vt:lpstr>
      <vt:lpstr>Times-Italic</vt:lpstr>
      <vt:lpstr>Times-Roman</vt:lpstr>
      <vt:lpstr>Wingdings</vt:lpstr>
      <vt:lpstr>Office Theme</vt:lpstr>
      <vt:lpstr>Visio</vt:lpstr>
      <vt:lpstr>Information Security </vt:lpstr>
      <vt:lpstr>Prof. Dr. Muazzam A. Khan Khattak (SM NADRA/IEEE/PAS/AAAI) Listed in Top 2% Scientists of The World 2024, 25/Gold Medal PAS  Director Farabi Centre AI &amp; CS, S&amp;T, ICESCO Chair. Chairperson UNESCO IFAP National Committee, Pakistan.</vt:lpstr>
      <vt:lpstr>Course Outline</vt:lpstr>
      <vt:lpstr>Course Outline</vt:lpstr>
      <vt:lpstr>Recommended Books </vt:lpstr>
      <vt:lpstr>Background</vt:lpstr>
      <vt:lpstr>Focus of the Course </vt:lpstr>
      <vt:lpstr>03 Important Concepts</vt:lpstr>
      <vt:lpstr>Some Basic Terminology</vt:lpstr>
      <vt:lpstr>PowerPoint Presentation</vt:lpstr>
      <vt:lpstr>PowerPoint Presentation</vt:lpstr>
      <vt:lpstr>Life Cycle of Info Security</vt:lpstr>
      <vt:lpstr>PowerPoint Presentation</vt:lpstr>
      <vt:lpstr>Top Cyber Attacks in  2024</vt:lpstr>
      <vt:lpstr>PowerPoint Presentation</vt:lpstr>
      <vt:lpstr>Security Aspects </vt:lpstr>
      <vt:lpstr>Major Security Aspects in a Collaboration System</vt:lpstr>
      <vt:lpstr>Threats and Attacks</vt:lpstr>
      <vt:lpstr>Difference Btw Threats &amp; Attacks</vt:lpstr>
      <vt:lpstr>Types of Security Attacks</vt:lpstr>
      <vt:lpstr>Passive Attacks</vt:lpstr>
      <vt:lpstr>Active Attacks</vt:lpstr>
      <vt:lpstr>Masquerade</vt:lpstr>
      <vt:lpstr>Replay</vt:lpstr>
      <vt:lpstr>Modification of Messages</vt:lpstr>
      <vt:lpstr>Denial of Service - DOS</vt:lpstr>
      <vt:lpstr>Security Threats </vt:lpstr>
      <vt:lpstr>Threats Effect on Information Systems</vt:lpstr>
      <vt:lpstr>PowerPoint Presentation</vt:lpstr>
      <vt:lpstr>PowerPoint Presentation</vt:lpstr>
      <vt:lpstr>Security Services and Mechanisms </vt:lpstr>
      <vt:lpstr>Security Services </vt:lpstr>
      <vt:lpstr>Security Requirements</vt:lpstr>
      <vt:lpstr>Types of Security Mechanisms</vt:lpstr>
      <vt:lpstr>Types of Security Mechanisms</vt:lpstr>
      <vt:lpstr>Security Mechanisms Deployment    </vt:lpstr>
      <vt:lpstr>Security Model</vt:lpstr>
      <vt:lpstr>Network Access Security Model</vt:lpstr>
    </vt:vector>
  </TitlesOfParts>
  <Company>IIU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Generation Networks</dc:title>
  <dc:creator>Zee</dc:creator>
  <cp:lastModifiedBy>Muazzam Ali  Khan Khattak</cp:lastModifiedBy>
  <cp:revision>89</cp:revision>
  <dcterms:created xsi:type="dcterms:W3CDTF">2006-06-18T17:33:55Z</dcterms:created>
  <dcterms:modified xsi:type="dcterms:W3CDTF">2026-02-15T17:43:44Z</dcterms:modified>
</cp:coreProperties>
</file>